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3550"/>
    <a:srgbClr val="FFC0CB"/>
    <a:srgbClr val="9E25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9502F3-F6C8-D9E8-7A55-E3F9EFEBAFC7}" v="7" dt="2026-07-08T16:22:35.826"/>
    <p1510:client id="{2E0E08CE-1C00-4315-F298-A74D2E8EEACA}" v="8" dt="2026-07-07T15:31:39.378"/>
    <p1510:client id="{3469DB67-C064-2B90-D931-D0BCAF1935F4}" v="130" dt="2026-07-06T17:38:01.092"/>
    <p1510:client id="{62F7BBB8-831E-CD98-41F6-B1C5DE776AB4}" v="2" dt="2026-07-07T15:29:31.859"/>
    <p1510:client id="{64ECF864-AA52-521F-83A9-0BC9386FBCC4}" v="32" dt="2026-07-06T17:54:38.6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99A6EAF1-A794-4EC9-B8E9-98204396CF09}" type="datetimeFigureOut">
              <a:t>7/8/2026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96766DF-F3E4-4837-B9E4-11807DF77318}" type="slidenum">
              <a:t>‹#›</a:t>
            </a:fld>
            <a:endParaRPr lang="en-US"/>
          </a:p>
        </p:txBody>
      </p:sp>
    </p:spTree>
    <p:extLst>
      <p:ext uri="{BB962C8B-B14F-4D97-AF65-F5344CB8AC3E}">
        <p14:creationId xmlns:p14="http://schemas.microsoft.com/office/powerpoint/2010/main" val="210089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We're presenting </a:t>
            </a:r>
            <a:r>
              <a:rPr lang="en-US" dirty="0" err="1"/>
              <a:t>Inkspire</a:t>
            </a:r>
            <a:r>
              <a:rPr lang="en-US" dirty="0"/>
              <a:t> — a full-stack online bookstore we built as our project. On the surface it's an e-commerce site: you browse books, add them to a cart, and check out. Under the surface, it's where we practiced the engineering problems that make e-commerce hard: concurrent shoppers competing for the same stock, authentication and authorization, real-time updates, and keeping a growing codebase organized. I'm Asel, and together with Yossif, Wiam and Ahmed we'll walk you through what we built and — more importantly — why we built it the way we did.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plan. A short introduction and how we organized ourselves as a team, then how the project evolved across three iterations. The core of the talk is architecture and four implementation deep-dives — that's where the engineering substance is. We finish with a live demo and a look at where the project could go next. Let's start with what </a:t>
            </a:r>
            <a:r>
              <a:rPr lang="en-US" dirty="0" err="1"/>
              <a:t>Inkspire</a:t>
            </a:r>
            <a:r>
              <a:rPr lang="en-US" dirty="0"/>
              <a:t> actually 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Inkspire</a:t>
            </a:r>
            <a:r>
              <a:rPr lang="en-US" dirty="0"/>
              <a:t> is an online bookstore. Customers browse and search a catalog, read and write reviews, manage a cart, and pay through a multi-step checkout. Two things make it more than a CRUD app. First, inventory correctness: when a customer starts checkout, their items are reserved atomically for ten minutes, so two people can never buy the last copy of the same book — we'll show you exactly how that works at the database level. Second, it's a closed loop between customers and store owners: if a book isn't in the catalog, customers can request it and vote on requests; admins review those requests — with metadata suggestions pulled from the Google Books API — approve them into the catalog, and watch demand through an analytics dashboard. Before we dive into the system, a few words on how we worked as a team.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four people. We split work by feature rather than by layer — so one person owned book requests from the database schema to the admin UI, another owned checkout, and so on. That kept ownership clear and merge conflicts rare. On process: we started with a Trello board, and honestly, it went stale within weeks. So we switched to a lighter process: a weekly check-in where we demoed progress and re-planned, with GitHub itself as the source of truth for who's doing what. The lesson we took: process should mirror where the work actually lives. What kept four parallel feature tracks consistent wasn't the meetings, though — it was the code structure, which forces every feature to look the same. You'll see that in the architecture section. First, how the scope evolved.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worked in three iterations. The MVP was deliberately small: authentication, a catalog with search, and order history — enough to prove the stack end-to-end. Iteration two added the commercial core: cart, checkout, reviews, and personalized recommendations. In the final iteration we focused on depth over breadth: the reservation system that guarantees stock correctness, the book-request pipeline, the store availability map, and the admin analytics dashboard. Notice the strikethroughs: we had planned a chatbot, a newsletter and </a:t>
            </a:r>
            <a:r>
              <a:rPr lang="en-US" dirty="0" err="1"/>
              <a:t>pinterest</a:t>
            </a:r>
            <a:r>
              <a:rPr lang="en-US" dirty="0"/>
              <a:t> homepage lookalike. We cut them. Why? With a fixed deadline, we decided a smaller set of features engineered properly — with concurrency safety and real-time behavior — would demonstrate more than a longer feature list of shallow implementations. Those cut features became our future-work roadmap. So what did we build this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guiding principle: one language — TypeScript — across the whole stack, and delegate what we shouldn't build ourselves. React with Vite gives us a fast, typed component model; on top we combined </a:t>
            </a:r>
            <a:r>
              <a:rPr lang="en-US" dirty="0" err="1"/>
              <a:t>Mantine</a:t>
            </a:r>
            <a:r>
              <a:rPr lang="en-US" dirty="0"/>
              <a:t> for accessible UI primitives — modals, steppers, form inputs — with styled-components for our own themed design system, keeping styles co-located but in separate files from logic. Express we chose over heavier frameworks because we wanted to design the layering ourselves — controllers, services, middleware — rather than have a framework hide it; that was the learning goal. MongoDB was chosen for two reasons: the catalog is naturally document-shaped, and — the deciding factor — MongoDB's single-document updates are atomic, which is the exact primitive our reservation system is built on. You'll see that in a few slides. For authentication we deliberately did not roll our own: Firebase handles passwords, Google sign-in and token issuing; our server only ever verifies tokens. And Socket.IO gives us rooms and automatic reconnection for the live review feed. Here's how these pieces fit together.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Inkspire</a:t>
            </a:r>
            <a:r>
              <a:rPr lang="en-US" dirty="0"/>
              <a:t> is an </a:t>
            </a:r>
            <a:r>
              <a:rPr lang="en-US" dirty="0" err="1"/>
              <a:t>npm</a:t>
            </a:r>
            <a:r>
              <a:rPr lang="en-US" dirty="0"/>
              <a:t>-workspaces </a:t>
            </a:r>
            <a:r>
              <a:rPr lang="en-US" dirty="0" err="1"/>
              <a:t>monorepo</a:t>
            </a:r>
            <a:r>
              <a:rPr lang="en-US" dirty="0"/>
              <a:t> with two applications: the React client and the Express server. Why a </a:t>
            </a:r>
            <a:r>
              <a:rPr lang="en-US" dirty="0" err="1"/>
              <a:t>monorepo</a:t>
            </a:r>
            <a:r>
              <a:rPr lang="en-US" dirty="0"/>
              <a:t>? Client and server evolve together — one feature almost always touches both — so atomic commits across the stack, one dependency install, and a single </a:t>
            </a:r>
            <a:r>
              <a:rPr lang="en-US" dirty="0" err="1"/>
              <a:t>npm</a:t>
            </a:r>
            <a:r>
              <a:rPr lang="en-US" dirty="0"/>
              <a:t> run dev that boots everything; beats coordinating two repositories. The data flow is strictly one path: the browser talks to the React SPA; every API call goes through a shared Axios instance that attaches the user's Firebase token; on the server, requests flow through middleware into a thin controller, which delegates to a service, which is the only layer touching MongoDB. The one exception to request-response is a single Socket.IO connection used for live review updates. Let's zoom into the server, because that's where the layering discipline pays off.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is organized by feature, not by layer — there's no giant controllers folder. Each of the ten modules is self-contained and follows the exact same five-file pattern: a Mongoose model, shared types, a routes file that wires paths to middleware and controllers, a deliberately thin controller, and a service that holds all business logic and data access. Thin controllers matter: the HTTP layer only parses input and shapes the response, so the actual rules — 'can this reservation still be claimed?' — live in plain functions that don't know about Express and could be unit-tested or reused directly. Errors are handled centrally: every async handler is wrapped in a small </a:t>
            </a:r>
            <a:r>
              <a:rPr lang="en-US" dirty="0" err="1"/>
              <a:t>asyncHandler</a:t>
            </a:r>
            <a:r>
              <a:rPr lang="en-US" dirty="0"/>
              <a:t> utility so a thrown error propagates to one error middleware instead of crashing the process; services throw a typed </a:t>
            </a:r>
            <a:r>
              <a:rPr lang="en-US" dirty="0" err="1"/>
              <a:t>ApiError</a:t>
            </a:r>
            <a:r>
              <a:rPr lang="en-US" dirty="0"/>
              <a:t> with a status code, and the middleware turns it into a consistent JSON response — with stack traces only in development. The practical benefit as a team of four: when you open any module you already know where everything is, and code review becomes about logic, not structure. The same discipline applies on the client.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mirrors the server's discipline. Components never call Axios directly — every domain has a service file, </a:t>
            </a:r>
            <a:r>
              <a:rPr lang="en-US" dirty="0" err="1"/>
              <a:t>bookService</a:t>
            </a:r>
            <a:r>
              <a:rPr lang="en-US" dirty="0"/>
              <a:t>, </a:t>
            </a:r>
            <a:r>
              <a:rPr lang="en-US" dirty="0" err="1"/>
              <a:t>checkoutService</a:t>
            </a:r>
            <a:r>
              <a:rPr lang="en-US" dirty="0"/>
              <a:t> and so on, and all of them share one Axios instance whose interceptor attaches a fresh Firebase token to every request. That's the client-side service layer. For global state we deliberately avoided Redux: we have exactly two global concerns — who is logged in, and what's in the cart — so two small context providers are simpler and sufficient. The cart persists to </a:t>
            </a:r>
            <a:r>
              <a:rPr lang="en-US" dirty="0" err="1"/>
              <a:t>localStorage</a:t>
            </a:r>
            <a:r>
              <a:rPr lang="en-US" dirty="0"/>
              <a:t> and clamps quantities to available stock. Data fetching goes through a custom </a:t>
            </a:r>
            <a:r>
              <a:rPr lang="en-US" dirty="0" err="1"/>
              <a:t>useFetch</a:t>
            </a:r>
            <a:r>
              <a:rPr lang="en-US" dirty="0"/>
              <a:t> hook: it tracks loading and error state with a reducer hook, and uses an </a:t>
            </a:r>
            <a:r>
              <a:rPr lang="en-US" dirty="0" err="1"/>
              <a:t>AbortController</a:t>
            </a:r>
            <a:r>
              <a:rPr lang="en-US" dirty="0"/>
              <a:t> to cancel the previous request whenever dependencies change, so a fast typist in the search box can't get out-of-order results overwriting newer ones. Routing is guarded at two levels client-side — </a:t>
            </a:r>
            <a:r>
              <a:rPr lang="en-US" dirty="0" err="1"/>
              <a:t>ProtectedRoute</a:t>
            </a:r>
            <a:r>
              <a:rPr lang="en-US" dirty="0"/>
              <a:t> and </a:t>
            </a:r>
            <a:r>
              <a:rPr lang="en-US" dirty="0" err="1"/>
              <a:t>AdminRoute</a:t>
            </a:r>
            <a:r>
              <a:rPr lang="en-US" dirty="0"/>
              <a:t> — but to be clear, that's UX; real enforcement is server-side middleware, which brings us to authentication.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was a build-versus-delegate decision. We delegated identity to Firebase: it handles password storage, Google OAuth, and issues short-lived signed JWTs. Our server never sees a password — that entire risk class is gone. But Firebase doesn't know our domain, so authorization lives in MongoDB: on first sign-in the server creates a User document with role 'user'; there's even account-linking logic — if a token's email matches an existing account without a Firebase UID, we link rather than duplicate. On every request, the Axios interceptor attaches the current ID token; server-side, middleware verifies the signature with the Firebase Admin SDK, resolves the Mongo user, and attaches a typed </a:t>
            </a:r>
            <a:r>
              <a:rPr lang="en-US" dirty="0" err="1"/>
              <a:t>req.user</a:t>
            </a:r>
            <a:r>
              <a:rPr lang="en-US" dirty="0"/>
              <a:t> with </a:t>
            </a:r>
            <a:r>
              <a:rPr lang="en-US" dirty="0" err="1"/>
              <a:t>uid</a:t>
            </a:r>
            <a:r>
              <a:rPr lang="en-US" dirty="0"/>
              <a:t>, role and Mongo id. We have three middleware levels, and the third is the interesting one: </a:t>
            </a:r>
            <a:r>
              <a:rPr lang="en-US" dirty="0" err="1"/>
              <a:t>attachUserIfPresent</a:t>
            </a:r>
            <a:r>
              <a:rPr lang="en-US" dirty="0"/>
              <a:t> — used on endpoints like book listing and recommendations that serve anonymous visitors but personalize when a valid token happens to be present. It never blocks. That's how the same recommendations endpoint works logged-out and logged-in. Admin routes stack </a:t>
            </a:r>
            <a:r>
              <a:rPr lang="en-US" dirty="0" err="1"/>
              <a:t>verifyFirebaseToken</a:t>
            </a:r>
            <a:r>
              <a:rPr lang="en-US" dirty="0"/>
              <a:t> plus </a:t>
            </a:r>
            <a:r>
              <a:rPr lang="en-US" dirty="0" err="1"/>
              <a:t>requireAdmin</a:t>
            </a:r>
            <a:r>
              <a:rPr lang="en-US" dirty="0"/>
              <a:t> at the router level, so no admin endpoint can be accidentally mounted unprotected. Now — the heart of the project: inventory.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problem that shaped our data model. Say one copy of a book is left and two shoppers hit 'buy' at the same time. The naive implementation reads the stock — both see one — then both decrement. You've sold two copies of one book. The read and the write are separate steps, so between them the world can change; this is a classic time-of-check-to-time-of-use race. Our answer is a reservation system. Each book tracks two counters: physical stock, and </a:t>
            </a:r>
            <a:r>
              <a:rPr lang="en-US" dirty="0" err="1"/>
              <a:t>reservedStock</a:t>
            </a:r>
            <a:r>
              <a:rPr lang="en-US" dirty="0"/>
              <a:t> — units currently held by active checkouts. What shoppers can buy is the difference. When you begin checkout, we don't sell you the items — we reserve them for ten minutes, and a countdown runs in the UI. A reservation ends in one of two states: completed, if you finish checkout, or expired, if the timer runs out — and expiry is enforced from two directions: a background job sweeps every thirty seconds, and any read or checkout attempt re-checks the timer on demand, so a stale reservation is never usable even between sweeps. Ten minutes is a product trade-off: long enough to type a shipping address, short enough that abandoned carts don't strangle inventory. And we keep expired reservations in the database as an audit trail. That's the model — the next slide shows the three lines of MongoDB that make it race-proof.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query of the project. Look at the filter: it doesn't just find the book by id — it includes the business rule in the match condition, using $expr to require that stock minus </a:t>
            </a:r>
            <a:r>
              <a:rPr lang="en-US" dirty="0" err="1"/>
              <a:t>reservedStock</a:t>
            </a:r>
            <a:r>
              <a:rPr lang="en-US" dirty="0"/>
              <a:t> is at least the requested quantity. The increment only happens if that condition holds, and MongoDB guarantees single-document updates are atomic. So if two shoppers race for the last copy, the database serializes them: one update matches, one returns null — there is no interleaving where both succeed. We moved the race from our application code, where it's unsolvable without locks, into the database engine, where it's free. Three supporting details make it production-honest. First, carts have multiple items and we reserve them one at a time — so if item three fails, we roll back the holds already placed on items one and two before returning a 409. Second, releasing stock uses an aggregation-pipeline update that clamps at zero — a release can never drive the counter negative. Third, expiry is guarded: the update matches only status 'active', and we check </a:t>
            </a:r>
            <a:r>
              <a:rPr lang="en-US" dirty="0" err="1"/>
              <a:t>modifiedCount</a:t>
            </a:r>
            <a:r>
              <a:rPr lang="en-US" dirty="0"/>
              <a:t> — if a concurrent checkout or another cleanup pass already transitioned the reservation, we don't release the stock a second time. Every state transition in this system happens exactly once. Now let's follow a successful checkout.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Checkout is a five-step wizard. On the client it's a reducer-driven state machine — every transition like RESERVE_SUCCESS or EXPIRE is an explicit action, which made a genuinely stateful UI predictable and </a:t>
            </a:r>
            <a:r>
              <a:rPr lang="en-US" dirty="0" err="1"/>
              <a:t>debuggable</a:t>
            </a:r>
            <a:r>
              <a:rPr lang="en-US" dirty="0"/>
              <a:t>. The interesting part is server-side, at the payment step. Four things must happen together: claim the reservation, take payment, decrement stock, create the order. If the process died between decrementing stock and creating the order, we'd have sold books with no record. So the whole sequence runs inside a MongoDB transaction via our </a:t>
            </a:r>
            <a:r>
              <a:rPr lang="en-US" dirty="0" err="1"/>
              <a:t>withOptionalTransaction</a:t>
            </a:r>
            <a:r>
              <a:rPr lang="en-US" dirty="0"/>
              <a:t> utility. Why 'optional'? Transactions require a replica set; local single-node MongoDB doesn't support them. The utility tries a real transaction, detects the unsupported-deployment error once, caches that answer, and falls back to running the same logic without a session — full atomicity in production, zero friction in development, and the business logic is written once. Two more honest details: the claim itself is another status-guarded atomic update, so double-submitting checkout can't create two orders from one reservation — the second claim finds nothing active and gets a 409. And payment is explicitly a mock — we generate a fake receipt ID and never accept card data; the interface is shaped so a real provider like Stripe slots into that one step. If the reservation expired mid-checkout, the server answers 410 and the UI walks you back to the cart. Next: what happens after you buy.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Reviews demonstrate two kinds of correctness. Data integrity first: one review per user per book is enforced by a unique compound index in MongoDB — not by application checks — and submitting again is an </a:t>
            </a:r>
            <a:r>
              <a:rPr lang="en-US" dirty="0" err="1"/>
              <a:t>upsert</a:t>
            </a:r>
            <a:r>
              <a:rPr lang="en-US" dirty="0"/>
              <a:t> that updates your existing review. The book's average rating is never incrementally patched; it's recomputed from the actual review documents inside the same transaction as the write, so it can't drift. Then the real-time layer: when you open a book page, your socket joins a room named after that book. When anyone submits a review, the controller emits a single </a:t>
            </a:r>
            <a:r>
              <a:rPr lang="en-US" dirty="0" err="1"/>
              <a:t>review:updated</a:t>
            </a:r>
            <a:r>
              <a:rPr lang="en-US" dirty="0"/>
              <a:t> event to that room only — not a global broadcast — so a hundred users on a hundred different pages don't receive each other's traffic. Everyone looking at that book sees the new review and updated average instantly, no refresh. One subtle bug we fixed: Socket.IO room membership dies with the connection, so the client re-joins the room on every reconnect — otherwise a Wi-Fi blip would silently stop your live updates. In the demo you'll see this with two browsers side by side. Two more features quickly, then the demo.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book-request feature closes the loop between customers and the store. Anyone can request a missing title. We normalize title and author — trimmed, lowercased — so 'Dune' and 'DUNE ' don't create duplicates; a repeat request increments a vote count and a priority score instead. Admins see requests ranked by demand. Approving one opens a two-step modal: the server queries the Google Books API for matching volumes, and the admin picks a candidate — which prefills title, author, description, cover and category — or enters details manually. Deliberate resilience detail: that external call has a timeout, and if Google Books is down the endpoint still returns 200 with an empty candidate list and a notice — an outside service being down never blocks an admin's work. On the analytics side, everything is computed in MongoDB aggregation pipelines — grouping orders by day for the sales chart, unwinding order items to rank top sellers — so the database does the heavy lifting and the API returns chart-ready JSON for Recharts. And the search log that feeds 'top searches' is written fire-and-forget: logging analytics never adds latency to a customer's search. Let's see all of it live.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talk through screenshots, let's use the real application. I'll play a customer first — search for a book (note: this search is being logged for analytics; you'll see it again on the admin dashboard in three minutes), open the details page with its reviews and the store availability map, add it to the cart and walk the five-step checkout — watch the reservation timer start when I confirm the cart. Then the two demos that are hard to fake: first, two browsers racing for the same last copy — you'll see one reserve succeed and the other get a clean 'not enough stock' error, which is the atomic guard from slide 12 doing its job live. Second, I'll submit a review in one browser and you'll watch it appear in the other without a refresh — that's the Socket.IO room. Finally I'll switch to the admin account: approve the book request we filed using the Google Books candidate picker, show the book landing in the catalog, and end on the analytics dashboard — where the search I ran at the start of this demo is now a data point.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chose future work that the architecture already has sockets for. Payment: the mock is one isolated function inside the checkout transaction — Stripe replaces that function; the reservation claim, stock commit and rollback logic don't change. Recommendations: today they're category-based heuristics inside one service function; an ML or LLM-based recommender swaps the internals of that function without touching a single consumer. Same for the admin approval flow — the candidate-picker UI exists; an AI source is a drop-in. The honest items are the last two: to run multiple server instances we'd add the Socket.IO Redis adapter and move the reservation cleanup job out of the process into a shared scheduler — we know exactly where that seam is. And testing: we prioritized the safety mechanisms themselves over test coverage this iteration, but because services are plain functions with no Express dependency, they're directly unit-testable — that's the first thing we'd add.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a:t>
            </a:r>
            <a:r>
              <a:rPr lang="en-US" dirty="0" err="1"/>
              <a:t>Inkspire</a:t>
            </a:r>
            <a:r>
              <a:rPr lang="en-US" dirty="0"/>
              <a:t> is a complete bookstore, but what we'd like you to take away is the engineering underneath — inventory that cannot oversell because correctness lives in atomic database operations, a checkout that's transactional where the deployment allows and graceful where it doesn't, a clean split between identity and authorization, and real-time updates scoped to exactly the users who need them. Thank you — we're happy to take questions on any layer of the system.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3.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1.png"/><Relationship Id="rId9"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4.png"/><Relationship Id="rId7"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33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4000"/>
          </a:blip>
          <a:stretch>
            <a:fillRect/>
          </a:stretch>
        </p:blipFill>
        <p:spPr>
          <a:xfrm>
            <a:off x="6720840" y="457200"/>
            <a:ext cx="1920240" cy="1920240"/>
          </a:xfrm>
          <a:prstGeom prst="rect">
            <a:avLst/>
          </a:prstGeom>
        </p:spPr>
      </p:pic>
      <p:sp>
        <p:nvSpPr>
          <p:cNvPr id="3" name="Shape 0"/>
          <p:cNvSpPr/>
          <p:nvPr/>
        </p:nvSpPr>
        <p:spPr>
          <a:xfrm>
            <a:off x="822960" y="932688"/>
            <a:ext cx="566928" cy="566928"/>
          </a:xfrm>
          <a:prstGeom prst="ellipse">
            <a:avLst/>
          </a:prstGeom>
          <a:solidFill>
            <a:srgbClr val="5C4AD6"/>
          </a:solidFill>
          <a:ln/>
        </p:spPr>
      </p:sp>
      <p:pic>
        <p:nvPicPr>
          <p:cNvPr id="4" name="Image 1" descr="preencoded.png"/>
          <p:cNvPicPr>
            <a:picLocks noChangeAspect="1"/>
          </p:cNvPicPr>
          <p:nvPr/>
        </p:nvPicPr>
        <p:blipFill>
          <a:blip r:embed="rId4"/>
          <a:stretch>
            <a:fillRect/>
          </a:stretch>
        </p:blipFill>
        <p:spPr>
          <a:xfrm>
            <a:off x="970361" y="1080089"/>
            <a:ext cx="272125" cy="272125"/>
          </a:xfrm>
          <a:prstGeom prst="rect">
            <a:avLst/>
          </a:prstGeom>
        </p:spPr>
      </p:pic>
      <p:sp>
        <p:nvSpPr>
          <p:cNvPr id="5" name="Text 1"/>
          <p:cNvSpPr/>
          <p:nvPr/>
        </p:nvSpPr>
        <p:spPr>
          <a:xfrm>
            <a:off x="777240" y="1600200"/>
            <a:ext cx="7589520" cy="914400"/>
          </a:xfrm>
          <a:prstGeom prst="rect">
            <a:avLst/>
          </a:prstGeom>
          <a:noFill/>
          <a:ln/>
        </p:spPr>
        <p:txBody>
          <a:bodyPr wrap="square" lIns="0" tIns="0" rIns="0" bIns="0" rtlCol="0" anchor="ctr"/>
          <a:lstStyle/>
          <a:p>
            <a:pPr marL="0" indent="0">
              <a:buNone/>
            </a:pPr>
            <a:r>
              <a:rPr lang="en-US" sz="5400" b="1" kern="0" spc="400" dirty="0">
                <a:solidFill>
                  <a:srgbClr val="FFFFFF"/>
                </a:solidFill>
                <a:latin typeface="Cambria" pitchFamily="34" charset="0"/>
                <a:ea typeface="Cambria" pitchFamily="34" charset="-122"/>
                <a:cs typeface="Cambria" pitchFamily="34" charset="-120"/>
              </a:rPr>
              <a:t>INKSPIRE</a:t>
            </a:r>
            <a:endParaRPr lang="en-US" sz="5400" dirty="0"/>
          </a:p>
        </p:txBody>
      </p:sp>
      <p:sp>
        <p:nvSpPr>
          <p:cNvPr id="6" name="Text 2"/>
          <p:cNvSpPr/>
          <p:nvPr/>
        </p:nvSpPr>
        <p:spPr>
          <a:xfrm>
            <a:off x="822960" y="2606040"/>
            <a:ext cx="6949440" cy="457200"/>
          </a:xfrm>
          <a:prstGeom prst="rect">
            <a:avLst/>
          </a:prstGeom>
          <a:noFill/>
          <a:ln/>
        </p:spPr>
        <p:txBody>
          <a:bodyPr wrap="square" lIns="0" tIns="0" rIns="0" bIns="0" rtlCol="0" anchor="ctr"/>
          <a:lstStyle/>
          <a:p>
            <a:pPr marL="0" indent="0">
              <a:buNone/>
            </a:pPr>
            <a:r>
              <a:rPr lang="en-US" sz="1700" i="1">
                <a:solidFill>
                  <a:srgbClr val="C9C4F2"/>
                </a:solidFill>
                <a:latin typeface="Calibri"/>
                <a:ea typeface="Calibri"/>
                <a:cs typeface="Calibri"/>
              </a:rPr>
              <a:t>A full-stack online bookstore </a:t>
            </a:r>
            <a:endParaRPr lang="en-US" sz="1700" dirty="0">
              <a:latin typeface="Calibri"/>
              <a:ea typeface="Calibri"/>
              <a:cs typeface="Calibri"/>
            </a:endParaRPr>
          </a:p>
        </p:txBody>
      </p:sp>
      <p:sp>
        <p:nvSpPr>
          <p:cNvPr id="7" name="Shape 3"/>
          <p:cNvSpPr/>
          <p:nvPr/>
        </p:nvSpPr>
        <p:spPr>
          <a:xfrm>
            <a:off x="841248" y="3310128"/>
            <a:ext cx="2011680" cy="0"/>
          </a:xfrm>
          <a:prstGeom prst="line">
            <a:avLst/>
          </a:prstGeom>
          <a:noFill/>
          <a:ln w="25400">
            <a:solidFill>
              <a:srgbClr val="5C4AD6"/>
            </a:solidFill>
            <a:prstDash val="solid"/>
          </a:ln>
        </p:spPr>
      </p:sp>
      <p:sp>
        <p:nvSpPr>
          <p:cNvPr id="8" name="Text 4"/>
          <p:cNvSpPr/>
          <p:nvPr/>
        </p:nvSpPr>
        <p:spPr>
          <a:xfrm>
            <a:off x="822960" y="3520440"/>
            <a:ext cx="6858000" cy="1005840"/>
          </a:xfrm>
          <a:prstGeom prst="rect">
            <a:avLst/>
          </a:prstGeom>
          <a:noFill/>
          <a:ln/>
        </p:spPr>
        <p:txBody>
          <a:bodyPr wrap="square" lIns="0" tIns="0" rIns="0" bIns="0" rtlCol="0" anchor="ctr"/>
          <a:lstStyle/>
          <a:p>
            <a:pPr marL="0" indent="0">
              <a:spcAft>
                <a:spcPts val="1000"/>
              </a:spcAft>
              <a:buNone/>
            </a:pPr>
            <a:r>
              <a:rPr sz="1400" b="1">
                <a:solidFill>
                  <a:srgbClr val="FFFFFF"/>
                </a:solidFill>
                <a:latin typeface="Calibri"/>
              </a:rPr>
              <a:t>Yossif Abdelfattah   ·   Wiem Louhichi   ·   Ahmed Mousa   ·   Asel Toktokozhoeva</a:t>
            </a:r>
            <a:endParaRPr lang="en-US" sz="1500" dirty="0"/>
          </a:p>
          <a:p>
            <a:pPr>
              <a:spcAft>
                <a:spcPts val="400"/>
              </a:spcAft>
            </a:pPr>
            <a:r>
              <a:rPr sz="1200" b="0">
                <a:solidFill>
                  <a:srgbClr val="C9C4F2"/>
                </a:solidFill>
                <a:latin typeface="Calibri"/>
              </a:rPr>
              <a:t>JavaScript · Supervised by Sebastian Springer</a:t>
            </a:r>
          </a:p>
          <a:p>
            <a:r>
              <a:rPr sz="1200" b="0">
                <a:solidFill>
                  <a:srgbClr val="C9C4F2"/>
                </a:solidFill>
                <a:latin typeface="Calibri"/>
              </a:rPr>
              <a:t>TH Rosenheim · 08.07.2026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37744"/>
            <a:ext cx="8229600" cy="54864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Agenda</a:t>
            </a:r>
            <a:endParaRPr lang="en-US" sz="2800" dirty="0"/>
          </a:p>
        </p:txBody>
      </p:sp>
      <p:sp>
        <p:nvSpPr>
          <p:cNvPr id="3" name="Shape 1"/>
          <p:cNvSpPr/>
          <p:nvPr/>
        </p:nvSpPr>
        <p:spPr>
          <a:xfrm>
            <a:off x="457200" y="1097280"/>
            <a:ext cx="3977640" cy="1078992"/>
          </a:xfrm>
          <a:prstGeom prst="roundRect">
            <a:avLst>
              <a:gd name="adj" fmla="val 5932"/>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4" name="Shape 2"/>
          <p:cNvSpPr/>
          <p:nvPr/>
        </p:nvSpPr>
        <p:spPr>
          <a:xfrm>
            <a:off x="658368" y="1408176"/>
            <a:ext cx="457200" cy="457200"/>
          </a:xfrm>
          <a:prstGeom prst="ellipse">
            <a:avLst/>
          </a:prstGeom>
          <a:solidFill>
            <a:srgbClr val="5C4AD6"/>
          </a:solidFill>
          <a:ln/>
        </p:spPr>
      </p:sp>
      <p:pic>
        <p:nvPicPr>
          <p:cNvPr id="5" name="Image 0" descr="preencoded.png"/>
          <p:cNvPicPr>
            <a:picLocks noChangeAspect="1"/>
          </p:cNvPicPr>
          <p:nvPr/>
        </p:nvPicPr>
        <p:blipFill>
          <a:blip r:embed="rId3"/>
          <a:stretch>
            <a:fillRect/>
          </a:stretch>
        </p:blipFill>
        <p:spPr>
          <a:xfrm>
            <a:off x="777240" y="1527048"/>
            <a:ext cx="219456" cy="219456"/>
          </a:xfrm>
          <a:prstGeom prst="rect">
            <a:avLst/>
          </a:prstGeom>
        </p:spPr>
      </p:pic>
      <p:sp>
        <p:nvSpPr>
          <p:cNvPr id="6" name="Text 3"/>
          <p:cNvSpPr/>
          <p:nvPr/>
        </p:nvSpPr>
        <p:spPr>
          <a:xfrm>
            <a:off x="1298448" y="1207008"/>
            <a:ext cx="3035808" cy="877824"/>
          </a:xfrm>
          <a:prstGeom prst="rect">
            <a:avLst/>
          </a:prstGeom>
          <a:noFill/>
          <a:ln/>
        </p:spPr>
        <p:txBody>
          <a:bodyPr wrap="square" lIns="381" tIns="381" rIns="381" bIns="381" rtlCol="0" anchor="ctr"/>
          <a:lstStyle/>
          <a:p>
            <a:pPr marL="0" indent="0">
              <a:spcAft>
                <a:spcPts val="300"/>
              </a:spcAft>
              <a:buNone/>
            </a:pPr>
            <a:r>
              <a:rPr lang="en-US" sz="1450" b="1" dirty="0">
                <a:solidFill>
                  <a:srgbClr val="23233F"/>
                </a:solidFill>
                <a:latin typeface="Calibri" pitchFamily="34" charset="0"/>
                <a:ea typeface="Calibri" pitchFamily="34" charset="-122"/>
                <a:cs typeface="Calibri" pitchFamily="34" charset="-120"/>
              </a:rPr>
              <a:t>1 · What is Inkspire</a:t>
            </a:r>
            <a:endParaRPr lang="en-US" sz="1450" dirty="0"/>
          </a:p>
          <a:p>
            <a:pPr marL="0" indent="0">
              <a:spcAft>
                <a:spcPts val="300"/>
              </a:spcAft>
              <a:buNone/>
            </a:pPr>
            <a:r>
              <a:rPr lang="en-US" sz="1050" dirty="0">
                <a:solidFill>
                  <a:srgbClr val="6A6A82"/>
                </a:solidFill>
                <a:latin typeface="Calibri" pitchFamily="34" charset="0"/>
                <a:ea typeface="Calibri" pitchFamily="34" charset="-122"/>
                <a:cs typeface="Calibri" pitchFamily="34" charset="-120"/>
              </a:rPr>
              <a:t>The product, and how we worked as a team</a:t>
            </a:r>
            <a:endParaRPr lang="en-US" sz="1450" dirty="0"/>
          </a:p>
        </p:txBody>
      </p:sp>
      <p:sp>
        <p:nvSpPr>
          <p:cNvPr id="7" name="Shape 4"/>
          <p:cNvSpPr/>
          <p:nvPr/>
        </p:nvSpPr>
        <p:spPr>
          <a:xfrm>
            <a:off x="4709160" y="1097280"/>
            <a:ext cx="3977640" cy="1078992"/>
          </a:xfrm>
          <a:prstGeom prst="roundRect">
            <a:avLst>
              <a:gd name="adj" fmla="val 5932"/>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8" name="Shape 5"/>
          <p:cNvSpPr/>
          <p:nvPr/>
        </p:nvSpPr>
        <p:spPr>
          <a:xfrm>
            <a:off x="4910328" y="1408176"/>
            <a:ext cx="457200" cy="457200"/>
          </a:xfrm>
          <a:prstGeom prst="ellipse">
            <a:avLst/>
          </a:prstGeom>
          <a:solidFill>
            <a:srgbClr val="5C4AD6"/>
          </a:solidFill>
          <a:ln/>
        </p:spPr>
      </p:sp>
      <p:pic>
        <p:nvPicPr>
          <p:cNvPr id="9" name="Image 1" descr="preencoded.png"/>
          <p:cNvPicPr>
            <a:picLocks noChangeAspect="1"/>
          </p:cNvPicPr>
          <p:nvPr/>
        </p:nvPicPr>
        <p:blipFill>
          <a:blip r:embed="rId4"/>
          <a:stretch>
            <a:fillRect/>
          </a:stretch>
        </p:blipFill>
        <p:spPr>
          <a:xfrm>
            <a:off x="5029200" y="1527048"/>
            <a:ext cx="219456" cy="219456"/>
          </a:xfrm>
          <a:prstGeom prst="rect">
            <a:avLst/>
          </a:prstGeom>
        </p:spPr>
      </p:pic>
      <p:sp>
        <p:nvSpPr>
          <p:cNvPr id="10" name="Text 6"/>
          <p:cNvSpPr/>
          <p:nvPr/>
        </p:nvSpPr>
        <p:spPr>
          <a:xfrm>
            <a:off x="5550408" y="1207008"/>
            <a:ext cx="3035808" cy="877824"/>
          </a:xfrm>
          <a:prstGeom prst="rect">
            <a:avLst/>
          </a:prstGeom>
          <a:noFill/>
          <a:ln/>
        </p:spPr>
        <p:txBody>
          <a:bodyPr wrap="square" lIns="381" tIns="381" rIns="381" bIns="381" rtlCol="0" anchor="ctr"/>
          <a:lstStyle/>
          <a:p>
            <a:pPr marL="0" indent="0">
              <a:spcAft>
                <a:spcPts val="300"/>
              </a:spcAft>
              <a:buNone/>
            </a:pPr>
            <a:r>
              <a:rPr lang="en-US" sz="1450" b="1" dirty="0">
                <a:solidFill>
                  <a:srgbClr val="23233F"/>
                </a:solidFill>
                <a:latin typeface="Calibri" pitchFamily="34" charset="0"/>
                <a:ea typeface="Calibri" pitchFamily="34" charset="-122"/>
                <a:cs typeface="Calibri" pitchFamily="34" charset="-120"/>
              </a:rPr>
              <a:t>2 · Project evolution</a:t>
            </a:r>
            <a:endParaRPr lang="en-US" sz="1450" dirty="0"/>
          </a:p>
          <a:p>
            <a:pPr marL="0" indent="0">
              <a:spcAft>
                <a:spcPts val="300"/>
              </a:spcAft>
              <a:buNone/>
            </a:pPr>
            <a:r>
              <a:rPr lang="en-US" sz="1050" dirty="0">
                <a:solidFill>
                  <a:srgbClr val="6A6A82"/>
                </a:solidFill>
                <a:latin typeface="Calibri" pitchFamily="34" charset="0"/>
                <a:ea typeface="Calibri" pitchFamily="34" charset="-122"/>
                <a:cs typeface="Calibri" pitchFamily="34" charset="-120"/>
              </a:rPr>
              <a:t>Three iterations — what we added, what we cut</a:t>
            </a:r>
            <a:endParaRPr lang="en-US" sz="1450" dirty="0"/>
          </a:p>
        </p:txBody>
      </p:sp>
      <p:sp>
        <p:nvSpPr>
          <p:cNvPr id="11" name="Shape 7"/>
          <p:cNvSpPr/>
          <p:nvPr/>
        </p:nvSpPr>
        <p:spPr>
          <a:xfrm>
            <a:off x="457200" y="2395728"/>
            <a:ext cx="3977640" cy="1078992"/>
          </a:xfrm>
          <a:prstGeom prst="roundRect">
            <a:avLst>
              <a:gd name="adj" fmla="val 5932"/>
            </a:avLst>
          </a:prstGeom>
          <a:solidFill>
            <a:srgbClr val="F1EFFB"/>
          </a:solidFill>
          <a:ln w="9525">
            <a:solidFill>
              <a:srgbClr val="E4E2F0"/>
            </a:solidFill>
            <a:prstDash val="solid"/>
          </a:ln>
          <a:effectLst>
            <a:outerShdw blurRad="88900" dist="25400" dir="2700000" algn="bl" rotWithShape="0">
              <a:srgbClr val="000000">
                <a:alpha val="13000"/>
              </a:srgbClr>
            </a:outerShdw>
          </a:effectLst>
        </p:spPr>
      </p:sp>
      <p:sp>
        <p:nvSpPr>
          <p:cNvPr id="12" name="Shape 8"/>
          <p:cNvSpPr/>
          <p:nvPr/>
        </p:nvSpPr>
        <p:spPr>
          <a:xfrm>
            <a:off x="658368" y="2706624"/>
            <a:ext cx="457200" cy="457200"/>
          </a:xfrm>
          <a:prstGeom prst="ellipse">
            <a:avLst/>
          </a:prstGeom>
          <a:solidFill>
            <a:srgbClr val="23233F"/>
          </a:solidFill>
          <a:ln/>
        </p:spPr>
      </p:sp>
      <p:pic>
        <p:nvPicPr>
          <p:cNvPr id="13" name="Image 2" descr="preencoded.png"/>
          <p:cNvPicPr>
            <a:picLocks noChangeAspect="1"/>
          </p:cNvPicPr>
          <p:nvPr/>
        </p:nvPicPr>
        <p:blipFill>
          <a:blip r:embed="rId5"/>
          <a:stretch>
            <a:fillRect/>
          </a:stretch>
        </p:blipFill>
        <p:spPr>
          <a:xfrm>
            <a:off x="777240" y="2825496"/>
            <a:ext cx="219456" cy="219456"/>
          </a:xfrm>
          <a:prstGeom prst="rect">
            <a:avLst/>
          </a:prstGeom>
        </p:spPr>
      </p:pic>
      <p:sp>
        <p:nvSpPr>
          <p:cNvPr id="14" name="Text 9"/>
          <p:cNvSpPr/>
          <p:nvPr/>
        </p:nvSpPr>
        <p:spPr>
          <a:xfrm>
            <a:off x="1298448" y="2505456"/>
            <a:ext cx="3035808" cy="877824"/>
          </a:xfrm>
          <a:prstGeom prst="rect">
            <a:avLst/>
          </a:prstGeom>
          <a:noFill/>
          <a:ln/>
        </p:spPr>
        <p:txBody>
          <a:bodyPr wrap="square" lIns="381" tIns="381" rIns="381" bIns="381" rtlCol="0" anchor="ctr"/>
          <a:lstStyle/>
          <a:p>
            <a:pPr marL="0" indent="0">
              <a:spcAft>
                <a:spcPts val="300"/>
              </a:spcAft>
              <a:buNone/>
            </a:pPr>
            <a:r>
              <a:rPr lang="en-US" sz="1450" b="1" dirty="0">
                <a:solidFill>
                  <a:srgbClr val="23233F"/>
                </a:solidFill>
                <a:latin typeface="Calibri" pitchFamily="34" charset="0"/>
                <a:ea typeface="Calibri" pitchFamily="34" charset="-122"/>
                <a:cs typeface="Calibri" pitchFamily="34" charset="-120"/>
              </a:rPr>
              <a:t>3 · Architecture</a:t>
            </a:r>
            <a:endParaRPr lang="en-US" sz="1450" dirty="0"/>
          </a:p>
          <a:p>
            <a:pPr marL="0" indent="0">
              <a:spcAft>
                <a:spcPts val="300"/>
              </a:spcAft>
              <a:buNone/>
            </a:pPr>
            <a:r>
              <a:rPr lang="en-US" sz="1050" dirty="0">
                <a:solidFill>
                  <a:srgbClr val="6A6A82"/>
                </a:solidFill>
                <a:latin typeface="Calibri" pitchFamily="34" charset="0"/>
                <a:ea typeface="Calibri" pitchFamily="34" charset="-122"/>
                <a:cs typeface="Calibri" pitchFamily="34" charset="-120"/>
              </a:rPr>
              <a:t>Monorepo, stack decisions, layering</a:t>
            </a:r>
            <a:endParaRPr lang="en-US" sz="1450" dirty="0"/>
          </a:p>
        </p:txBody>
      </p:sp>
      <p:sp>
        <p:nvSpPr>
          <p:cNvPr id="15" name="Shape 10"/>
          <p:cNvSpPr/>
          <p:nvPr/>
        </p:nvSpPr>
        <p:spPr>
          <a:xfrm>
            <a:off x="4709160" y="2395728"/>
            <a:ext cx="3977640" cy="1078992"/>
          </a:xfrm>
          <a:prstGeom prst="roundRect">
            <a:avLst>
              <a:gd name="adj" fmla="val 5932"/>
            </a:avLst>
          </a:prstGeom>
          <a:solidFill>
            <a:srgbClr val="F1EFFB"/>
          </a:solidFill>
          <a:ln w="9525">
            <a:solidFill>
              <a:srgbClr val="E4E2F0"/>
            </a:solidFill>
            <a:prstDash val="solid"/>
          </a:ln>
          <a:effectLst>
            <a:outerShdw blurRad="88900" dist="25400" dir="2700000" algn="bl" rotWithShape="0">
              <a:srgbClr val="000000">
                <a:alpha val="13000"/>
              </a:srgbClr>
            </a:outerShdw>
          </a:effectLst>
        </p:spPr>
      </p:sp>
      <p:sp>
        <p:nvSpPr>
          <p:cNvPr id="16" name="Shape 11"/>
          <p:cNvSpPr/>
          <p:nvPr/>
        </p:nvSpPr>
        <p:spPr>
          <a:xfrm>
            <a:off x="4910328" y="2706624"/>
            <a:ext cx="457200" cy="457200"/>
          </a:xfrm>
          <a:prstGeom prst="ellipse">
            <a:avLst/>
          </a:prstGeom>
          <a:solidFill>
            <a:srgbClr val="23233F"/>
          </a:solidFill>
          <a:ln/>
        </p:spPr>
      </p:sp>
      <p:pic>
        <p:nvPicPr>
          <p:cNvPr id="17" name="Image 3" descr="preencoded.png"/>
          <p:cNvPicPr>
            <a:picLocks noChangeAspect="1"/>
          </p:cNvPicPr>
          <p:nvPr/>
        </p:nvPicPr>
        <p:blipFill>
          <a:blip r:embed="rId6"/>
          <a:stretch>
            <a:fillRect/>
          </a:stretch>
        </p:blipFill>
        <p:spPr>
          <a:xfrm>
            <a:off x="5029200" y="2825496"/>
            <a:ext cx="219456" cy="219456"/>
          </a:xfrm>
          <a:prstGeom prst="rect">
            <a:avLst/>
          </a:prstGeom>
        </p:spPr>
      </p:pic>
      <p:sp>
        <p:nvSpPr>
          <p:cNvPr id="18" name="Text 12"/>
          <p:cNvSpPr/>
          <p:nvPr/>
        </p:nvSpPr>
        <p:spPr>
          <a:xfrm>
            <a:off x="5550408" y="2505456"/>
            <a:ext cx="3035808" cy="877824"/>
          </a:xfrm>
          <a:prstGeom prst="rect">
            <a:avLst/>
          </a:prstGeom>
          <a:noFill/>
          <a:ln/>
        </p:spPr>
        <p:txBody>
          <a:bodyPr wrap="square" lIns="381" tIns="381" rIns="381" bIns="381" rtlCol="0" anchor="ctr"/>
          <a:lstStyle/>
          <a:p>
            <a:pPr marL="0" indent="0">
              <a:spcAft>
                <a:spcPts val="300"/>
              </a:spcAft>
              <a:buNone/>
            </a:pPr>
            <a:r>
              <a:rPr lang="en-US" sz="1450" b="1" dirty="0">
                <a:solidFill>
                  <a:srgbClr val="23233F"/>
                </a:solidFill>
                <a:latin typeface="Calibri" pitchFamily="34" charset="0"/>
                <a:ea typeface="Calibri" pitchFamily="34" charset="-122"/>
                <a:cs typeface="Calibri" pitchFamily="34" charset="-120"/>
              </a:rPr>
              <a:t>4 · Implementation deep-dives</a:t>
            </a:r>
            <a:endParaRPr lang="en-US" sz="1450" dirty="0"/>
          </a:p>
          <a:p>
            <a:pPr marL="0" indent="0">
              <a:spcAft>
                <a:spcPts val="300"/>
              </a:spcAft>
              <a:buNone/>
            </a:pPr>
            <a:r>
              <a:rPr lang="en-US" sz="1050" dirty="0">
                <a:solidFill>
                  <a:srgbClr val="6A6A82"/>
                </a:solidFill>
                <a:latin typeface="Calibri" pitchFamily="34" charset="0"/>
                <a:ea typeface="Calibri" pitchFamily="34" charset="-122"/>
                <a:cs typeface="Calibri" pitchFamily="34" charset="-120"/>
              </a:rPr>
              <a:t>Reservations · checkout · real-time · analytics</a:t>
            </a:r>
            <a:endParaRPr lang="en-US" sz="1450" dirty="0"/>
          </a:p>
        </p:txBody>
      </p:sp>
      <p:sp>
        <p:nvSpPr>
          <p:cNvPr id="19" name="Shape 13"/>
          <p:cNvSpPr/>
          <p:nvPr/>
        </p:nvSpPr>
        <p:spPr>
          <a:xfrm>
            <a:off x="457200" y="3694176"/>
            <a:ext cx="3977640" cy="1078992"/>
          </a:xfrm>
          <a:prstGeom prst="roundRect">
            <a:avLst>
              <a:gd name="adj" fmla="val 5932"/>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20" name="Shape 14"/>
          <p:cNvSpPr/>
          <p:nvPr/>
        </p:nvSpPr>
        <p:spPr>
          <a:xfrm>
            <a:off x="658368" y="4005072"/>
            <a:ext cx="457200" cy="457200"/>
          </a:xfrm>
          <a:prstGeom prst="ellipse">
            <a:avLst/>
          </a:prstGeom>
          <a:solidFill>
            <a:srgbClr val="2BB673"/>
          </a:solidFill>
          <a:ln/>
        </p:spPr>
      </p:sp>
      <p:pic>
        <p:nvPicPr>
          <p:cNvPr id="21" name="Image 4" descr="preencoded.png"/>
          <p:cNvPicPr>
            <a:picLocks noChangeAspect="1"/>
          </p:cNvPicPr>
          <p:nvPr/>
        </p:nvPicPr>
        <p:blipFill>
          <a:blip r:embed="rId7"/>
          <a:stretch>
            <a:fillRect/>
          </a:stretch>
        </p:blipFill>
        <p:spPr>
          <a:xfrm>
            <a:off x="777240" y="4123944"/>
            <a:ext cx="219456" cy="219456"/>
          </a:xfrm>
          <a:prstGeom prst="rect">
            <a:avLst/>
          </a:prstGeom>
        </p:spPr>
      </p:pic>
      <p:sp>
        <p:nvSpPr>
          <p:cNvPr id="22" name="Text 15"/>
          <p:cNvSpPr/>
          <p:nvPr/>
        </p:nvSpPr>
        <p:spPr>
          <a:xfrm>
            <a:off x="1298448" y="3803904"/>
            <a:ext cx="3035808" cy="877824"/>
          </a:xfrm>
          <a:prstGeom prst="rect">
            <a:avLst/>
          </a:prstGeom>
          <a:noFill/>
          <a:ln/>
        </p:spPr>
        <p:txBody>
          <a:bodyPr wrap="square" lIns="381" tIns="381" rIns="381" bIns="381" rtlCol="0" anchor="ctr"/>
          <a:lstStyle/>
          <a:p>
            <a:pPr marL="0" indent="0">
              <a:spcAft>
                <a:spcPts val="300"/>
              </a:spcAft>
              <a:buNone/>
            </a:pPr>
            <a:r>
              <a:rPr lang="en-US" sz="1450" b="1" dirty="0">
                <a:solidFill>
                  <a:srgbClr val="23233F"/>
                </a:solidFill>
                <a:latin typeface="Calibri" pitchFamily="34" charset="0"/>
                <a:ea typeface="Calibri" pitchFamily="34" charset="-122"/>
                <a:cs typeface="Calibri" pitchFamily="34" charset="-120"/>
              </a:rPr>
              <a:t>5 · Live demo</a:t>
            </a:r>
            <a:endParaRPr lang="en-US" sz="1450" dirty="0"/>
          </a:p>
          <a:p>
            <a:pPr marL="0" indent="0">
              <a:spcAft>
                <a:spcPts val="300"/>
              </a:spcAft>
              <a:buNone/>
            </a:pPr>
            <a:r>
              <a:rPr lang="en-US" sz="1050" dirty="0">
                <a:solidFill>
                  <a:srgbClr val="6A6A82"/>
                </a:solidFill>
                <a:latin typeface="Calibri" pitchFamily="34" charset="0"/>
                <a:ea typeface="Calibri" pitchFamily="34" charset="-122"/>
                <a:cs typeface="Calibri" pitchFamily="34" charset="-120"/>
              </a:rPr>
              <a:t>Concurrency and real-time, proven live</a:t>
            </a:r>
            <a:endParaRPr lang="en-US" sz="1450" dirty="0"/>
          </a:p>
        </p:txBody>
      </p:sp>
      <p:sp>
        <p:nvSpPr>
          <p:cNvPr id="23" name="Shape 16"/>
          <p:cNvSpPr/>
          <p:nvPr/>
        </p:nvSpPr>
        <p:spPr>
          <a:xfrm>
            <a:off x="4709160" y="3694176"/>
            <a:ext cx="3977640" cy="1078992"/>
          </a:xfrm>
          <a:prstGeom prst="roundRect">
            <a:avLst>
              <a:gd name="adj" fmla="val 5932"/>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24" name="Shape 17"/>
          <p:cNvSpPr/>
          <p:nvPr/>
        </p:nvSpPr>
        <p:spPr>
          <a:xfrm>
            <a:off x="4910328" y="4005072"/>
            <a:ext cx="457200" cy="457200"/>
          </a:xfrm>
          <a:prstGeom prst="ellipse">
            <a:avLst/>
          </a:prstGeom>
          <a:solidFill>
            <a:srgbClr val="2BB673"/>
          </a:solidFill>
          <a:ln/>
        </p:spPr>
      </p:sp>
      <p:pic>
        <p:nvPicPr>
          <p:cNvPr id="25" name="Image 5" descr="preencoded.png"/>
          <p:cNvPicPr>
            <a:picLocks noChangeAspect="1"/>
          </p:cNvPicPr>
          <p:nvPr/>
        </p:nvPicPr>
        <p:blipFill>
          <a:blip r:embed="rId8"/>
          <a:stretch>
            <a:fillRect/>
          </a:stretch>
        </p:blipFill>
        <p:spPr>
          <a:xfrm>
            <a:off x="5029200" y="4123944"/>
            <a:ext cx="219456" cy="219456"/>
          </a:xfrm>
          <a:prstGeom prst="rect">
            <a:avLst/>
          </a:prstGeom>
        </p:spPr>
      </p:pic>
      <p:sp>
        <p:nvSpPr>
          <p:cNvPr id="26" name="Text 18"/>
          <p:cNvSpPr/>
          <p:nvPr/>
        </p:nvSpPr>
        <p:spPr>
          <a:xfrm>
            <a:off x="5550408" y="3803904"/>
            <a:ext cx="3035808" cy="877824"/>
          </a:xfrm>
          <a:prstGeom prst="rect">
            <a:avLst/>
          </a:prstGeom>
          <a:noFill/>
          <a:ln/>
        </p:spPr>
        <p:txBody>
          <a:bodyPr wrap="square" lIns="381" tIns="381" rIns="381" bIns="381" rtlCol="0" anchor="ctr"/>
          <a:lstStyle/>
          <a:p>
            <a:pPr marL="0" indent="0">
              <a:spcAft>
                <a:spcPts val="300"/>
              </a:spcAft>
              <a:buNone/>
            </a:pPr>
            <a:r>
              <a:rPr lang="en-US" sz="1450" b="1" dirty="0">
                <a:solidFill>
                  <a:srgbClr val="23233F"/>
                </a:solidFill>
                <a:latin typeface="Calibri" pitchFamily="34" charset="0"/>
                <a:ea typeface="Calibri" pitchFamily="34" charset="-122"/>
                <a:cs typeface="Calibri" pitchFamily="34" charset="-120"/>
              </a:rPr>
              <a:t>6 · Future improvements</a:t>
            </a:r>
            <a:endParaRPr lang="en-US" sz="1450" dirty="0"/>
          </a:p>
          <a:p>
            <a:pPr marL="0" indent="0">
              <a:spcAft>
                <a:spcPts val="300"/>
              </a:spcAft>
              <a:buNone/>
            </a:pPr>
            <a:r>
              <a:rPr lang="en-US" sz="1050" dirty="0">
                <a:solidFill>
                  <a:srgbClr val="6A6A82"/>
                </a:solidFill>
                <a:latin typeface="Calibri" pitchFamily="34" charset="0"/>
                <a:ea typeface="Calibri" pitchFamily="34" charset="-122"/>
                <a:cs typeface="Calibri" pitchFamily="34" charset="-120"/>
              </a:rPr>
              <a:t>What the architecture is ready for next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INTRODUCTION</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What is Inkspire?</a:t>
            </a:r>
            <a:endParaRPr lang="en-US" sz="2800" dirty="0"/>
          </a:p>
        </p:txBody>
      </p:sp>
      <p:sp>
        <p:nvSpPr>
          <p:cNvPr id="4" name="Text 2"/>
          <p:cNvSpPr/>
          <p:nvPr/>
        </p:nvSpPr>
        <p:spPr>
          <a:xfrm>
            <a:off x="457200" y="1051560"/>
            <a:ext cx="4114800" cy="320040"/>
          </a:xfrm>
          <a:prstGeom prst="rect">
            <a:avLst/>
          </a:prstGeom>
          <a:noFill/>
          <a:ln/>
        </p:spPr>
        <p:txBody>
          <a:bodyPr wrap="square" lIns="0" tIns="0" rIns="0" bIns="0" rtlCol="0" anchor="ctr"/>
          <a:lstStyle/>
          <a:p>
            <a:pPr marL="0" indent="0">
              <a:buNone/>
            </a:pPr>
            <a:r>
              <a:rPr lang="en-US" sz="1400" b="1" dirty="0">
                <a:solidFill>
                  <a:srgbClr val="23233F"/>
                </a:solidFill>
                <a:latin typeface="Calibri" pitchFamily="34" charset="0"/>
                <a:ea typeface="Calibri" pitchFamily="34" charset="-122"/>
                <a:cs typeface="Calibri" pitchFamily="34" charset="-120"/>
              </a:rPr>
              <a:t>An online bookstore, end to end</a:t>
            </a:r>
            <a:endParaRPr lang="en-US" sz="1400" dirty="0"/>
          </a:p>
        </p:txBody>
      </p:sp>
      <p:sp>
        <p:nvSpPr>
          <p:cNvPr id="5" name="Text 3"/>
          <p:cNvSpPr/>
          <p:nvPr/>
        </p:nvSpPr>
        <p:spPr>
          <a:xfrm>
            <a:off x="457200" y="1417320"/>
            <a:ext cx="4069080" cy="3017520"/>
          </a:xfrm>
          <a:prstGeom prst="rect">
            <a:avLst/>
          </a:prstGeom>
          <a:noFill/>
          <a:ln/>
        </p:spPr>
        <p:txBody>
          <a:bodyPr wrap="square" rtlCol="0" anchor="t"/>
          <a:lstStyle/>
          <a:p>
            <a:pPr marL="342900" indent="-342900">
              <a:spcAft>
                <a:spcPts val="1000"/>
              </a:spcAft>
              <a:buSzPct val="100000"/>
              <a:buChar char="•"/>
            </a:pPr>
            <a:r>
              <a:rPr lang="en-US" sz="1300" dirty="0">
                <a:solidFill>
                  <a:srgbClr val="23233F"/>
                </a:solidFill>
                <a:latin typeface="Calibri" pitchFamily="34" charset="0"/>
                <a:ea typeface="Calibri" pitchFamily="34" charset="-122"/>
                <a:cs typeface="Calibri" pitchFamily="34" charset="-120"/>
              </a:rPr>
              <a:t>Catalog with search, filters &amp; sorting</a:t>
            </a:r>
            <a:endParaRPr lang="en-US" sz="1300" dirty="0"/>
          </a:p>
          <a:p>
            <a:pPr marL="342900" indent="-342900">
              <a:spcAft>
                <a:spcPts val="1000"/>
              </a:spcAft>
              <a:buSzPct val="100000"/>
              <a:buChar char="•"/>
            </a:pPr>
            <a:r>
              <a:rPr lang="en-US" sz="1300" dirty="0">
                <a:solidFill>
                  <a:srgbClr val="23233F"/>
                </a:solidFill>
                <a:latin typeface="Calibri" pitchFamily="34" charset="0"/>
                <a:ea typeface="Calibri" pitchFamily="34" charset="-122"/>
                <a:cs typeface="Calibri" pitchFamily="34" charset="-120"/>
              </a:rPr>
              <a:t>Reviews &amp; ratings, cart, order history</a:t>
            </a:r>
            <a:endParaRPr lang="en-US" sz="1300" dirty="0"/>
          </a:p>
          <a:p>
            <a:pPr marL="342900" indent="-342900">
              <a:spcAft>
                <a:spcPts val="1000"/>
              </a:spcAft>
              <a:buSzPct val="100000"/>
              <a:buChar char="•"/>
            </a:pPr>
            <a:r>
              <a:rPr lang="en-US" sz="1300" dirty="0">
                <a:solidFill>
                  <a:srgbClr val="23233F"/>
                </a:solidFill>
                <a:latin typeface="Calibri" pitchFamily="34" charset="0"/>
                <a:ea typeface="Calibri" pitchFamily="34" charset="-122"/>
                <a:cs typeface="Calibri" pitchFamily="34" charset="-120"/>
              </a:rPr>
              <a:t>Five-step checkout with delivery options</a:t>
            </a:r>
            <a:endParaRPr lang="en-US" sz="1300" dirty="0"/>
          </a:p>
          <a:p>
            <a:pPr marL="342900" indent="-342900">
              <a:spcAft>
                <a:spcPts val="1000"/>
              </a:spcAft>
              <a:buSzPct val="100000"/>
              <a:buChar char="•"/>
            </a:pPr>
            <a:r>
              <a:rPr lang="en-US" sz="1300" dirty="0">
                <a:solidFill>
                  <a:srgbClr val="23233F"/>
                </a:solidFill>
                <a:latin typeface="Calibri" pitchFamily="34" charset="0"/>
                <a:ea typeface="Calibri" pitchFamily="34" charset="-122"/>
                <a:cs typeface="Calibri" pitchFamily="34" charset="-120"/>
              </a:rPr>
              <a:t>“Request a book” flow for missing titles</a:t>
            </a:r>
            <a:endParaRPr lang="en-US" sz="1300" dirty="0"/>
          </a:p>
          <a:p>
            <a:pPr marL="342900" indent="-342900">
              <a:spcAft>
                <a:spcPts val="1000"/>
              </a:spcAft>
              <a:buSzPct val="100000"/>
              <a:buChar char="•"/>
            </a:pPr>
            <a:r>
              <a:rPr lang="en-US" sz="1300" dirty="0">
                <a:solidFill>
                  <a:srgbClr val="23233F"/>
                </a:solidFill>
                <a:latin typeface="Calibri" pitchFamily="34" charset="0"/>
                <a:ea typeface="Calibri" pitchFamily="34" charset="-122"/>
                <a:cs typeface="Calibri" pitchFamily="34" charset="-120"/>
              </a:rPr>
              <a:t>Admin dashboard: catalog CRUD, request approvals, analytics</a:t>
            </a:r>
            <a:endParaRPr lang="en-US" sz="1300" dirty="0"/>
          </a:p>
        </p:txBody>
      </p:sp>
      <p:sp>
        <p:nvSpPr>
          <p:cNvPr id="6" name="Text 4"/>
          <p:cNvSpPr/>
          <p:nvPr/>
        </p:nvSpPr>
        <p:spPr>
          <a:xfrm>
            <a:off x="4800600" y="1051560"/>
            <a:ext cx="3886200" cy="320040"/>
          </a:xfrm>
          <a:prstGeom prst="rect">
            <a:avLst/>
          </a:prstGeom>
          <a:noFill/>
          <a:ln/>
        </p:spPr>
        <p:txBody>
          <a:bodyPr wrap="square" lIns="0" tIns="0" rIns="0" bIns="0" rtlCol="0" anchor="ctr"/>
          <a:lstStyle/>
          <a:p>
            <a:pPr marL="0" indent="0">
              <a:buNone/>
            </a:pPr>
            <a:r>
              <a:rPr lang="en-US" sz="1400" b="1" dirty="0">
                <a:solidFill>
                  <a:srgbClr val="5C4AD6"/>
                </a:solidFill>
                <a:latin typeface="Calibri" pitchFamily="34" charset="0"/>
                <a:ea typeface="Calibri" pitchFamily="34" charset="-122"/>
                <a:cs typeface="Calibri" pitchFamily="34" charset="-120"/>
              </a:rPr>
              <a:t>What makes it more than CRUD</a:t>
            </a:r>
            <a:endParaRPr lang="en-US" sz="1400" dirty="0"/>
          </a:p>
        </p:txBody>
      </p:sp>
      <p:sp>
        <p:nvSpPr>
          <p:cNvPr id="7" name="Shape 5"/>
          <p:cNvSpPr/>
          <p:nvPr/>
        </p:nvSpPr>
        <p:spPr>
          <a:xfrm>
            <a:off x="4800600" y="1444752"/>
            <a:ext cx="3886200" cy="987552"/>
          </a:xfrm>
          <a:prstGeom prst="roundRect">
            <a:avLst>
              <a:gd name="adj" fmla="val 6481"/>
            </a:avLst>
          </a:prstGeom>
          <a:solidFill>
            <a:srgbClr val="F1EFFB"/>
          </a:solidFill>
          <a:ln w="9525">
            <a:solidFill>
              <a:srgbClr val="E4E2F0"/>
            </a:solidFill>
            <a:prstDash val="solid"/>
          </a:ln>
          <a:effectLst>
            <a:outerShdw blurRad="88900" dist="25400" dir="2700000" algn="bl" rotWithShape="0">
              <a:srgbClr val="000000">
                <a:alpha val="13000"/>
              </a:srgbClr>
            </a:outerShdw>
          </a:effectLst>
        </p:spPr>
      </p:sp>
      <p:sp>
        <p:nvSpPr>
          <p:cNvPr id="8" name="Shape 6"/>
          <p:cNvSpPr/>
          <p:nvPr/>
        </p:nvSpPr>
        <p:spPr>
          <a:xfrm>
            <a:off x="4983480" y="1709928"/>
            <a:ext cx="457200" cy="457200"/>
          </a:xfrm>
          <a:prstGeom prst="ellipse">
            <a:avLst/>
          </a:prstGeom>
          <a:solidFill>
            <a:srgbClr val="5C4AD6"/>
          </a:solidFill>
          <a:ln/>
        </p:spPr>
      </p:sp>
      <p:pic>
        <p:nvPicPr>
          <p:cNvPr id="9" name="Image 0" descr="preencoded.png"/>
          <p:cNvPicPr>
            <a:picLocks noChangeAspect="1"/>
          </p:cNvPicPr>
          <p:nvPr/>
        </p:nvPicPr>
        <p:blipFill>
          <a:blip r:embed="rId3"/>
          <a:stretch>
            <a:fillRect/>
          </a:stretch>
        </p:blipFill>
        <p:spPr>
          <a:xfrm>
            <a:off x="5102352" y="1828800"/>
            <a:ext cx="219456" cy="219456"/>
          </a:xfrm>
          <a:prstGeom prst="rect">
            <a:avLst/>
          </a:prstGeom>
        </p:spPr>
      </p:pic>
      <p:sp>
        <p:nvSpPr>
          <p:cNvPr id="10" name="Text 7"/>
          <p:cNvSpPr/>
          <p:nvPr/>
        </p:nvSpPr>
        <p:spPr>
          <a:xfrm>
            <a:off x="5596128" y="1517904"/>
            <a:ext cx="2999232" cy="841248"/>
          </a:xfrm>
          <a:prstGeom prst="rect">
            <a:avLst/>
          </a:prstGeom>
          <a:noFill/>
          <a:ln/>
        </p:spPr>
        <p:txBody>
          <a:bodyPr wrap="square" lIns="381" tIns="381" rIns="381" bIns="381" rtlCol="0" anchor="ctr"/>
          <a:lstStyle/>
          <a:p>
            <a:pPr marL="0" indent="0">
              <a:spcAft>
                <a:spcPts val="300"/>
              </a:spcAft>
              <a:buNone/>
            </a:pPr>
            <a:r>
              <a:rPr lang="en-US" sz="1300" b="1" dirty="0">
                <a:solidFill>
                  <a:srgbClr val="23233F"/>
                </a:solidFill>
                <a:latin typeface="Calibri" pitchFamily="34" charset="0"/>
                <a:ea typeface="Calibri" pitchFamily="34" charset="-122"/>
                <a:cs typeface="Calibri" pitchFamily="34" charset="-120"/>
              </a:rPr>
              <a:t>Stock is protected</a:t>
            </a:r>
            <a:endParaRPr lang="en-US" sz="1300" dirty="0"/>
          </a:p>
          <a:p>
            <a:pPr marL="0" indent="0">
              <a:spcAft>
                <a:spcPts val="300"/>
              </a:spcAft>
              <a:buNone/>
            </a:pPr>
            <a:r>
              <a:rPr lang="en-US" sz="1050" dirty="0">
                <a:solidFill>
                  <a:srgbClr val="6A6A82"/>
                </a:solidFill>
                <a:latin typeface="Calibri" pitchFamily="34" charset="0"/>
                <a:ea typeface="Calibri" pitchFamily="34" charset="-122"/>
                <a:cs typeface="Calibri" pitchFamily="34" charset="-120"/>
              </a:rPr>
              <a:t>10-minute atomic inventory reservations — no overselling, ever</a:t>
            </a:r>
            <a:endParaRPr lang="en-US" sz="1300" dirty="0"/>
          </a:p>
        </p:txBody>
      </p:sp>
      <p:sp>
        <p:nvSpPr>
          <p:cNvPr id="11" name="Shape 8"/>
          <p:cNvSpPr/>
          <p:nvPr/>
        </p:nvSpPr>
        <p:spPr>
          <a:xfrm>
            <a:off x="4800600" y="2560320"/>
            <a:ext cx="3886200" cy="987552"/>
          </a:xfrm>
          <a:prstGeom prst="roundRect">
            <a:avLst>
              <a:gd name="adj" fmla="val 6481"/>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12" name="Shape 9"/>
          <p:cNvSpPr/>
          <p:nvPr/>
        </p:nvSpPr>
        <p:spPr>
          <a:xfrm>
            <a:off x="4983480" y="2825496"/>
            <a:ext cx="457200" cy="457200"/>
          </a:xfrm>
          <a:prstGeom prst="ellipse">
            <a:avLst/>
          </a:prstGeom>
          <a:solidFill>
            <a:srgbClr val="2BB673"/>
          </a:solidFill>
          <a:ln/>
        </p:spPr>
      </p:sp>
      <p:pic>
        <p:nvPicPr>
          <p:cNvPr id="13" name="Image 1" descr="preencoded.png"/>
          <p:cNvPicPr>
            <a:picLocks noChangeAspect="1"/>
          </p:cNvPicPr>
          <p:nvPr/>
        </p:nvPicPr>
        <p:blipFill>
          <a:blip r:embed="rId4"/>
          <a:stretch>
            <a:fillRect/>
          </a:stretch>
        </p:blipFill>
        <p:spPr>
          <a:xfrm>
            <a:off x="5102352" y="2944368"/>
            <a:ext cx="219456" cy="219456"/>
          </a:xfrm>
          <a:prstGeom prst="rect">
            <a:avLst/>
          </a:prstGeom>
        </p:spPr>
      </p:pic>
      <p:sp>
        <p:nvSpPr>
          <p:cNvPr id="14" name="Text 10"/>
          <p:cNvSpPr/>
          <p:nvPr/>
        </p:nvSpPr>
        <p:spPr>
          <a:xfrm>
            <a:off x="5596128" y="2633472"/>
            <a:ext cx="2999232" cy="841248"/>
          </a:xfrm>
          <a:prstGeom prst="rect">
            <a:avLst/>
          </a:prstGeom>
          <a:noFill/>
          <a:ln/>
        </p:spPr>
        <p:txBody>
          <a:bodyPr wrap="square" lIns="381" tIns="381" rIns="381" bIns="381" rtlCol="0" anchor="ctr"/>
          <a:lstStyle/>
          <a:p>
            <a:pPr marL="0" indent="0">
              <a:spcAft>
                <a:spcPts val="300"/>
              </a:spcAft>
              <a:buNone/>
            </a:pPr>
            <a:r>
              <a:rPr lang="en-US" sz="1300" b="1" dirty="0">
                <a:solidFill>
                  <a:srgbClr val="23233F"/>
                </a:solidFill>
                <a:latin typeface="Calibri" pitchFamily="34" charset="0"/>
                <a:ea typeface="Calibri" pitchFamily="34" charset="-122"/>
                <a:cs typeface="Calibri" pitchFamily="34" charset="-120"/>
              </a:rPr>
              <a:t>Live by default</a:t>
            </a:r>
            <a:endParaRPr lang="en-US" sz="1300" dirty="0"/>
          </a:p>
          <a:p>
            <a:pPr marL="0" indent="0">
              <a:spcAft>
                <a:spcPts val="300"/>
              </a:spcAft>
              <a:buNone/>
            </a:pPr>
            <a:r>
              <a:rPr lang="en-US" sz="1050" dirty="0">
                <a:solidFill>
                  <a:srgbClr val="6A6A82"/>
                </a:solidFill>
                <a:latin typeface="Calibri" pitchFamily="34" charset="0"/>
                <a:ea typeface="Calibri" pitchFamily="34" charset="-122"/>
                <a:cs typeface="Calibri" pitchFamily="34" charset="-120"/>
              </a:rPr>
              <a:t>Real-time review updates (Socket.IO) + in-store availability map</a:t>
            </a:r>
            <a:endParaRPr lang="en-US" sz="1300" dirty="0"/>
          </a:p>
        </p:txBody>
      </p:sp>
      <p:sp>
        <p:nvSpPr>
          <p:cNvPr id="15" name="Shape 11"/>
          <p:cNvSpPr/>
          <p:nvPr/>
        </p:nvSpPr>
        <p:spPr>
          <a:xfrm>
            <a:off x="4800600" y="3675888"/>
            <a:ext cx="3886200" cy="987552"/>
          </a:xfrm>
          <a:prstGeom prst="roundRect">
            <a:avLst>
              <a:gd name="adj" fmla="val 6481"/>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16" name="Shape 12"/>
          <p:cNvSpPr/>
          <p:nvPr/>
        </p:nvSpPr>
        <p:spPr>
          <a:xfrm>
            <a:off x="4983480" y="3941064"/>
            <a:ext cx="457200" cy="457200"/>
          </a:xfrm>
          <a:prstGeom prst="ellipse">
            <a:avLst/>
          </a:prstGeom>
          <a:solidFill>
            <a:srgbClr val="23233F"/>
          </a:solidFill>
          <a:ln/>
        </p:spPr>
      </p:sp>
      <p:pic>
        <p:nvPicPr>
          <p:cNvPr id="17" name="Image 2" descr="preencoded.png"/>
          <p:cNvPicPr>
            <a:picLocks noChangeAspect="1"/>
          </p:cNvPicPr>
          <p:nvPr/>
        </p:nvPicPr>
        <p:blipFill>
          <a:blip r:embed="rId5"/>
          <a:stretch>
            <a:fillRect/>
          </a:stretch>
        </p:blipFill>
        <p:spPr>
          <a:xfrm>
            <a:off x="5102352" y="4059936"/>
            <a:ext cx="219456" cy="219456"/>
          </a:xfrm>
          <a:prstGeom prst="rect">
            <a:avLst/>
          </a:prstGeom>
        </p:spPr>
      </p:pic>
      <p:sp>
        <p:nvSpPr>
          <p:cNvPr id="18" name="Text 13"/>
          <p:cNvSpPr/>
          <p:nvPr/>
        </p:nvSpPr>
        <p:spPr>
          <a:xfrm>
            <a:off x="5596128" y="3749040"/>
            <a:ext cx="2999232" cy="841248"/>
          </a:xfrm>
          <a:prstGeom prst="rect">
            <a:avLst/>
          </a:prstGeom>
          <a:noFill/>
          <a:ln/>
        </p:spPr>
        <p:txBody>
          <a:bodyPr wrap="square" lIns="381" tIns="381" rIns="381" bIns="381" rtlCol="0" anchor="ctr"/>
          <a:lstStyle/>
          <a:p>
            <a:pPr marL="0" indent="0">
              <a:spcAft>
                <a:spcPts val="300"/>
              </a:spcAft>
              <a:buNone/>
            </a:pPr>
            <a:r>
              <a:rPr lang="en-US" sz="1300" b="1" dirty="0">
                <a:solidFill>
                  <a:srgbClr val="23233F"/>
                </a:solidFill>
                <a:latin typeface="Calibri" pitchFamily="34" charset="0"/>
                <a:ea typeface="Calibri" pitchFamily="34" charset="-122"/>
                <a:cs typeface="Calibri" pitchFamily="34" charset="-120"/>
              </a:rPr>
              <a:t>A closed loop</a:t>
            </a:r>
            <a:endParaRPr lang="en-US" sz="1300" dirty="0"/>
          </a:p>
          <a:p>
            <a:pPr marL="0" indent="0">
              <a:spcAft>
                <a:spcPts val="300"/>
              </a:spcAft>
              <a:buNone/>
            </a:pPr>
            <a:r>
              <a:rPr lang="en-US" sz="1050" dirty="0">
                <a:solidFill>
                  <a:srgbClr val="6A6A82"/>
                </a:solidFill>
                <a:latin typeface="Calibri" pitchFamily="34" charset="0"/>
                <a:ea typeface="Calibri" pitchFamily="34" charset="-122"/>
                <a:cs typeface="Calibri" pitchFamily="34" charset="-120"/>
              </a:rPr>
              <a:t>Customers request books → admins approve → demand shows up in analytics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PROJECT MANAGEMENT</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How We Worked</a:t>
            </a:r>
            <a:endParaRPr lang="en-US" sz="2800" dirty="0"/>
          </a:p>
        </p:txBody>
      </p:sp>
      <p:sp>
        <p:nvSpPr>
          <p:cNvPr id="4" name="Shape 2"/>
          <p:cNvSpPr/>
          <p:nvPr/>
        </p:nvSpPr>
        <p:spPr>
          <a:xfrm>
            <a:off x="457200" y="1051560"/>
            <a:ext cx="4023360" cy="2148840"/>
          </a:xfrm>
          <a:prstGeom prst="roundRect">
            <a:avLst>
              <a:gd name="adj" fmla="val 2979"/>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5" name="Shape 3"/>
          <p:cNvSpPr/>
          <p:nvPr/>
        </p:nvSpPr>
        <p:spPr>
          <a:xfrm>
            <a:off x="685800" y="1280160"/>
            <a:ext cx="502920" cy="502920"/>
          </a:xfrm>
          <a:prstGeom prst="ellipse">
            <a:avLst/>
          </a:prstGeom>
          <a:solidFill>
            <a:srgbClr val="5C4AD6"/>
          </a:solidFill>
          <a:ln/>
        </p:spPr>
      </p:sp>
      <p:pic>
        <p:nvPicPr>
          <p:cNvPr id="6" name="Image 0" descr="preencoded.png"/>
          <p:cNvPicPr>
            <a:picLocks noChangeAspect="1"/>
          </p:cNvPicPr>
          <p:nvPr/>
        </p:nvPicPr>
        <p:blipFill>
          <a:blip r:embed="rId3"/>
          <a:stretch>
            <a:fillRect/>
          </a:stretch>
        </p:blipFill>
        <p:spPr>
          <a:xfrm>
            <a:off x="816559" y="1410919"/>
            <a:ext cx="241402" cy="241402"/>
          </a:xfrm>
          <a:prstGeom prst="rect">
            <a:avLst/>
          </a:prstGeom>
        </p:spPr>
      </p:pic>
      <p:sp>
        <p:nvSpPr>
          <p:cNvPr id="7" name="Text 4"/>
          <p:cNvSpPr/>
          <p:nvPr/>
        </p:nvSpPr>
        <p:spPr>
          <a:xfrm>
            <a:off x="1371600" y="1298448"/>
            <a:ext cx="2926080" cy="457200"/>
          </a:xfrm>
          <a:prstGeom prst="rect">
            <a:avLst/>
          </a:prstGeom>
          <a:noFill/>
          <a:ln/>
        </p:spPr>
        <p:txBody>
          <a:bodyPr wrap="square" lIns="0" tIns="0" rIns="0" bIns="0" rtlCol="0" anchor="ctr"/>
          <a:lstStyle/>
          <a:p>
            <a:pPr marL="0" indent="0">
              <a:buNone/>
            </a:pPr>
            <a:r>
              <a:rPr lang="en-US" sz="1500" b="1" dirty="0">
                <a:solidFill>
                  <a:srgbClr val="23233F"/>
                </a:solidFill>
                <a:latin typeface="Calibri" pitchFamily="34" charset="0"/>
                <a:ea typeface="Calibri" pitchFamily="34" charset="-122"/>
                <a:cs typeface="Calibri" pitchFamily="34" charset="-120"/>
              </a:rPr>
              <a:t>Feature-based ownership</a:t>
            </a:r>
            <a:endParaRPr lang="en-US" sz="1500" dirty="0"/>
          </a:p>
        </p:txBody>
      </p:sp>
      <p:sp>
        <p:nvSpPr>
          <p:cNvPr id="8" name="Text 5"/>
          <p:cNvSpPr/>
          <p:nvPr/>
        </p:nvSpPr>
        <p:spPr>
          <a:xfrm>
            <a:off x="713232" y="1920240"/>
            <a:ext cx="3611880" cy="1188720"/>
          </a:xfrm>
          <a:prstGeom prst="rect">
            <a:avLst/>
          </a:prstGeom>
          <a:noFill/>
          <a:ln/>
        </p:spPr>
        <p:txBody>
          <a:bodyPr wrap="square" rtlCol="0" anchor="ctr"/>
          <a:lstStyle/>
          <a:p>
            <a:pPr marL="342900" indent="-342900">
              <a:spcAft>
                <a:spcPts val="700"/>
              </a:spcAft>
              <a:buSzPct val="100000"/>
              <a:buChar char="•"/>
            </a:pPr>
            <a:r>
              <a:rPr lang="en-US" sz="1150" dirty="0">
                <a:solidFill>
                  <a:srgbClr val="23233F"/>
                </a:solidFill>
                <a:latin typeface="Calibri" pitchFamily="34" charset="0"/>
                <a:ea typeface="Calibri" pitchFamily="34" charset="-122"/>
                <a:cs typeface="Calibri" pitchFamily="34" charset="-120"/>
              </a:rPr>
              <a:t>4 people — each feature owned end-to-end, API to UI</a:t>
            </a:r>
            <a:endParaRPr lang="en-US" sz="1150" dirty="0"/>
          </a:p>
          <a:p>
            <a:pPr marL="342900" indent="-342900">
              <a:spcAft>
                <a:spcPts val="700"/>
              </a:spcAft>
              <a:buSzPct val="100000"/>
              <a:buChar char="•"/>
            </a:pPr>
            <a:r>
              <a:rPr lang="en-US" sz="1150" dirty="0">
                <a:solidFill>
                  <a:srgbClr val="23233F"/>
                </a:solidFill>
                <a:latin typeface="Calibri" pitchFamily="34" charset="0"/>
                <a:ea typeface="Calibri" pitchFamily="34" charset="-122"/>
                <a:cs typeface="Calibri" pitchFamily="34" charset="-120"/>
              </a:rPr>
              <a:t>Clear ownership, rare merge conflicts</a:t>
            </a:r>
            <a:endParaRPr lang="en-US" sz="1150" dirty="0"/>
          </a:p>
          <a:p>
            <a:pPr marL="342900" indent="-342900">
              <a:spcAft>
                <a:spcPts val="700"/>
              </a:spcAft>
              <a:buSzPct val="100000"/>
              <a:buChar char="•"/>
            </a:pPr>
            <a:r>
              <a:rPr lang="en-US" sz="1150" dirty="0">
                <a:solidFill>
                  <a:srgbClr val="23233F"/>
                </a:solidFill>
                <a:latin typeface="Calibri" pitchFamily="34" charset="0"/>
                <a:ea typeface="Calibri" pitchFamily="34" charset="-122"/>
                <a:cs typeface="Calibri" pitchFamily="34" charset="-120"/>
              </a:rPr>
              <a:t>Feature branches · pull requests · review before merge</a:t>
            </a:r>
            <a:endParaRPr lang="en-US" sz="1150" dirty="0"/>
          </a:p>
        </p:txBody>
      </p:sp>
      <p:sp>
        <p:nvSpPr>
          <p:cNvPr id="9" name="Shape 6"/>
          <p:cNvSpPr/>
          <p:nvPr/>
        </p:nvSpPr>
        <p:spPr>
          <a:xfrm>
            <a:off x="4663440" y="1051560"/>
            <a:ext cx="4023360" cy="2148840"/>
          </a:xfrm>
          <a:prstGeom prst="roundRect">
            <a:avLst>
              <a:gd name="adj" fmla="val 2979"/>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10" name="Shape 7"/>
          <p:cNvSpPr/>
          <p:nvPr/>
        </p:nvSpPr>
        <p:spPr>
          <a:xfrm>
            <a:off x="4892040" y="1280160"/>
            <a:ext cx="502920" cy="502920"/>
          </a:xfrm>
          <a:prstGeom prst="ellipse">
            <a:avLst/>
          </a:prstGeom>
          <a:solidFill>
            <a:srgbClr val="23233F"/>
          </a:solidFill>
          <a:ln/>
        </p:spPr>
      </p:sp>
      <p:pic>
        <p:nvPicPr>
          <p:cNvPr id="11" name="Image 1" descr="preencoded.png"/>
          <p:cNvPicPr>
            <a:picLocks noChangeAspect="1"/>
          </p:cNvPicPr>
          <p:nvPr/>
        </p:nvPicPr>
        <p:blipFill>
          <a:blip r:embed="rId4"/>
          <a:stretch>
            <a:fillRect/>
          </a:stretch>
        </p:blipFill>
        <p:spPr>
          <a:xfrm>
            <a:off x="5022799" y="1410919"/>
            <a:ext cx="241402" cy="241402"/>
          </a:xfrm>
          <a:prstGeom prst="rect">
            <a:avLst/>
          </a:prstGeom>
        </p:spPr>
      </p:pic>
      <p:sp>
        <p:nvSpPr>
          <p:cNvPr id="12" name="Text 8"/>
          <p:cNvSpPr/>
          <p:nvPr/>
        </p:nvSpPr>
        <p:spPr>
          <a:xfrm>
            <a:off x="5577840" y="1298448"/>
            <a:ext cx="3017520" cy="457200"/>
          </a:xfrm>
          <a:prstGeom prst="rect">
            <a:avLst/>
          </a:prstGeom>
          <a:noFill/>
          <a:ln/>
        </p:spPr>
        <p:txBody>
          <a:bodyPr wrap="square" lIns="0" tIns="0" rIns="0" bIns="0" rtlCol="0" anchor="ctr"/>
          <a:lstStyle/>
          <a:p>
            <a:pPr marL="0" indent="0">
              <a:buNone/>
            </a:pPr>
            <a:r>
              <a:rPr lang="en-US" sz="1500" b="1" dirty="0">
                <a:solidFill>
                  <a:srgbClr val="23233F"/>
                </a:solidFill>
                <a:latin typeface="Calibri" pitchFamily="34" charset="0"/>
                <a:ea typeface="Calibri" pitchFamily="34" charset="-122"/>
                <a:cs typeface="Calibri" pitchFamily="34" charset="-120"/>
              </a:rPr>
              <a:t>Process that mirrors the work</a:t>
            </a:r>
            <a:endParaRPr lang="en-US" sz="1500" dirty="0"/>
          </a:p>
        </p:txBody>
      </p:sp>
      <p:sp>
        <p:nvSpPr>
          <p:cNvPr id="13" name="Text 9"/>
          <p:cNvSpPr/>
          <p:nvPr/>
        </p:nvSpPr>
        <p:spPr>
          <a:xfrm>
            <a:off x="4919472" y="1920240"/>
            <a:ext cx="3611880" cy="1188720"/>
          </a:xfrm>
          <a:prstGeom prst="rect">
            <a:avLst/>
          </a:prstGeom>
          <a:noFill/>
          <a:ln/>
        </p:spPr>
        <p:txBody>
          <a:bodyPr wrap="square" rtlCol="0" anchor="ctr"/>
          <a:lstStyle/>
          <a:p>
            <a:pPr marL="0" indent="0">
              <a:spcAft>
                <a:spcPts val="800"/>
              </a:spcAft>
              <a:buNone/>
            </a:pPr>
            <a:r>
              <a:rPr lang="en-US" sz="1250" strike="sngStrike" dirty="0">
                <a:solidFill>
                  <a:srgbClr val="6A6A82"/>
                </a:solidFill>
                <a:latin typeface="Calibri" pitchFamily="34" charset="0"/>
                <a:ea typeface="Calibri" pitchFamily="34" charset="-122"/>
                <a:cs typeface="Calibri" pitchFamily="34" charset="-120"/>
              </a:rPr>
              <a:t>Started with a Trello board </a:t>
            </a:r>
            <a:r>
              <a:rPr lang="en-US" sz="1150" dirty="0">
                <a:solidFill>
                  <a:srgbClr val="6A6A82"/>
                </a:solidFill>
                <a:latin typeface="Calibri" pitchFamily="34" charset="0"/>
                <a:ea typeface="Calibri" pitchFamily="34" charset="-122"/>
                <a:cs typeface="Calibri" pitchFamily="34" charset="-120"/>
              </a:rPr>
              <a:t> → it went stale in weeks</a:t>
            </a:r>
            <a:endParaRPr lang="en-US" sz="1250" dirty="0"/>
          </a:p>
          <a:p>
            <a:pPr marL="0" indent="0">
              <a:spcAft>
                <a:spcPts val="800"/>
              </a:spcAft>
              <a:buNone/>
            </a:pPr>
            <a:r>
              <a:rPr lang="en-US" sz="1250" b="1" dirty="0">
                <a:solidFill>
                  <a:srgbClr val="23233F"/>
                </a:solidFill>
                <a:latin typeface="Calibri" pitchFamily="34" charset="0"/>
                <a:ea typeface="Calibri" pitchFamily="34" charset="-122"/>
                <a:cs typeface="Calibri" pitchFamily="34" charset="-120"/>
              </a:rPr>
              <a:t>Switched: weekly check-ins + GitHub as the board</a:t>
            </a:r>
            <a:endParaRPr lang="en-US" sz="1250" dirty="0"/>
          </a:p>
          <a:p>
            <a:pPr marL="0" indent="0">
              <a:spcAft>
                <a:spcPts val="800"/>
              </a:spcAft>
              <a:buNone/>
            </a:pPr>
            <a:r>
              <a:rPr lang="en-US" sz="1150" dirty="0">
                <a:solidFill>
                  <a:srgbClr val="23233F"/>
                </a:solidFill>
                <a:latin typeface="Calibri" pitchFamily="34" charset="0"/>
                <a:ea typeface="Calibri" pitchFamily="34" charset="-122"/>
                <a:cs typeface="Calibri" pitchFamily="34" charset="-120"/>
              </a:rPr>
              <a:t>Demo progress, re-plan, PRs as the source of truth</a:t>
            </a:r>
            <a:endParaRPr lang="en-US" sz="1250" dirty="0"/>
          </a:p>
        </p:txBody>
      </p:sp>
      <p:sp>
        <p:nvSpPr>
          <p:cNvPr id="14" name="Shape 10"/>
          <p:cNvSpPr/>
          <p:nvPr/>
        </p:nvSpPr>
        <p:spPr>
          <a:xfrm>
            <a:off x="457200" y="3474720"/>
            <a:ext cx="8229600" cy="1188720"/>
          </a:xfrm>
          <a:prstGeom prst="roundRect">
            <a:avLst>
              <a:gd name="adj" fmla="val 5385"/>
            </a:avLst>
          </a:prstGeom>
          <a:solidFill>
            <a:srgbClr val="F1EFFB"/>
          </a:solidFill>
          <a:ln w="9525">
            <a:solidFill>
              <a:srgbClr val="E4E2F0"/>
            </a:solidFill>
            <a:prstDash val="solid"/>
          </a:ln>
          <a:effectLst>
            <a:outerShdw blurRad="88900" dist="25400" dir="2700000" algn="bl" rotWithShape="0">
              <a:srgbClr val="000000">
                <a:alpha val="13000"/>
              </a:srgbClr>
            </a:outerShdw>
          </a:effectLst>
        </p:spPr>
      </p:sp>
      <p:sp>
        <p:nvSpPr>
          <p:cNvPr id="15" name="Shape 11"/>
          <p:cNvSpPr/>
          <p:nvPr/>
        </p:nvSpPr>
        <p:spPr>
          <a:xfrm>
            <a:off x="713232" y="3785616"/>
            <a:ext cx="548640" cy="548640"/>
          </a:xfrm>
          <a:prstGeom prst="ellipse">
            <a:avLst/>
          </a:prstGeom>
          <a:solidFill>
            <a:srgbClr val="5C4AD6"/>
          </a:solidFill>
          <a:ln/>
        </p:spPr>
      </p:sp>
      <p:pic>
        <p:nvPicPr>
          <p:cNvPr id="16" name="Image 2" descr="preencoded.png"/>
          <p:cNvPicPr>
            <a:picLocks noChangeAspect="1"/>
          </p:cNvPicPr>
          <p:nvPr/>
        </p:nvPicPr>
        <p:blipFill>
          <a:blip r:embed="rId5"/>
          <a:stretch>
            <a:fillRect/>
          </a:stretch>
        </p:blipFill>
        <p:spPr>
          <a:xfrm>
            <a:off x="855878" y="3928262"/>
            <a:ext cx="263347" cy="263347"/>
          </a:xfrm>
          <a:prstGeom prst="rect">
            <a:avLst/>
          </a:prstGeom>
        </p:spPr>
      </p:pic>
      <p:sp>
        <p:nvSpPr>
          <p:cNvPr id="17" name="Text 12"/>
          <p:cNvSpPr/>
          <p:nvPr/>
        </p:nvSpPr>
        <p:spPr>
          <a:xfrm>
            <a:off x="1481328" y="3611880"/>
            <a:ext cx="7040880" cy="914400"/>
          </a:xfrm>
          <a:prstGeom prst="rect">
            <a:avLst/>
          </a:prstGeom>
          <a:noFill/>
          <a:ln/>
        </p:spPr>
        <p:txBody>
          <a:bodyPr wrap="square" lIns="381" tIns="381" rIns="381" bIns="381" rtlCol="0" anchor="ctr"/>
          <a:lstStyle/>
          <a:p>
            <a:pPr marL="0" indent="0">
              <a:spcAft>
                <a:spcPts val="400"/>
              </a:spcAft>
              <a:buNone/>
            </a:pPr>
            <a:r>
              <a:rPr lang="en-US" sz="1450" b="1" dirty="0">
                <a:solidFill>
                  <a:srgbClr val="23233F"/>
                </a:solidFill>
                <a:latin typeface="Calibri" pitchFamily="34" charset="0"/>
                <a:ea typeface="Calibri" pitchFamily="34" charset="-122"/>
                <a:cs typeface="Calibri" pitchFamily="34" charset="-120"/>
              </a:rPr>
              <a:t>Consistency came from structure, not meetings</a:t>
            </a:r>
            <a:endParaRPr lang="en-US" sz="1450" dirty="0"/>
          </a:p>
          <a:p>
            <a:pPr marL="0" indent="0">
              <a:spcAft>
                <a:spcPts val="400"/>
              </a:spcAft>
              <a:buNone/>
            </a:pPr>
            <a:r>
              <a:rPr lang="en-US" sz="1150" dirty="0">
                <a:solidFill>
                  <a:srgbClr val="6A6A82"/>
                </a:solidFill>
                <a:latin typeface="Calibri" pitchFamily="34" charset="0"/>
                <a:ea typeface="Calibri" pitchFamily="34" charset="-122"/>
                <a:cs typeface="Calibri" pitchFamily="34" charset="-120"/>
              </a:rPr>
              <a:t>Every backend feature follows the same module pattern — four parallel tracks, one shape of code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THREE ITERATIONS</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Project Evolution</a:t>
            </a:r>
            <a:endParaRPr lang="en-US" sz="2800" dirty="0"/>
          </a:p>
        </p:txBody>
      </p:sp>
      <p:sp>
        <p:nvSpPr>
          <p:cNvPr id="4" name="Shape 2"/>
          <p:cNvSpPr/>
          <p:nvPr/>
        </p:nvSpPr>
        <p:spPr>
          <a:xfrm>
            <a:off x="457200" y="1051560"/>
            <a:ext cx="2651760" cy="2880360"/>
          </a:xfrm>
          <a:prstGeom prst="roundRect">
            <a:avLst>
              <a:gd name="adj" fmla="val 2414"/>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5" name="Shape 3"/>
          <p:cNvSpPr/>
          <p:nvPr/>
        </p:nvSpPr>
        <p:spPr>
          <a:xfrm>
            <a:off x="621792" y="1216152"/>
            <a:ext cx="2322576" cy="402336"/>
          </a:xfrm>
          <a:prstGeom prst="roundRect">
            <a:avLst>
              <a:gd name="adj" fmla="val 15909"/>
            </a:avLst>
          </a:prstGeom>
          <a:solidFill>
            <a:srgbClr val="8E8AB8"/>
          </a:solidFill>
          <a:ln/>
        </p:spPr>
      </p:sp>
      <p:sp>
        <p:nvSpPr>
          <p:cNvPr id="6" name="Text 4"/>
          <p:cNvSpPr/>
          <p:nvPr/>
        </p:nvSpPr>
        <p:spPr>
          <a:xfrm>
            <a:off x="621792" y="1216152"/>
            <a:ext cx="232257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MVP</a:t>
            </a:r>
            <a:endParaRPr lang="en-US" sz="1400" dirty="0"/>
          </a:p>
        </p:txBody>
      </p:sp>
      <p:sp>
        <p:nvSpPr>
          <p:cNvPr id="7" name="Text 5"/>
          <p:cNvSpPr/>
          <p:nvPr/>
        </p:nvSpPr>
        <p:spPr>
          <a:xfrm>
            <a:off x="640080" y="1783080"/>
            <a:ext cx="2331720" cy="2011680"/>
          </a:xfrm>
          <a:prstGeom prst="rect">
            <a:avLst/>
          </a:prstGeom>
          <a:noFill/>
          <a:ln/>
        </p:spPr>
        <p:txBody>
          <a:bodyPr wrap="square" rtlCol="0" anchor="t"/>
          <a:lstStyle/>
          <a:p>
            <a:pPr marL="342900" indent="-342900">
              <a:spcAft>
                <a:spcPts val="900"/>
              </a:spcAft>
              <a:buSzPct val="100000"/>
              <a:buChar char="•"/>
            </a:pPr>
            <a:r>
              <a:rPr lang="en-US" sz="1150" dirty="0">
                <a:solidFill>
                  <a:srgbClr val="23233F"/>
                </a:solidFill>
                <a:latin typeface="Calibri" pitchFamily="34" charset="0"/>
                <a:ea typeface="Calibri" pitchFamily="34" charset="-122"/>
                <a:cs typeface="Calibri" pitchFamily="34" charset="-120"/>
              </a:rPr>
              <a:t>Authentication</a:t>
            </a:r>
            <a:endParaRPr lang="en-US" sz="1150" dirty="0"/>
          </a:p>
          <a:p>
            <a:pPr marL="342900" indent="-342900">
              <a:spcAft>
                <a:spcPts val="900"/>
              </a:spcAft>
              <a:buSzPct val="100000"/>
              <a:buChar char="•"/>
            </a:pPr>
            <a:r>
              <a:rPr lang="en-US" sz="1150" dirty="0">
                <a:solidFill>
                  <a:srgbClr val="23233F"/>
                </a:solidFill>
                <a:latin typeface="Calibri" pitchFamily="34" charset="0"/>
                <a:ea typeface="Calibri" pitchFamily="34" charset="-122"/>
                <a:cs typeface="Calibri" pitchFamily="34" charset="-120"/>
              </a:rPr>
              <a:t>Books catalog</a:t>
            </a:r>
            <a:endParaRPr lang="en-US" sz="1150" dirty="0"/>
          </a:p>
          <a:p>
            <a:pPr marL="342900" indent="-342900">
              <a:spcAft>
                <a:spcPts val="900"/>
              </a:spcAft>
              <a:buSzPct val="100000"/>
              <a:buChar char="•"/>
            </a:pPr>
            <a:r>
              <a:rPr lang="en-US" sz="1150" dirty="0">
                <a:solidFill>
                  <a:srgbClr val="23233F"/>
                </a:solidFill>
                <a:latin typeface="Calibri" pitchFamily="34" charset="0"/>
                <a:ea typeface="Calibri" pitchFamily="34" charset="-122"/>
                <a:cs typeface="Calibri" pitchFamily="34" charset="-120"/>
              </a:rPr>
              <a:t>Search &amp; filter</a:t>
            </a:r>
            <a:endParaRPr lang="en-US" sz="1150" dirty="0"/>
          </a:p>
          <a:p>
            <a:pPr marL="342900" indent="-342900">
              <a:spcAft>
                <a:spcPts val="900"/>
              </a:spcAft>
              <a:buSzPct val="100000"/>
              <a:buChar char="•"/>
            </a:pPr>
            <a:r>
              <a:rPr lang="en-US" sz="1150" dirty="0">
                <a:solidFill>
                  <a:srgbClr val="23233F"/>
                </a:solidFill>
                <a:latin typeface="Calibri" pitchFamily="34" charset="0"/>
                <a:ea typeface="Calibri" pitchFamily="34" charset="-122"/>
                <a:cs typeface="Calibri" pitchFamily="34" charset="-120"/>
              </a:rPr>
              <a:t>Order history</a:t>
            </a:r>
            <a:endParaRPr lang="en-US" sz="1150" dirty="0"/>
          </a:p>
        </p:txBody>
      </p:sp>
      <p:sp>
        <p:nvSpPr>
          <p:cNvPr id="8" name="Shape 6"/>
          <p:cNvSpPr/>
          <p:nvPr/>
        </p:nvSpPr>
        <p:spPr>
          <a:xfrm>
            <a:off x="3246120" y="1051560"/>
            <a:ext cx="2651760" cy="2880360"/>
          </a:xfrm>
          <a:prstGeom prst="roundRect">
            <a:avLst>
              <a:gd name="adj" fmla="val 2414"/>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9" name="Shape 7"/>
          <p:cNvSpPr/>
          <p:nvPr/>
        </p:nvSpPr>
        <p:spPr>
          <a:xfrm>
            <a:off x="3410712" y="1216152"/>
            <a:ext cx="2322576" cy="402336"/>
          </a:xfrm>
          <a:prstGeom prst="roundRect">
            <a:avLst>
              <a:gd name="adj" fmla="val 15909"/>
            </a:avLst>
          </a:prstGeom>
          <a:solidFill>
            <a:srgbClr val="7161C9"/>
          </a:solidFill>
          <a:ln/>
        </p:spPr>
      </p:sp>
      <p:sp>
        <p:nvSpPr>
          <p:cNvPr id="10" name="Text 8"/>
          <p:cNvSpPr/>
          <p:nvPr/>
        </p:nvSpPr>
        <p:spPr>
          <a:xfrm>
            <a:off x="3410712" y="1216152"/>
            <a:ext cx="232257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Iteration 2</a:t>
            </a:r>
            <a:endParaRPr lang="en-US" sz="1400" dirty="0"/>
          </a:p>
        </p:txBody>
      </p:sp>
      <p:sp>
        <p:nvSpPr>
          <p:cNvPr id="11" name="Text 9"/>
          <p:cNvSpPr/>
          <p:nvPr/>
        </p:nvSpPr>
        <p:spPr>
          <a:xfrm>
            <a:off x="3429000" y="1783080"/>
            <a:ext cx="2331720" cy="2011680"/>
          </a:xfrm>
          <a:prstGeom prst="rect">
            <a:avLst/>
          </a:prstGeom>
          <a:noFill/>
          <a:ln/>
        </p:spPr>
        <p:txBody>
          <a:bodyPr wrap="square" lIns="91440" tIns="45720" rIns="91440" bIns="45720" rtlCol="0" anchor="t"/>
          <a:lstStyle/>
          <a:p>
            <a:pPr marL="342900" indent="-342900">
              <a:spcAft>
                <a:spcPts val="900"/>
              </a:spcAft>
              <a:buSzPct val="100000"/>
              <a:buChar char="•"/>
            </a:pPr>
            <a:r>
              <a:rPr lang="en-US" sz="1150" dirty="0">
                <a:solidFill>
                  <a:srgbClr val="23233F"/>
                </a:solidFill>
                <a:latin typeface="Calibri" pitchFamily="34" charset="0"/>
                <a:ea typeface="Calibri" pitchFamily="34" charset="-122"/>
                <a:cs typeface="Calibri" pitchFamily="34" charset="-120"/>
              </a:rPr>
              <a:t>+ Cart &amp; checkout</a:t>
            </a:r>
            <a:endParaRPr lang="en-US" sz="1150" dirty="0"/>
          </a:p>
          <a:p>
            <a:pPr marL="342900" indent="-342900">
              <a:spcAft>
                <a:spcPts val="900"/>
              </a:spcAft>
              <a:buSzPct val="100000"/>
              <a:buChar char="•"/>
            </a:pPr>
            <a:r>
              <a:rPr lang="en-US" sz="1150" dirty="0">
                <a:solidFill>
                  <a:srgbClr val="23233F"/>
                </a:solidFill>
                <a:latin typeface="Calibri" pitchFamily="34" charset="0"/>
                <a:ea typeface="Calibri" pitchFamily="34" charset="-122"/>
                <a:cs typeface="Calibri" pitchFamily="34" charset="-120"/>
              </a:rPr>
              <a:t>+ Reviews &amp; comments</a:t>
            </a:r>
            <a:endParaRPr lang="en-US" sz="1150" dirty="0"/>
          </a:p>
          <a:p>
            <a:pPr marL="342900" indent="-342900">
              <a:spcAft>
                <a:spcPts val="900"/>
              </a:spcAft>
              <a:buSzPct val="100000"/>
              <a:buChar char="•"/>
            </a:pPr>
            <a:r>
              <a:rPr lang="en-US" sz="1150" dirty="0">
                <a:solidFill>
                  <a:srgbClr val="23233F"/>
                </a:solidFill>
                <a:latin typeface="Calibri" pitchFamily="34" charset="0"/>
                <a:ea typeface="Calibri" pitchFamily="34" charset="-122"/>
                <a:cs typeface="Calibri" pitchFamily="34" charset="-120"/>
              </a:rPr>
              <a:t>+ Personalization &amp; recommendations</a:t>
            </a:r>
            <a:endParaRPr lang="en-US" sz="1150" dirty="0"/>
          </a:p>
          <a:p>
            <a:pPr marL="342900" indent="-342900">
              <a:spcAft>
                <a:spcPts val="900"/>
              </a:spcAft>
              <a:buSzPct val="100000"/>
              <a:buFont typeface="Arial"/>
              <a:buChar char="•"/>
            </a:pPr>
            <a:r>
              <a:rPr lang="en-US" sz="1150" strike="sngStrike" dirty="0">
                <a:solidFill>
                  <a:srgbClr val="6A6A82"/>
                </a:solidFill>
                <a:latin typeface="Calibri"/>
                <a:ea typeface="Calibri"/>
                <a:cs typeface="Calibri"/>
              </a:rPr>
              <a:t>Chatbot · Newsletter + Discounts + </a:t>
            </a:r>
            <a:r>
              <a:rPr lang="en-US" sz="1150" strike="sngStrike" dirty="0" err="1">
                <a:solidFill>
                  <a:srgbClr val="6A6A82"/>
                </a:solidFill>
                <a:latin typeface="Calibri"/>
                <a:ea typeface="Calibri"/>
                <a:cs typeface="Calibri"/>
              </a:rPr>
              <a:t>pinterest</a:t>
            </a:r>
            <a:r>
              <a:rPr lang="en-US" sz="1150" strike="sngStrike" dirty="0">
                <a:solidFill>
                  <a:srgbClr val="6A6A82"/>
                </a:solidFill>
                <a:latin typeface="Calibri"/>
                <a:ea typeface="Calibri"/>
                <a:cs typeface="Calibri"/>
              </a:rPr>
              <a:t> homepage lookalike</a:t>
            </a:r>
            <a:endParaRPr lang="en-US" sz="1150" strike="sngStrike">
              <a:solidFill>
                <a:srgbClr val="6A6A82"/>
              </a:solidFill>
              <a:ea typeface="Calibri"/>
              <a:cs typeface="Calibri"/>
            </a:endParaRPr>
          </a:p>
        </p:txBody>
      </p:sp>
      <p:sp>
        <p:nvSpPr>
          <p:cNvPr id="12" name="Shape 10"/>
          <p:cNvSpPr/>
          <p:nvPr/>
        </p:nvSpPr>
        <p:spPr>
          <a:xfrm>
            <a:off x="6035040" y="1051560"/>
            <a:ext cx="2651760" cy="2880360"/>
          </a:xfrm>
          <a:prstGeom prst="roundRect">
            <a:avLst>
              <a:gd name="adj" fmla="val 2414"/>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13" name="Shape 11"/>
          <p:cNvSpPr/>
          <p:nvPr/>
        </p:nvSpPr>
        <p:spPr>
          <a:xfrm>
            <a:off x="6199632" y="1216152"/>
            <a:ext cx="2322576" cy="402336"/>
          </a:xfrm>
          <a:prstGeom prst="roundRect">
            <a:avLst>
              <a:gd name="adj" fmla="val 15909"/>
            </a:avLst>
          </a:prstGeom>
          <a:solidFill>
            <a:srgbClr val="5C4AD6"/>
          </a:solidFill>
          <a:ln/>
        </p:spPr>
      </p:sp>
      <p:sp>
        <p:nvSpPr>
          <p:cNvPr id="14" name="Text 12"/>
          <p:cNvSpPr/>
          <p:nvPr/>
        </p:nvSpPr>
        <p:spPr>
          <a:xfrm>
            <a:off x="6199632" y="1216152"/>
            <a:ext cx="232257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Final</a:t>
            </a:r>
            <a:endParaRPr lang="en-US" sz="1400" dirty="0"/>
          </a:p>
        </p:txBody>
      </p:sp>
      <p:sp>
        <p:nvSpPr>
          <p:cNvPr id="15" name="Text 13"/>
          <p:cNvSpPr/>
          <p:nvPr/>
        </p:nvSpPr>
        <p:spPr>
          <a:xfrm>
            <a:off x="6217920" y="1783080"/>
            <a:ext cx="2331720" cy="2011680"/>
          </a:xfrm>
          <a:prstGeom prst="rect">
            <a:avLst/>
          </a:prstGeom>
          <a:noFill/>
          <a:ln/>
        </p:spPr>
        <p:txBody>
          <a:bodyPr wrap="square" lIns="91440" tIns="45720" rIns="91440" bIns="45720" rtlCol="0" anchor="t"/>
          <a:lstStyle/>
          <a:p>
            <a:pPr marL="342900" indent="-342900">
              <a:spcAft>
                <a:spcPts val="900"/>
              </a:spcAft>
              <a:buSzPct val="100000"/>
              <a:buChar char="•"/>
            </a:pPr>
            <a:r>
              <a:rPr lang="en-US" sz="1150" dirty="0">
                <a:solidFill>
                  <a:schemeClr val="tx1">
                    <a:lumMod val="76000"/>
                    <a:lumOff val="24000"/>
                  </a:schemeClr>
                </a:solidFill>
                <a:latin typeface="Calibri"/>
                <a:ea typeface="Calibri"/>
                <a:cs typeface="Calibri"/>
              </a:rPr>
              <a:t>+ Inventory reservations</a:t>
            </a:r>
          </a:p>
          <a:p>
            <a:pPr marL="342900" indent="-342900">
              <a:spcAft>
                <a:spcPts val="900"/>
              </a:spcAft>
              <a:buSzPct val="100000"/>
              <a:buChar char="•"/>
            </a:pPr>
            <a:r>
              <a:rPr lang="en-US" sz="1150" dirty="0">
                <a:solidFill>
                  <a:srgbClr val="353550"/>
                </a:solidFill>
                <a:latin typeface="Calibri"/>
                <a:ea typeface="Calibri"/>
                <a:cs typeface="Calibri"/>
              </a:rPr>
              <a:t>+ Book requests &amp; approvals</a:t>
            </a:r>
            <a:endParaRPr lang="en-US" sz="1150">
              <a:solidFill>
                <a:srgbClr val="353550"/>
              </a:solidFill>
              <a:latin typeface="Calibri"/>
              <a:ea typeface="Calibri"/>
              <a:cs typeface="Calibri"/>
            </a:endParaRPr>
          </a:p>
          <a:p>
            <a:pPr marL="342900" indent="-342900">
              <a:spcAft>
                <a:spcPts val="900"/>
              </a:spcAft>
              <a:buSzPct val="100000"/>
              <a:buChar char="•"/>
            </a:pPr>
            <a:r>
              <a:rPr lang="en-US" sz="1150" dirty="0">
                <a:solidFill>
                  <a:srgbClr val="23233F"/>
                </a:solidFill>
                <a:latin typeface="Calibri" pitchFamily="34" charset="0"/>
                <a:ea typeface="Calibri" pitchFamily="34" charset="-122"/>
                <a:cs typeface="Calibri" pitchFamily="34" charset="-120"/>
              </a:rPr>
              <a:t>+ Store availability map</a:t>
            </a:r>
            <a:endParaRPr lang="en-US" sz="1150" dirty="0"/>
          </a:p>
          <a:p>
            <a:pPr marL="342900" indent="-342900">
              <a:spcAft>
                <a:spcPts val="900"/>
              </a:spcAft>
              <a:buSzPct val="100000"/>
              <a:buChar char="•"/>
            </a:pPr>
            <a:r>
              <a:rPr lang="en-US" sz="1150" dirty="0">
                <a:solidFill>
                  <a:srgbClr val="23233F"/>
                </a:solidFill>
                <a:latin typeface="Calibri"/>
                <a:ea typeface="Calibri"/>
                <a:cs typeface="Calibri"/>
              </a:rPr>
              <a:t>+ Admin analytics &amp; content </a:t>
            </a:r>
            <a:r>
              <a:rPr lang="en-US" sz="1150">
                <a:solidFill>
                  <a:srgbClr val="23233F"/>
                </a:solidFill>
                <a:latin typeface="Calibri"/>
                <a:ea typeface="Calibri"/>
                <a:cs typeface="Calibri"/>
              </a:rPr>
              <a:t>management</a:t>
            </a:r>
            <a:endParaRPr lang="en-US" sz="1150" dirty="0"/>
          </a:p>
        </p:txBody>
      </p:sp>
      <p:sp>
        <p:nvSpPr>
          <p:cNvPr id="16" name="Shape 14"/>
          <p:cNvSpPr/>
          <p:nvPr/>
        </p:nvSpPr>
        <p:spPr>
          <a:xfrm>
            <a:off x="3108960" y="2468880"/>
            <a:ext cx="146304" cy="0"/>
          </a:xfrm>
          <a:prstGeom prst="line">
            <a:avLst/>
          </a:prstGeom>
          <a:noFill/>
          <a:ln w="28575">
            <a:solidFill>
              <a:srgbClr val="5C4AD6"/>
            </a:solidFill>
            <a:prstDash val="solid"/>
            <a:tailEnd type="triangle"/>
          </a:ln>
        </p:spPr>
      </p:sp>
      <p:sp>
        <p:nvSpPr>
          <p:cNvPr id="17" name="Shape 15"/>
          <p:cNvSpPr/>
          <p:nvPr/>
        </p:nvSpPr>
        <p:spPr>
          <a:xfrm>
            <a:off x="5897880" y="2468880"/>
            <a:ext cx="146304" cy="0"/>
          </a:xfrm>
          <a:prstGeom prst="line">
            <a:avLst/>
          </a:prstGeom>
          <a:noFill/>
          <a:ln w="28575">
            <a:solidFill>
              <a:srgbClr val="5C4AD6"/>
            </a:solidFill>
            <a:prstDash val="solid"/>
            <a:tailEnd type="triangle"/>
          </a:ln>
        </p:spPr>
      </p:sp>
      <p:sp>
        <p:nvSpPr>
          <p:cNvPr id="18" name="Shape 16"/>
          <p:cNvSpPr/>
          <p:nvPr/>
        </p:nvSpPr>
        <p:spPr>
          <a:xfrm>
            <a:off x="457200" y="4160520"/>
            <a:ext cx="8229600" cy="566928"/>
          </a:xfrm>
          <a:prstGeom prst="roundRect">
            <a:avLst>
              <a:gd name="adj" fmla="val 11290"/>
            </a:avLst>
          </a:prstGeom>
          <a:solidFill>
            <a:srgbClr val="EAF7F0"/>
          </a:solidFill>
          <a:ln w="9525">
            <a:solidFill>
              <a:srgbClr val="E4E2F0"/>
            </a:solidFill>
            <a:prstDash val="solid"/>
          </a:ln>
        </p:spPr>
      </p:sp>
      <p:sp>
        <p:nvSpPr>
          <p:cNvPr id="19" name="Text 17"/>
          <p:cNvSpPr/>
          <p:nvPr/>
        </p:nvSpPr>
        <p:spPr>
          <a:xfrm>
            <a:off x="685800" y="4160520"/>
            <a:ext cx="7863840" cy="566928"/>
          </a:xfrm>
          <a:prstGeom prst="rect">
            <a:avLst/>
          </a:prstGeom>
          <a:noFill/>
          <a:ln/>
        </p:spPr>
        <p:txBody>
          <a:bodyPr wrap="square" lIns="0" tIns="0" rIns="0" bIns="0" rtlCol="0" anchor="ctr"/>
          <a:lstStyle/>
          <a:p>
            <a:pPr marL="0" indent="0">
              <a:buNone/>
            </a:pPr>
            <a:r>
              <a:rPr lang="en-US" sz="1150" b="1" dirty="0">
                <a:solidFill>
                  <a:srgbClr val="23233F"/>
                </a:solidFill>
                <a:latin typeface="Calibri" pitchFamily="34" charset="0"/>
                <a:ea typeface="Calibri" pitchFamily="34" charset="-122"/>
                <a:cs typeface="Calibri" pitchFamily="34" charset="-120"/>
              </a:rPr>
              <a:t>Deliberately cut: </a:t>
            </a:r>
            <a:r>
              <a:rPr lang="en-US" sz="1150" dirty="0">
                <a:solidFill>
                  <a:srgbClr val="6A6A82"/>
                </a:solidFill>
                <a:latin typeface="Calibri" pitchFamily="34" charset="0"/>
                <a:ea typeface="Calibri" pitchFamily="34" charset="-122"/>
                <a:cs typeface="Calibri" pitchFamily="34" charset="-120"/>
              </a:rPr>
              <a:t>chatbot, newsletter, discounts → future work.  Depth over breadth — fewer features, engineered properly.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ARCHITECTURE</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Tech Stack &amp; Why</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331464"/>
        </p:xfrm>
        <a:graphic>
          <a:graphicData uri="http://schemas.openxmlformats.org/drawingml/2006/table">
            <a:tbl>
              <a:tblPr/>
              <a:tblGrid>
                <a:gridCol w="123444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2323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Choice</a:t>
                      </a:r>
                      <a:endParaRPr lang="en-US" sz="120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2323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23233F"/>
                    </a:solidFill>
                  </a:tcPr>
                </a:tc>
                <a:extLst>
                  <a:ext uri="{0D108BD9-81ED-4DB2-BD59-A6C34878D82A}">
                    <a16:rowId xmlns:a16="http://schemas.microsoft.com/office/drawing/2014/main" val="10000"/>
                  </a:ext>
                </a:extLst>
              </a:tr>
              <a:tr h="475488">
                <a:tc>
                  <a:txBody>
                    <a:bodyPr/>
                    <a:lstStyle/>
                    <a:p>
                      <a:pPr marL="0" indent="0">
                        <a:buNone/>
                      </a:pPr>
                      <a:r>
                        <a:rPr lang="en-US" sz="1150" b="1" dirty="0">
                          <a:solidFill>
                            <a:srgbClr val="5C4AD6"/>
                          </a:solidFill>
                          <a:latin typeface="Calibri" pitchFamily="34" charset="0"/>
                          <a:ea typeface="Calibri" pitchFamily="34" charset="-122"/>
                          <a:cs typeface="Calibri" pitchFamily="34" charset="-120"/>
                        </a:rPr>
                        <a:t>Frontend</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FFFFF"/>
                    </a:solidFill>
                  </a:tcPr>
                </a:tc>
                <a:tc>
                  <a:txBody>
                    <a:bodyPr/>
                    <a:lstStyle/>
                    <a:p>
                      <a:pPr marL="0" indent="0">
                        <a:buNone/>
                      </a:pPr>
                      <a:r>
                        <a:rPr lang="en-US" sz="1150" dirty="0">
                          <a:solidFill>
                            <a:srgbClr val="23233F"/>
                          </a:solidFill>
                          <a:latin typeface="Calibri" pitchFamily="34" charset="0"/>
                          <a:ea typeface="Calibri" pitchFamily="34" charset="-122"/>
                          <a:cs typeface="Calibri" pitchFamily="34" charset="-120"/>
                        </a:rPr>
                        <a:t>React 19 + TypeScript + Vite</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FFFFF"/>
                    </a:solidFill>
                  </a:tcPr>
                </a:tc>
                <a:tc>
                  <a:txBody>
                    <a:bodyPr/>
                    <a:lstStyle/>
                    <a:p>
                      <a:pPr marL="0" indent="0">
                        <a:buNone/>
                      </a:pPr>
                      <a:r>
                        <a:rPr lang="en-US" sz="1150" dirty="0">
                          <a:solidFill>
                            <a:srgbClr val="23233F"/>
                          </a:solidFill>
                          <a:latin typeface="Calibri" pitchFamily="34" charset="0"/>
                          <a:ea typeface="Calibri" pitchFamily="34" charset="-122"/>
                          <a:cs typeface="Calibri" pitchFamily="34" charset="-120"/>
                        </a:rPr>
                        <a:t>Typed component model, instant HMR, React Compiler</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150" b="1" dirty="0">
                          <a:solidFill>
                            <a:srgbClr val="5C4AD6"/>
                          </a:solidFill>
                          <a:latin typeface="Calibri" pitchFamily="34" charset="0"/>
                          <a:ea typeface="Calibri" pitchFamily="34" charset="-122"/>
                          <a:cs typeface="Calibri" pitchFamily="34" charset="-120"/>
                        </a:rPr>
                        <a:t>UI</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4F3FA"/>
                    </a:solidFill>
                  </a:tcPr>
                </a:tc>
                <a:tc>
                  <a:txBody>
                    <a:bodyPr/>
                    <a:lstStyle/>
                    <a:p>
                      <a:pPr marL="0" indent="0">
                        <a:buNone/>
                      </a:pPr>
                      <a:r>
                        <a:rPr lang="en-US" sz="1150" dirty="0">
                          <a:solidFill>
                            <a:srgbClr val="23233F"/>
                          </a:solidFill>
                          <a:latin typeface="Calibri" pitchFamily="34" charset="0"/>
                          <a:ea typeface="Calibri" pitchFamily="34" charset="-122"/>
                          <a:cs typeface="Calibri" pitchFamily="34" charset="-120"/>
                        </a:rPr>
                        <a:t>styled-components + Mantine</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4F3FA"/>
                    </a:solidFill>
                  </a:tcPr>
                </a:tc>
                <a:tc>
                  <a:txBody>
                    <a:bodyPr/>
                    <a:lstStyle/>
                    <a:p>
                      <a:pPr marL="0" indent="0">
                        <a:buNone/>
                      </a:pPr>
                      <a:r>
                        <a:rPr lang="en-US" sz="1150" dirty="0">
                          <a:solidFill>
                            <a:srgbClr val="23233F"/>
                          </a:solidFill>
                          <a:latin typeface="Calibri" pitchFamily="34" charset="0"/>
                          <a:ea typeface="Calibri" pitchFamily="34" charset="-122"/>
                          <a:cs typeface="Calibri" pitchFamily="34" charset="-120"/>
                        </a:rPr>
                        <a:t>Themed design system + accessible primitives</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4F3FA"/>
                    </a:solidFill>
                  </a:tcPr>
                </a:tc>
                <a:extLst>
                  <a:ext uri="{0D108BD9-81ED-4DB2-BD59-A6C34878D82A}">
                    <a16:rowId xmlns:a16="http://schemas.microsoft.com/office/drawing/2014/main" val="10002"/>
                  </a:ext>
                </a:extLst>
              </a:tr>
              <a:tr h="475488">
                <a:tc>
                  <a:txBody>
                    <a:bodyPr/>
                    <a:lstStyle/>
                    <a:p>
                      <a:pPr marL="0" indent="0">
                        <a:buNone/>
                      </a:pPr>
                      <a:r>
                        <a:rPr lang="en-US" sz="1150" b="1" dirty="0">
                          <a:solidFill>
                            <a:srgbClr val="5C4AD6"/>
                          </a:solidFill>
                          <a:latin typeface="Calibri" pitchFamily="34" charset="0"/>
                          <a:ea typeface="Calibri" pitchFamily="34" charset="-122"/>
                          <a:cs typeface="Calibri" pitchFamily="34" charset="-120"/>
                        </a:rPr>
                        <a:t>Backend</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FFFFF"/>
                    </a:solidFill>
                  </a:tcPr>
                </a:tc>
                <a:tc>
                  <a:txBody>
                    <a:bodyPr/>
                    <a:lstStyle/>
                    <a:p>
                      <a:pPr marL="0" indent="0">
                        <a:buNone/>
                      </a:pPr>
                      <a:r>
                        <a:rPr lang="en-US" sz="1150" dirty="0">
                          <a:solidFill>
                            <a:srgbClr val="23233F"/>
                          </a:solidFill>
                          <a:latin typeface="Calibri" pitchFamily="34" charset="0"/>
                          <a:ea typeface="Calibri" pitchFamily="34" charset="-122"/>
                          <a:cs typeface="Calibri" pitchFamily="34" charset="-120"/>
                        </a:rPr>
                        <a:t>Node.js + Express + TypeScript</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FFFFF"/>
                    </a:solidFill>
                  </a:tcPr>
                </a:tc>
                <a:tc>
                  <a:txBody>
                    <a:bodyPr/>
                    <a:lstStyle/>
                    <a:p>
                      <a:pPr marL="0" indent="0">
                        <a:buNone/>
                      </a:pPr>
                      <a:r>
                        <a:rPr lang="en-US" sz="1150" dirty="0">
                          <a:solidFill>
                            <a:srgbClr val="23233F"/>
                          </a:solidFill>
                          <a:latin typeface="Calibri" pitchFamily="34" charset="0"/>
                          <a:ea typeface="Calibri" pitchFamily="34" charset="-122"/>
                          <a:cs typeface="Calibri" pitchFamily="34" charset="-120"/>
                        </a:rPr>
                        <a:t>One language across the stack; we design the layering ourselves</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150" b="1" dirty="0">
                          <a:solidFill>
                            <a:srgbClr val="5C4AD6"/>
                          </a:solidFill>
                          <a:latin typeface="Calibri" pitchFamily="34" charset="0"/>
                          <a:ea typeface="Calibri" pitchFamily="34" charset="-122"/>
                          <a:cs typeface="Calibri" pitchFamily="34" charset="-120"/>
                        </a:rPr>
                        <a:t>Database</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4F3FA"/>
                    </a:solidFill>
                  </a:tcPr>
                </a:tc>
                <a:tc>
                  <a:txBody>
                    <a:bodyPr/>
                    <a:lstStyle/>
                    <a:p>
                      <a:pPr marL="0" indent="0">
                        <a:buNone/>
                      </a:pPr>
                      <a:r>
                        <a:rPr lang="en-US" sz="1150" dirty="0">
                          <a:solidFill>
                            <a:srgbClr val="23233F"/>
                          </a:solidFill>
                          <a:latin typeface="Calibri" pitchFamily="34" charset="0"/>
                          <a:ea typeface="Calibri" pitchFamily="34" charset="-122"/>
                          <a:cs typeface="Calibri" pitchFamily="34" charset="-120"/>
                        </a:rPr>
                        <a:t>MongoDB + Mongoose</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4F3FA"/>
                    </a:solidFill>
                  </a:tcPr>
                </a:tc>
                <a:tc>
                  <a:txBody>
                    <a:bodyPr/>
                    <a:lstStyle/>
                    <a:p>
                      <a:pPr marL="0" indent="0">
                        <a:buNone/>
                      </a:pPr>
                      <a:r>
                        <a:rPr lang="en-US" sz="1150" dirty="0">
                          <a:solidFill>
                            <a:srgbClr val="23233F"/>
                          </a:solidFill>
                          <a:latin typeface="Calibri" pitchFamily="34" charset="0"/>
                          <a:ea typeface="Calibri" pitchFamily="34" charset="-122"/>
                          <a:cs typeface="Calibri" pitchFamily="34" charset="-120"/>
                        </a:rPr>
                        <a:t>Document model fits the catalog; atomic single-doc updates power reservations</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4F3FA"/>
                    </a:solidFill>
                  </a:tcPr>
                </a:tc>
                <a:extLst>
                  <a:ext uri="{0D108BD9-81ED-4DB2-BD59-A6C34878D82A}">
                    <a16:rowId xmlns:a16="http://schemas.microsoft.com/office/drawing/2014/main" val="10004"/>
                  </a:ext>
                </a:extLst>
              </a:tr>
              <a:tr h="475488">
                <a:tc>
                  <a:txBody>
                    <a:bodyPr/>
                    <a:lstStyle/>
                    <a:p>
                      <a:pPr marL="0" indent="0">
                        <a:buNone/>
                      </a:pPr>
                      <a:r>
                        <a:rPr lang="en-US" sz="1150" b="1" dirty="0">
                          <a:solidFill>
                            <a:srgbClr val="5C4AD6"/>
                          </a:solidFill>
                          <a:latin typeface="Calibri" pitchFamily="34" charset="0"/>
                          <a:ea typeface="Calibri" pitchFamily="34" charset="-122"/>
                          <a:cs typeface="Calibri" pitchFamily="34" charset="-120"/>
                        </a:rPr>
                        <a:t>Auth</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FFFFF"/>
                    </a:solidFill>
                  </a:tcPr>
                </a:tc>
                <a:tc>
                  <a:txBody>
                    <a:bodyPr/>
                    <a:lstStyle/>
                    <a:p>
                      <a:pPr marL="0" indent="0">
                        <a:buNone/>
                      </a:pPr>
                      <a:r>
                        <a:rPr lang="en-US" sz="1150" dirty="0">
                          <a:solidFill>
                            <a:srgbClr val="23233F"/>
                          </a:solidFill>
                          <a:latin typeface="Calibri" pitchFamily="34" charset="0"/>
                          <a:ea typeface="Calibri" pitchFamily="34" charset="-122"/>
                          <a:cs typeface="Calibri" pitchFamily="34" charset="-120"/>
                        </a:rPr>
                        <a:t>Firebase Authentication</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FFFFF"/>
                    </a:solidFill>
                  </a:tcPr>
                </a:tc>
                <a:tc>
                  <a:txBody>
                    <a:bodyPr/>
                    <a:lstStyle/>
                    <a:p>
                      <a:pPr marL="0" indent="0">
                        <a:buNone/>
                      </a:pPr>
                      <a:r>
                        <a:rPr lang="en-US" sz="1150" dirty="0">
                          <a:solidFill>
                            <a:srgbClr val="23233F"/>
                          </a:solidFill>
                          <a:latin typeface="Calibri" pitchFamily="34" charset="0"/>
                          <a:ea typeface="Calibri" pitchFamily="34" charset="-122"/>
                          <a:cs typeface="Calibri" pitchFamily="34" charset="-120"/>
                        </a:rPr>
                        <a:t>Delegated identity — we never store passwords</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150" b="1" dirty="0">
                          <a:solidFill>
                            <a:srgbClr val="5C4AD6"/>
                          </a:solidFill>
                          <a:latin typeface="Calibri" pitchFamily="34" charset="0"/>
                          <a:ea typeface="Calibri" pitchFamily="34" charset="-122"/>
                          <a:cs typeface="Calibri" pitchFamily="34" charset="-120"/>
                        </a:rPr>
                        <a:t>Real-time</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4F3FA"/>
                    </a:solidFill>
                  </a:tcPr>
                </a:tc>
                <a:tc>
                  <a:txBody>
                    <a:bodyPr/>
                    <a:lstStyle/>
                    <a:p>
                      <a:pPr marL="0" indent="0">
                        <a:buNone/>
                      </a:pPr>
                      <a:r>
                        <a:rPr lang="en-US" sz="1150" dirty="0">
                          <a:solidFill>
                            <a:srgbClr val="23233F"/>
                          </a:solidFill>
                          <a:latin typeface="Calibri" pitchFamily="34" charset="0"/>
                          <a:ea typeface="Calibri" pitchFamily="34" charset="-122"/>
                          <a:cs typeface="Calibri" pitchFamily="34" charset="-120"/>
                        </a:rPr>
                        <a:t>Socket.IO</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4F3FA"/>
                    </a:solidFill>
                  </a:tcPr>
                </a:tc>
                <a:tc>
                  <a:txBody>
                    <a:bodyPr/>
                    <a:lstStyle/>
                    <a:p>
                      <a:pPr marL="0" indent="0">
                        <a:buNone/>
                      </a:pPr>
                      <a:r>
                        <a:rPr lang="en-US" sz="1150" dirty="0">
                          <a:solidFill>
                            <a:srgbClr val="23233F"/>
                          </a:solidFill>
                          <a:latin typeface="Calibri" pitchFamily="34" charset="0"/>
                          <a:ea typeface="Calibri" pitchFamily="34" charset="-122"/>
                          <a:cs typeface="Calibri" pitchFamily="34" charset="-120"/>
                        </a:rPr>
                        <a:t>Rooms + auto-reconnect over WebSockets</a:t>
                      </a:r>
                      <a:endParaRPr lang="en-US" sz="1150" dirty="0">
                        <a:latin typeface="Calibri" charset="0"/>
                        <a:ea typeface="Calibri" charset="0"/>
                        <a:cs typeface="Calibri" charset="0"/>
                      </a:endParaRPr>
                    </a:p>
                  </a:txBody>
                  <a:tcPr marL="64008" marR="64008" marT="64008" marB="64008" anchor="ctr">
                    <a:lnL w="9525" cap="flat" cmpd="sng" algn="ctr">
                      <a:solidFill>
                        <a:srgbClr val="E4E2F0"/>
                      </a:solidFill>
                      <a:prstDash val="solid"/>
                      <a:round/>
                      <a:headEnd type="none" w="med" len="med"/>
                      <a:tailEnd type="none" w="med" len="med"/>
                    </a:lnL>
                    <a:lnR w="9525" cap="flat" cmpd="sng" algn="ctr">
                      <a:solidFill>
                        <a:srgbClr val="E4E2F0"/>
                      </a:solidFill>
                      <a:prstDash val="solid"/>
                      <a:round/>
                      <a:headEnd type="none" w="med" len="med"/>
                      <a:tailEnd type="none" w="med" len="med"/>
                    </a:lnR>
                    <a:lnT w="9525" cap="flat" cmpd="sng" algn="ctr">
                      <a:solidFill>
                        <a:srgbClr val="E4E2F0"/>
                      </a:solidFill>
                      <a:prstDash val="solid"/>
                      <a:round/>
                      <a:headEnd type="none" w="med" len="med"/>
                      <a:tailEnd type="none" w="med" len="med"/>
                    </a:lnT>
                    <a:lnB w="9525" cap="flat" cmpd="sng" algn="ctr">
                      <a:solidFill>
                        <a:srgbClr val="E4E2F0"/>
                      </a:solidFill>
                      <a:prstDash val="solid"/>
                      <a:round/>
                      <a:headEnd type="none" w="med" len="med"/>
                      <a:tailEnd type="none" w="med" len="med"/>
                    </a:lnB>
                    <a:solidFill>
                      <a:srgbClr val="F4F3FA"/>
                    </a:solidFill>
                  </a:tcPr>
                </a:tc>
                <a:extLst>
                  <a:ext uri="{0D108BD9-81ED-4DB2-BD59-A6C34878D82A}">
                    <a16:rowId xmlns:a16="http://schemas.microsoft.com/office/drawing/2014/main" val="10006"/>
                  </a:ext>
                </a:extLst>
              </a:tr>
            </a:tbl>
          </a:graphicData>
        </a:graphic>
      </p:graphicFrame>
      <p:sp>
        <p:nvSpPr>
          <p:cNvPr id="5" name="Text 2"/>
          <p:cNvSpPr/>
          <p:nvPr/>
        </p:nvSpPr>
        <p:spPr>
          <a:xfrm>
            <a:off x="457200" y="4526280"/>
            <a:ext cx="8229600" cy="365760"/>
          </a:xfrm>
          <a:prstGeom prst="rect">
            <a:avLst/>
          </a:prstGeom>
          <a:noFill/>
          <a:ln/>
        </p:spPr>
        <p:txBody>
          <a:bodyPr wrap="square" lIns="0" tIns="0" rIns="0" bIns="0" rtlCol="0" anchor="ctr"/>
          <a:lstStyle/>
          <a:p>
            <a:pPr marL="0" indent="0">
              <a:buNone/>
            </a:pPr>
            <a:r>
              <a:rPr lang="en-US" sz="1200" b="1" dirty="0">
                <a:solidFill>
                  <a:srgbClr val="5C4AD6"/>
                </a:solidFill>
                <a:latin typeface="Calibri" pitchFamily="34" charset="0"/>
                <a:ea typeface="Calibri" pitchFamily="34" charset="-122"/>
                <a:cs typeface="Calibri" pitchFamily="34" charset="-120"/>
              </a:rPr>
              <a:t>Guiding principle:  </a:t>
            </a:r>
            <a:r>
              <a:rPr lang="en-US" sz="1200" i="1" dirty="0">
                <a:solidFill>
                  <a:srgbClr val="6A6A82"/>
                </a:solidFill>
                <a:latin typeface="Calibri" pitchFamily="34" charset="0"/>
                <a:ea typeface="Calibri" pitchFamily="34" charset="-122"/>
                <a:cs typeface="Calibri" pitchFamily="34" charset="-120"/>
              </a:rPr>
              <a:t>one language — TypeScript — across the whole stack, and delegate what we shouldn't build ourselves.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ARCHITECTURE</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System Architecture</a:t>
            </a:r>
            <a:endParaRPr lang="en-US" sz="2800" dirty="0"/>
          </a:p>
        </p:txBody>
      </p:sp>
      <p:sp>
        <p:nvSpPr>
          <p:cNvPr id="4" name="Shape 2"/>
          <p:cNvSpPr/>
          <p:nvPr/>
        </p:nvSpPr>
        <p:spPr>
          <a:xfrm>
            <a:off x="457200" y="1371600"/>
            <a:ext cx="1417320" cy="777240"/>
          </a:xfrm>
          <a:prstGeom prst="roundRect">
            <a:avLst>
              <a:gd name="adj" fmla="val 7059"/>
            </a:avLst>
          </a:prstGeom>
          <a:solidFill>
            <a:srgbClr val="FFFFFF"/>
          </a:solidFill>
          <a:ln w="12700">
            <a:solidFill>
              <a:srgbClr val="C9C4E8"/>
            </a:solidFill>
            <a:prstDash val="solid"/>
          </a:ln>
          <a:effectLst>
            <a:outerShdw blurRad="88900" dist="25400" dir="2700000" algn="bl" rotWithShape="0">
              <a:srgbClr val="000000">
                <a:alpha val="13000"/>
              </a:srgbClr>
            </a:outerShdw>
          </a:effectLst>
        </p:spPr>
      </p:sp>
      <p:sp>
        <p:nvSpPr>
          <p:cNvPr id="5" name="Text 3"/>
          <p:cNvSpPr/>
          <p:nvPr/>
        </p:nvSpPr>
        <p:spPr>
          <a:xfrm>
            <a:off x="457200" y="1371600"/>
            <a:ext cx="1417320" cy="777240"/>
          </a:xfrm>
          <a:prstGeom prst="rect">
            <a:avLst/>
          </a:prstGeom>
          <a:noFill/>
          <a:ln/>
        </p:spPr>
        <p:txBody>
          <a:bodyPr wrap="square" lIns="508" tIns="508" rIns="508" bIns="508" rtlCol="0" anchor="ctr"/>
          <a:lstStyle/>
          <a:p>
            <a:pPr marL="0" indent="0" algn="ctr">
              <a:buNone/>
            </a:pPr>
            <a:r>
              <a:rPr lang="en-US" sz="1250" b="1" dirty="0">
                <a:solidFill>
                  <a:srgbClr val="23233F"/>
                </a:solidFill>
                <a:latin typeface="Calibri" pitchFamily="34" charset="0"/>
                <a:ea typeface="Calibri" pitchFamily="34" charset="-122"/>
                <a:cs typeface="Calibri" pitchFamily="34" charset="-120"/>
              </a:rPr>
              <a:t>Browser</a:t>
            </a:r>
            <a:endParaRPr lang="en-US" sz="1250" dirty="0"/>
          </a:p>
        </p:txBody>
      </p:sp>
      <p:sp>
        <p:nvSpPr>
          <p:cNvPr id="6" name="Shape 4"/>
          <p:cNvSpPr/>
          <p:nvPr/>
        </p:nvSpPr>
        <p:spPr>
          <a:xfrm>
            <a:off x="2514600" y="1371600"/>
            <a:ext cx="1783080" cy="777240"/>
          </a:xfrm>
          <a:prstGeom prst="roundRect">
            <a:avLst>
              <a:gd name="adj" fmla="val 7059"/>
            </a:avLst>
          </a:prstGeom>
          <a:solidFill>
            <a:srgbClr val="F1EFFB"/>
          </a:solidFill>
          <a:ln w="12700">
            <a:solidFill>
              <a:srgbClr val="F1EFFB"/>
            </a:solidFill>
            <a:prstDash val="solid"/>
          </a:ln>
          <a:effectLst>
            <a:outerShdw blurRad="88900" dist="25400" dir="2700000" algn="bl" rotWithShape="0">
              <a:srgbClr val="000000">
                <a:alpha val="13000"/>
              </a:srgbClr>
            </a:outerShdw>
          </a:effectLst>
        </p:spPr>
      </p:sp>
      <p:sp>
        <p:nvSpPr>
          <p:cNvPr id="7" name="Text 5"/>
          <p:cNvSpPr/>
          <p:nvPr/>
        </p:nvSpPr>
        <p:spPr>
          <a:xfrm>
            <a:off x="2514600" y="1371600"/>
            <a:ext cx="1783080" cy="777240"/>
          </a:xfrm>
          <a:prstGeom prst="rect">
            <a:avLst/>
          </a:prstGeom>
          <a:noFill/>
          <a:ln/>
        </p:spPr>
        <p:txBody>
          <a:bodyPr wrap="square" lIns="508" tIns="508" rIns="508" bIns="508" rtlCol="0" anchor="ctr"/>
          <a:lstStyle/>
          <a:p>
            <a:pPr marL="0" indent="0" algn="ctr">
              <a:buNone/>
            </a:pPr>
            <a:r>
              <a:rPr lang="en-US" sz="1200" b="1" dirty="0">
                <a:solidFill>
                  <a:srgbClr val="23233F"/>
                </a:solidFill>
                <a:latin typeface="Calibri" pitchFamily="34" charset="0"/>
                <a:ea typeface="Calibri" pitchFamily="34" charset="-122"/>
                <a:cs typeface="Calibri" pitchFamily="34" charset="-120"/>
              </a:rPr>
              <a:t>React SPA</a:t>
            </a:r>
            <a:endParaRPr lang="en-US" sz="1200" dirty="0"/>
          </a:p>
          <a:p>
            <a:pPr marL="0" indent="0" algn="ctr">
              <a:buNone/>
            </a:pPr>
            <a:r>
              <a:rPr lang="en-US" sz="950" dirty="0">
                <a:solidFill>
                  <a:srgbClr val="6A6A82"/>
                </a:solidFill>
                <a:latin typeface="Calibri" pitchFamily="34" charset="0"/>
                <a:ea typeface="Calibri" pitchFamily="34" charset="-122"/>
                <a:cs typeface="Calibri" pitchFamily="34" charset="-120"/>
              </a:rPr>
              <a:t>apps/client · Vite + TS</a:t>
            </a:r>
            <a:endParaRPr lang="en-US" sz="1200" dirty="0"/>
          </a:p>
        </p:txBody>
      </p:sp>
      <p:sp>
        <p:nvSpPr>
          <p:cNvPr id="8" name="Shape 6"/>
          <p:cNvSpPr/>
          <p:nvPr/>
        </p:nvSpPr>
        <p:spPr>
          <a:xfrm>
            <a:off x="5029200" y="1371600"/>
            <a:ext cx="1828800" cy="777240"/>
          </a:xfrm>
          <a:prstGeom prst="roundRect">
            <a:avLst>
              <a:gd name="adj" fmla="val 7059"/>
            </a:avLst>
          </a:prstGeom>
          <a:solidFill>
            <a:srgbClr val="F1EFFB"/>
          </a:solidFill>
          <a:ln w="12700">
            <a:solidFill>
              <a:srgbClr val="F1EFFB"/>
            </a:solidFill>
            <a:prstDash val="solid"/>
          </a:ln>
          <a:effectLst>
            <a:outerShdw blurRad="88900" dist="25400" dir="2700000" algn="bl" rotWithShape="0">
              <a:srgbClr val="000000">
                <a:alpha val="13000"/>
              </a:srgbClr>
            </a:outerShdw>
          </a:effectLst>
        </p:spPr>
      </p:sp>
      <p:sp>
        <p:nvSpPr>
          <p:cNvPr id="9" name="Text 7"/>
          <p:cNvSpPr/>
          <p:nvPr/>
        </p:nvSpPr>
        <p:spPr>
          <a:xfrm>
            <a:off x="5029200" y="1371600"/>
            <a:ext cx="1828800" cy="777240"/>
          </a:xfrm>
          <a:prstGeom prst="rect">
            <a:avLst/>
          </a:prstGeom>
          <a:noFill/>
          <a:ln/>
        </p:spPr>
        <p:txBody>
          <a:bodyPr wrap="square" lIns="508" tIns="508" rIns="508" bIns="508" rtlCol="0" anchor="ctr"/>
          <a:lstStyle/>
          <a:p>
            <a:pPr marL="0" indent="0" algn="ctr">
              <a:buNone/>
            </a:pPr>
            <a:r>
              <a:rPr lang="en-US" sz="1200" b="1" dirty="0">
                <a:solidFill>
                  <a:srgbClr val="23233F"/>
                </a:solidFill>
                <a:latin typeface="Calibri" pitchFamily="34" charset="0"/>
                <a:ea typeface="Calibri" pitchFamily="34" charset="-122"/>
                <a:cs typeface="Calibri" pitchFamily="34" charset="-120"/>
              </a:rPr>
              <a:t>Express API</a:t>
            </a:r>
            <a:endParaRPr lang="en-US" sz="1200" dirty="0"/>
          </a:p>
          <a:p>
            <a:pPr marL="0" indent="0" algn="ctr">
              <a:buNone/>
            </a:pPr>
            <a:r>
              <a:rPr lang="en-US" sz="950" dirty="0">
                <a:solidFill>
                  <a:srgbClr val="6A6A82"/>
                </a:solidFill>
                <a:latin typeface="Calibri" pitchFamily="34" charset="0"/>
                <a:ea typeface="Calibri" pitchFamily="34" charset="-122"/>
                <a:cs typeface="Calibri" pitchFamily="34" charset="-120"/>
              </a:rPr>
              <a:t>apps/server · /api/*</a:t>
            </a:r>
            <a:endParaRPr lang="en-US" sz="1200" dirty="0"/>
          </a:p>
        </p:txBody>
      </p:sp>
      <p:sp>
        <p:nvSpPr>
          <p:cNvPr id="10" name="Shape 8"/>
          <p:cNvSpPr/>
          <p:nvPr/>
        </p:nvSpPr>
        <p:spPr>
          <a:xfrm>
            <a:off x="7543800" y="1371600"/>
            <a:ext cx="1143000" cy="777240"/>
          </a:xfrm>
          <a:prstGeom prst="roundRect">
            <a:avLst>
              <a:gd name="adj" fmla="val 7059"/>
            </a:avLst>
          </a:prstGeom>
          <a:solidFill>
            <a:srgbClr val="23233F"/>
          </a:solidFill>
          <a:ln w="12700">
            <a:solidFill>
              <a:srgbClr val="23233F"/>
            </a:solidFill>
            <a:prstDash val="solid"/>
          </a:ln>
          <a:effectLst>
            <a:outerShdw blurRad="88900" dist="25400" dir="2700000" algn="bl" rotWithShape="0">
              <a:srgbClr val="000000">
                <a:alpha val="13000"/>
              </a:srgbClr>
            </a:outerShdw>
          </a:effectLst>
        </p:spPr>
      </p:sp>
      <p:sp>
        <p:nvSpPr>
          <p:cNvPr id="11" name="Text 9"/>
          <p:cNvSpPr/>
          <p:nvPr/>
        </p:nvSpPr>
        <p:spPr>
          <a:xfrm>
            <a:off x="7543800" y="1371600"/>
            <a:ext cx="1143000" cy="777240"/>
          </a:xfrm>
          <a:prstGeom prst="rect">
            <a:avLst/>
          </a:prstGeom>
          <a:noFill/>
          <a:ln/>
        </p:spPr>
        <p:txBody>
          <a:bodyPr wrap="square" lIns="508" tIns="508" rIns="508" bIns="508"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MongoDB</a:t>
            </a:r>
            <a:endParaRPr lang="en-US" sz="1200" dirty="0"/>
          </a:p>
          <a:p>
            <a:pPr marL="0" indent="0" algn="ctr">
              <a:buNone/>
            </a:pPr>
            <a:r>
              <a:rPr lang="en-US" sz="950" dirty="0">
                <a:solidFill>
                  <a:srgbClr val="C9C4F2"/>
                </a:solidFill>
                <a:latin typeface="Calibri" pitchFamily="34" charset="0"/>
                <a:ea typeface="Calibri" pitchFamily="34" charset="-122"/>
                <a:cs typeface="Calibri" pitchFamily="34" charset="-120"/>
              </a:rPr>
              <a:t>Mongoose</a:t>
            </a:r>
            <a:endParaRPr lang="en-US" sz="1200" dirty="0"/>
          </a:p>
        </p:txBody>
      </p:sp>
      <p:sp>
        <p:nvSpPr>
          <p:cNvPr id="12" name="Shape 10"/>
          <p:cNvSpPr/>
          <p:nvPr/>
        </p:nvSpPr>
        <p:spPr>
          <a:xfrm>
            <a:off x="1901952" y="1755648"/>
            <a:ext cx="585216" cy="0"/>
          </a:xfrm>
          <a:prstGeom prst="line">
            <a:avLst/>
          </a:prstGeom>
          <a:noFill/>
          <a:ln w="25400">
            <a:solidFill>
              <a:srgbClr val="23233F"/>
            </a:solidFill>
            <a:prstDash val="solid"/>
            <a:tailEnd type="triangle"/>
          </a:ln>
        </p:spPr>
      </p:sp>
      <p:sp>
        <p:nvSpPr>
          <p:cNvPr id="13" name="Shape 11"/>
          <p:cNvSpPr/>
          <p:nvPr/>
        </p:nvSpPr>
        <p:spPr>
          <a:xfrm>
            <a:off x="4325112" y="1755648"/>
            <a:ext cx="676656" cy="0"/>
          </a:xfrm>
          <a:prstGeom prst="line">
            <a:avLst/>
          </a:prstGeom>
          <a:noFill/>
          <a:ln w="25400">
            <a:solidFill>
              <a:srgbClr val="23233F"/>
            </a:solidFill>
            <a:prstDash val="solid"/>
            <a:tailEnd type="triangle"/>
          </a:ln>
        </p:spPr>
      </p:sp>
      <p:sp>
        <p:nvSpPr>
          <p:cNvPr id="14" name="Shape 12"/>
          <p:cNvSpPr/>
          <p:nvPr/>
        </p:nvSpPr>
        <p:spPr>
          <a:xfrm>
            <a:off x="6885432" y="1755648"/>
            <a:ext cx="630936" cy="0"/>
          </a:xfrm>
          <a:prstGeom prst="line">
            <a:avLst/>
          </a:prstGeom>
          <a:noFill/>
          <a:ln w="25400">
            <a:solidFill>
              <a:srgbClr val="23233F"/>
            </a:solidFill>
            <a:prstDash val="solid"/>
            <a:tailEnd type="triangle"/>
          </a:ln>
        </p:spPr>
      </p:sp>
      <p:sp>
        <p:nvSpPr>
          <p:cNvPr id="15" name="Text 13"/>
          <p:cNvSpPr/>
          <p:nvPr/>
        </p:nvSpPr>
        <p:spPr>
          <a:xfrm>
            <a:off x="3987219" y="1525959"/>
            <a:ext cx="1600200" cy="256032"/>
          </a:xfrm>
          <a:prstGeom prst="rect">
            <a:avLst/>
          </a:prstGeom>
          <a:noFill/>
          <a:ln/>
        </p:spPr>
        <p:txBody>
          <a:bodyPr wrap="square" lIns="0" tIns="0" rIns="0" bIns="0" rtlCol="0" anchor="ctr"/>
          <a:lstStyle/>
          <a:p>
            <a:pPr marL="0" indent="0" algn="ctr">
              <a:buNone/>
            </a:pPr>
            <a:r>
              <a:rPr lang="en-US" sz="850" dirty="0">
                <a:solidFill>
                  <a:srgbClr val="6A6A82"/>
                </a:solidFill>
                <a:latin typeface="Calibri" pitchFamily="34" charset="0"/>
                <a:ea typeface="Calibri" pitchFamily="34" charset="-122"/>
                <a:cs typeface="Calibri" pitchFamily="34" charset="-120"/>
              </a:rPr>
              <a:t>Axios + Bearer ID token</a:t>
            </a:r>
            <a:endParaRPr lang="en-US" sz="850" dirty="0"/>
          </a:p>
        </p:txBody>
      </p:sp>
      <p:sp>
        <p:nvSpPr>
          <p:cNvPr id="16" name="Shape 14"/>
          <p:cNvSpPr/>
          <p:nvPr/>
        </p:nvSpPr>
        <p:spPr>
          <a:xfrm>
            <a:off x="3401568" y="2176272"/>
            <a:ext cx="0" cy="457200"/>
          </a:xfrm>
          <a:prstGeom prst="line">
            <a:avLst/>
          </a:prstGeom>
          <a:noFill/>
          <a:ln w="19050">
            <a:solidFill>
              <a:srgbClr val="2BB673"/>
            </a:solidFill>
            <a:prstDash val="dash"/>
          </a:ln>
        </p:spPr>
      </p:sp>
      <p:sp>
        <p:nvSpPr>
          <p:cNvPr id="17" name="Shape 15"/>
          <p:cNvSpPr/>
          <p:nvPr/>
        </p:nvSpPr>
        <p:spPr>
          <a:xfrm>
            <a:off x="3401568" y="2633472"/>
            <a:ext cx="2542032" cy="0"/>
          </a:xfrm>
          <a:prstGeom prst="line">
            <a:avLst/>
          </a:prstGeom>
          <a:noFill/>
          <a:ln w="19050">
            <a:solidFill>
              <a:srgbClr val="2BB673"/>
            </a:solidFill>
            <a:prstDash val="dash"/>
          </a:ln>
        </p:spPr>
      </p:sp>
      <p:sp>
        <p:nvSpPr>
          <p:cNvPr id="18" name="Shape 16"/>
          <p:cNvSpPr/>
          <p:nvPr/>
        </p:nvSpPr>
        <p:spPr>
          <a:xfrm>
            <a:off x="5943600" y="2176272"/>
            <a:ext cx="0" cy="457200"/>
          </a:xfrm>
          <a:prstGeom prst="line">
            <a:avLst/>
          </a:prstGeom>
          <a:noFill/>
          <a:ln w="19050">
            <a:solidFill>
              <a:srgbClr val="2BB673"/>
            </a:solidFill>
            <a:prstDash val="dash"/>
          </a:ln>
        </p:spPr>
      </p:sp>
      <p:sp>
        <p:nvSpPr>
          <p:cNvPr id="19" name="Text 17"/>
          <p:cNvSpPr/>
          <p:nvPr/>
        </p:nvSpPr>
        <p:spPr>
          <a:xfrm>
            <a:off x="3520440" y="2377440"/>
            <a:ext cx="2377440" cy="237744"/>
          </a:xfrm>
          <a:prstGeom prst="rect">
            <a:avLst/>
          </a:prstGeom>
          <a:noFill/>
          <a:ln/>
        </p:spPr>
        <p:txBody>
          <a:bodyPr wrap="square" lIns="0" tIns="0" rIns="0" bIns="0" rtlCol="0" anchor="ctr"/>
          <a:lstStyle/>
          <a:p>
            <a:pPr marL="0" indent="0" algn="ctr">
              <a:buNone/>
            </a:pPr>
            <a:r>
              <a:rPr lang="en-US" sz="850" dirty="0">
                <a:solidFill>
                  <a:srgbClr val="2BB673"/>
                </a:solidFill>
                <a:latin typeface="Calibri" pitchFamily="34" charset="0"/>
                <a:ea typeface="Calibri" pitchFamily="34" charset="-122"/>
                <a:cs typeface="Calibri" pitchFamily="34" charset="-120"/>
              </a:rPr>
              <a:t>Socket.IO — review:updated (rooms)</a:t>
            </a:r>
            <a:endParaRPr lang="en-US" sz="850" dirty="0"/>
          </a:p>
        </p:txBody>
      </p:sp>
      <p:sp>
        <p:nvSpPr>
          <p:cNvPr id="20" name="Shape 18"/>
          <p:cNvSpPr/>
          <p:nvPr/>
        </p:nvSpPr>
        <p:spPr>
          <a:xfrm>
            <a:off x="2148840" y="3017520"/>
            <a:ext cx="1691640" cy="685800"/>
          </a:xfrm>
          <a:prstGeom prst="roundRect">
            <a:avLst>
              <a:gd name="adj" fmla="val 8000"/>
            </a:avLst>
          </a:prstGeom>
          <a:solidFill>
            <a:srgbClr val="FFFFFF"/>
          </a:solidFill>
          <a:ln w="12700">
            <a:solidFill>
              <a:srgbClr val="C9C4E8"/>
            </a:solidFill>
            <a:prstDash val="solid"/>
          </a:ln>
          <a:effectLst>
            <a:outerShdw blurRad="88900" dist="25400" dir="2700000" algn="bl" rotWithShape="0">
              <a:srgbClr val="000000">
                <a:alpha val="13000"/>
              </a:srgbClr>
            </a:outerShdw>
          </a:effectLst>
        </p:spPr>
      </p:sp>
      <p:sp>
        <p:nvSpPr>
          <p:cNvPr id="21" name="Text 19"/>
          <p:cNvSpPr/>
          <p:nvPr/>
        </p:nvSpPr>
        <p:spPr>
          <a:xfrm>
            <a:off x="2148840" y="3017520"/>
            <a:ext cx="1691640" cy="685800"/>
          </a:xfrm>
          <a:prstGeom prst="rect">
            <a:avLst/>
          </a:prstGeom>
          <a:noFill/>
          <a:ln/>
        </p:spPr>
        <p:txBody>
          <a:bodyPr wrap="square" lIns="508" tIns="508" rIns="508" bIns="508" rtlCol="0" anchor="ctr"/>
          <a:lstStyle/>
          <a:p>
            <a:pPr marL="0" indent="0" algn="ctr">
              <a:buNone/>
            </a:pPr>
            <a:r>
              <a:rPr lang="en-US" sz="1200" b="1" dirty="0">
                <a:solidFill>
                  <a:srgbClr val="23233F"/>
                </a:solidFill>
                <a:latin typeface="Calibri" pitchFamily="34" charset="0"/>
                <a:ea typeface="Calibri" pitchFamily="34" charset="-122"/>
                <a:cs typeface="Calibri" pitchFamily="34" charset="-120"/>
              </a:rPr>
              <a:t>Firebase Auth</a:t>
            </a:r>
            <a:endParaRPr lang="en-US" sz="1200" dirty="0"/>
          </a:p>
          <a:p>
            <a:pPr marL="0" indent="0" algn="ctr">
              <a:buNone/>
            </a:pPr>
            <a:r>
              <a:rPr lang="en-US" sz="950" dirty="0">
                <a:solidFill>
                  <a:srgbClr val="6A6A82"/>
                </a:solidFill>
                <a:latin typeface="Calibri" pitchFamily="34" charset="0"/>
                <a:ea typeface="Calibri" pitchFamily="34" charset="-122"/>
                <a:cs typeface="Calibri" pitchFamily="34" charset="-120"/>
              </a:rPr>
              <a:t>sign-in · ID tokens</a:t>
            </a:r>
            <a:endParaRPr lang="en-US" sz="1200" dirty="0"/>
          </a:p>
        </p:txBody>
      </p:sp>
      <p:sp>
        <p:nvSpPr>
          <p:cNvPr id="22" name="Shape 20"/>
          <p:cNvSpPr/>
          <p:nvPr/>
        </p:nvSpPr>
        <p:spPr>
          <a:xfrm>
            <a:off x="4572000" y="3017520"/>
            <a:ext cx="1783080" cy="685800"/>
          </a:xfrm>
          <a:prstGeom prst="roundRect">
            <a:avLst>
              <a:gd name="adj" fmla="val 8000"/>
            </a:avLst>
          </a:prstGeom>
          <a:solidFill>
            <a:srgbClr val="FFFFFF"/>
          </a:solidFill>
          <a:ln w="12700">
            <a:solidFill>
              <a:srgbClr val="C9C4E8"/>
            </a:solidFill>
            <a:prstDash val="solid"/>
          </a:ln>
          <a:effectLst>
            <a:outerShdw blurRad="88900" dist="25400" dir="2700000" algn="bl" rotWithShape="0">
              <a:srgbClr val="000000">
                <a:alpha val="13000"/>
              </a:srgbClr>
            </a:outerShdw>
          </a:effectLst>
        </p:spPr>
      </p:sp>
      <p:sp>
        <p:nvSpPr>
          <p:cNvPr id="23" name="Text 21"/>
          <p:cNvSpPr/>
          <p:nvPr/>
        </p:nvSpPr>
        <p:spPr>
          <a:xfrm>
            <a:off x="4572000" y="3017520"/>
            <a:ext cx="1783080" cy="685800"/>
          </a:xfrm>
          <a:prstGeom prst="rect">
            <a:avLst/>
          </a:prstGeom>
          <a:noFill/>
          <a:ln/>
        </p:spPr>
        <p:txBody>
          <a:bodyPr wrap="square" lIns="508" tIns="508" rIns="508" bIns="508" rtlCol="0" anchor="ctr"/>
          <a:lstStyle/>
          <a:p>
            <a:pPr marL="0" indent="0" algn="ctr">
              <a:buNone/>
            </a:pPr>
            <a:r>
              <a:rPr lang="en-US" sz="1200" b="1" dirty="0">
                <a:solidFill>
                  <a:srgbClr val="23233F"/>
                </a:solidFill>
                <a:latin typeface="Calibri" pitchFamily="34" charset="0"/>
                <a:ea typeface="Calibri" pitchFamily="34" charset="-122"/>
                <a:cs typeface="Calibri" pitchFamily="34" charset="-120"/>
              </a:rPr>
              <a:t>Firebase Admin</a:t>
            </a:r>
            <a:endParaRPr lang="en-US" sz="1200" dirty="0"/>
          </a:p>
          <a:p>
            <a:pPr marL="0" indent="0" algn="ctr">
              <a:buNone/>
            </a:pPr>
            <a:r>
              <a:rPr lang="en-US" sz="950" dirty="0">
                <a:solidFill>
                  <a:srgbClr val="6A6A82"/>
                </a:solidFill>
                <a:latin typeface="Calibri" pitchFamily="34" charset="0"/>
                <a:ea typeface="Calibri" pitchFamily="34" charset="-122"/>
                <a:cs typeface="Calibri" pitchFamily="34" charset="-120"/>
              </a:rPr>
              <a:t>verifyIdToken</a:t>
            </a:r>
            <a:endParaRPr lang="en-US" sz="1200" dirty="0"/>
          </a:p>
        </p:txBody>
      </p:sp>
      <p:sp>
        <p:nvSpPr>
          <p:cNvPr id="24" name="Shape 22"/>
          <p:cNvSpPr/>
          <p:nvPr/>
        </p:nvSpPr>
        <p:spPr>
          <a:xfrm>
            <a:off x="6903720" y="3017520"/>
            <a:ext cx="1783080" cy="685800"/>
          </a:xfrm>
          <a:prstGeom prst="roundRect">
            <a:avLst>
              <a:gd name="adj" fmla="val 8000"/>
            </a:avLst>
          </a:prstGeom>
          <a:solidFill>
            <a:srgbClr val="FFFFFF"/>
          </a:solidFill>
          <a:ln w="12700">
            <a:solidFill>
              <a:srgbClr val="C9C4E8"/>
            </a:solidFill>
            <a:prstDash val="solid"/>
          </a:ln>
          <a:effectLst>
            <a:outerShdw blurRad="88900" dist="25400" dir="2700000" algn="bl" rotWithShape="0">
              <a:srgbClr val="000000">
                <a:alpha val="13000"/>
              </a:srgbClr>
            </a:outerShdw>
          </a:effectLst>
        </p:spPr>
      </p:sp>
      <p:sp>
        <p:nvSpPr>
          <p:cNvPr id="25" name="Text 23"/>
          <p:cNvSpPr/>
          <p:nvPr/>
        </p:nvSpPr>
        <p:spPr>
          <a:xfrm>
            <a:off x="6903720" y="3017520"/>
            <a:ext cx="1783080" cy="685800"/>
          </a:xfrm>
          <a:prstGeom prst="rect">
            <a:avLst/>
          </a:prstGeom>
          <a:noFill/>
          <a:ln/>
        </p:spPr>
        <p:txBody>
          <a:bodyPr wrap="square" lIns="508" tIns="508" rIns="508" bIns="508" rtlCol="0" anchor="ctr"/>
          <a:lstStyle/>
          <a:p>
            <a:pPr marL="0" indent="0" algn="ctr">
              <a:buNone/>
            </a:pPr>
            <a:r>
              <a:rPr lang="en-US" sz="1200" b="1" dirty="0">
                <a:solidFill>
                  <a:srgbClr val="23233F"/>
                </a:solidFill>
                <a:latin typeface="Calibri" pitchFamily="34" charset="0"/>
                <a:ea typeface="Calibri" pitchFamily="34" charset="-122"/>
                <a:cs typeface="Calibri" pitchFamily="34" charset="-120"/>
              </a:rPr>
              <a:t>Google Books API</a:t>
            </a:r>
            <a:endParaRPr lang="en-US" sz="1200" dirty="0"/>
          </a:p>
          <a:p>
            <a:pPr marL="0" indent="0" algn="ctr">
              <a:buNone/>
            </a:pPr>
            <a:r>
              <a:rPr lang="en-US" sz="950" dirty="0">
                <a:solidFill>
                  <a:srgbClr val="6A6A82"/>
                </a:solidFill>
                <a:latin typeface="Calibri" pitchFamily="34" charset="0"/>
                <a:ea typeface="Calibri" pitchFamily="34" charset="-122"/>
                <a:cs typeface="Calibri" pitchFamily="34" charset="-120"/>
              </a:rPr>
              <a:t>request candidates</a:t>
            </a:r>
            <a:endParaRPr lang="en-US" sz="1200" dirty="0"/>
          </a:p>
        </p:txBody>
      </p:sp>
      <p:sp>
        <p:nvSpPr>
          <p:cNvPr id="26" name="Shape 24"/>
          <p:cNvSpPr/>
          <p:nvPr/>
        </p:nvSpPr>
        <p:spPr>
          <a:xfrm>
            <a:off x="3017520" y="2176272"/>
            <a:ext cx="0" cy="813816"/>
          </a:xfrm>
          <a:prstGeom prst="line">
            <a:avLst/>
          </a:prstGeom>
          <a:noFill/>
          <a:ln w="19050">
            <a:solidFill>
              <a:srgbClr val="6A6A82"/>
            </a:solidFill>
            <a:prstDash val="solid"/>
            <a:tailEnd type="triangle"/>
          </a:ln>
        </p:spPr>
      </p:sp>
      <p:sp>
        <p:nvSpPr>
          <p:cNvPr id="27" name="Shape 25"/>
          <p:cNvSpPr/>
          <p:nvPr/>
        </p:nvSpPr>
        <p:spPr>
          <a:xfrm>
            <a:off x="6172200" y="2176272"/>
            <a:ext cx="0" cy="813816"/>
          </a:xfrm>
          <a:prstGeom prst="line">
            <a:avLst/>
          </a:prstGeom>
          <a:noFill/>
          <a:ln w="19050">
            <a:solidFill>
              <a:srgbClr val="6A6A82"/>
            </a:solidFill>
            <a:prstDash val="solid"/>
            <a:tailEnd type="triangle"/>
          </a:ln>
        </p:spPr>
      </p:sp>
      <p:sp>
        <p:nvSpPr>
          <p:cNvPr id="28" name="Shape 26"/>
          <p:cNvSpPr/>
          <p:nvPr/>
        </p:nvSpPr>
        <p:spPr>
          <a:xfrm>
            <a:off x="6720840" y="2176272"/>
            <a:ext cx="1051560" cy="813816"/>
          </a:xfrm>
          <a:prstGeom prst="line">
            <a:avLst/>
          </a:prstGeom>
          <a:noFill/>
          <a:ln w="19050">
            <a:solidFill>
              <a:srgbClr val="6A6A82"/>
            </a:solidFill>
            <a:prstDash val="solid"/>
            <a:tailEnd type="triangle"/>
          </a:ln>
        </p:spPr>
      </p:sp>
      <p:sp>
        <p:nvSpPr>
          <p:cNvPr id="29" name="Shape 27"/>
          <p:cNvSpPr/>
          <p:nvPr/>
        </p:nvSpPr>
        <p:spPr>
          <a:xfrm>
            <a:off x="457200" y="4069080"/>
            <a:ext cx="8229600" cy="685800"/>
          </a:xfrm>
          <a:prstGeom prst="roundRect">
            <a:avLst>
              <a:gd name="adj" fmla="val 9333"/>
            </a:avLst>
          </a:prstGeom>
          <a:solidFill>
            <a:srgbClr val="F1EFFB"/>
          </a:solidFill>
          <a:ln w="9525">
            <a:solidFill>
              <a:srgbClr val="E4E2F0"/>
            </a:solidFill>
            <a:prstDash val="solid"/>
          </a:ln>
          <a:effectLst>
            <a:outerShdw blurRad="88900" dist="25400" dir="2700000" algn="bl" rotWithShape="0">
              <a:srgbClr val="000000">
                <a:alpha val="13000"/>
              </a:srgbClr>
            </a:outerShdw>
          </a:effectLst>
        </p:spPr>
      </p:sp>
      <p:sp>
        <p:nvSpPr>
          <p:cNvPr id="30" name="Shape 28"/>
          <p:cNvSpPr/>
          <p:nvPr/>
        </p:nvSpPr>
        <p:spPr>
          <a:xfrm>
            <a:off x="676656" y="4187952"/>
            <a:ext cx="438912" cy="438912"/>
          </a:xfrm>
          <a:prstGeom prst="ellipse">
            <a:avLst/>
          </a:prstGeom>
          <a:solidFill>
            <a:srgbClr val="5C4AD6"/>
          </a:solidFill>
          <a:ln/>
        </p:spPr>
      </p:sp>
      <p:pic>
        <p:nvPicPr>
          <p:cNvPr id="31" name="Image 0" descr="preencoded.png"/>
          <p:cNvPicPr>
            <a:picLocks noChangeAspect="1"/>
          </p:cNvPicPr>
          <p:nvPr/>
        </p:nvPicPr>
        <p:blipFill>
          <a:blip r:embed="rId3"/>
          <a:stretch>
            <a:fillRect/>
          </a:stretch>
        </p:blipFill>
        <p:spPr>
          <a:xfrm>
            <a:off x="790773" y="4302069"/>
            <a:ext cx="210678" cy="210678"/>
          </a:xfrm>
          <a:prstGeom prst="rect">
            <a:avLst/>
          </a:prstGeom>
        </p:spPr>
      </p:pic>
      <p:sp>
        <p:nvSpPr>
          <p:cNvPr id="32" name="Text 29"/>
          <p:cNvSpPr/>
          <p:nvPr/>
        </p:nvSpPr>
        <p:spPr>
          <a:xfrm>
            <a:off x="1298448" y="4069080"/>
            <a:ext cx="7315200" cy="685800"/>
          </a:xfrm>
          <a:prstGeom prst="rect">
            <a:avLst/>
          </a:prstGeom>
          <a:noFill/>
          <a:ln/>
        </p:spPr>
        <p:txBody>
          <a:bodyPr wrap="square" lIns="0" tIns="0" rIns="0" bIns="0" rtlCol="0" anchor="ctr"/>
          <a:lstStyle/>
          <a:p>
            <a:pPr marL="0" indent="0">
              <a:buNone/>
            </a:pPr>
            <a:r>
              <a:rPr lang="en-US" sz="1200" b="1" dirty="0">
                <a:solidFill>
                  <a:srgbClr val="23233F"/>
                </a:solidFill>
                <a:latin typeface="Calibri" pitchFamily="34" charset="0"/>
                <a:ea typeface="Calibri" pitchFamily="34" charset="-122"/>
                <a:cs typeface="Calibri" pitchFamily="34" charset="-120"/>
              </a:rPr>
              <a:t>npm-workspaces monorepo:  </a:t>
            </a:r>
            <a:r>
              <a:rPr lang="en-US" sz="1200" dirty="0">
                <a:solidFill>
                  <a:srgbClr val="6A6A82"/>
                </a:solidFill>
                <a:latin typeface="Calibri" pitchFamily="34" charset="0"/>
                <a:ea typeface="Calibri" pitchFamily="34" charset="-122"/>
                <a:cs typeface="Calibri" pitchFamily="34" charset="-120"/>
              </a:rPr>
              <a:t>apps/client + apps/server + docs — one install, one npm run dev, atomic cross-stack commits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ARCHITECTURE</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Backend: The Module Pattern</a:t>
            </a:r>
            <a:endParaRPr lang="en-US" sz="2800" dirty="0"/>
          </a:p>
        </p:txBody>
      </p:sp>
      <p:sp>
        <p:nvSpPr>
          <p:cNvPr id="4" name="Shape 2"/>
          <p:cNvSpPr/>
          <p:nvPr/>
        </p:nvSpPr>
        <p:spPr>
          <a:xfrm>
            <a:off x="457200" y="1051560"/>
            <a:ext cx="3886200" cy="2926080"/>
          </a:xfrm>
          <a:prstGeom prst="roundRect">
            <a:avLst>
              <a:gd name="adj" fmla="val 2188"/>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5" name="Text 3"/>
          <p:cNvSpPr/>
          <p:nvPr/>
        </p:nvSpPr>
        <p:spPr>
          <a:xfrm>
            <a:off x="685800" y="1188720"/>
            <a:ext cx="3474720" cy="320040"/>
          </a:xfrm>
          <a:prstGeom prst="rect">
            <a:avLst/>
          </a:prstGeom>
          <a:noFill/>
          <a:ln/>
        </p:spPr>
        <p:txBody>
          <a:bodyPr wrap="square" lIns="0" tIns="0" rIns="0" bIns="0" rtlCol="0" anchor="ctr"/>
          <a:lstStyle/>
          <a:p>
            <a:pPr marL="0" indent="0">
              <a:buNone/>
            </a:pPr>
            <a:r>
              <a:rPr lang="en-US" sz="1350" b="1" dirty="0">
                <a:solidFill>
                  <a:srgbClr val="23233F"/>
                </a:solidFill>
                <a:latin typeface="Calibri" pitchFamily="34" charset="0"/>
                <a:ea typeface="Calibri" pitchFamily="34" charset="-122"/>
                <a:cs typeface="Calibri" pitchFamily="34" charset="-120"/>
              </a:rPr>
              <a:t>Every module — same 5 files</a:t>
            </a:r>
            <a:endParaRPr lang="en-US" sz="1350" dirty="0"/>
          </a:p>
        </p:txBody>
      </p:sp>
      <p:sp>
        <p:nvSpPr>
          <p:cNvPr id="6" name="Text 4"/>
          <p:cNvSpPr/>
          <p:nvPr/>
        </p:nvSpPr>
        <p:spPr>
          <a:xfrm>
            <a:off x="713232" y="1600200"/>
            <a:ext cx="3429000" cy="411480"/>
          </a:xfrm>
          <a:prstGeom prst="rect">
            <a:avLst/>
          </a:prstGeom>
          <a:noFill/>
          <a:ln/>
        </p:spPr>
        <p:txBody>
          <a:bodyPr wrap="square" lIns="254" tIns="254" rIns="254" bIns="254" rtlCol="0" anchor="ctr"/>
          <a:lstStyle/>
          <a:p>
            <a:pPr marL="0" indent="0">
              <a:buNone/>
            </a:pPr>
            <a:r>
              <a:rPr lang="en-US" sz="1100" b="1" dirty="0">
                <a:solidFill>
                  <a:srgbClr val="5C4AD6"/>
                </a:solidFill>
                <a:latin typeface="Courier New" pitchFamily="34" charset="0"/>
                <a:ea typeface="Courier New" pitchFamily="34" charset="-122"/>
                <a:cs typeface="Courier New" pitchFamily="34" charset="-120"/>
              </a:rPr>
              <a:t>*.model.ts</a:t>
            </a:r>
            <a:r>
              <a:rPr lang="en-US" sz="1050" dirty="0">
                <a:solidFill>
                  <a:srgbClr val="6A6A82"/>
                </a:solidFill>
                <a:latin typeface="Calibri" pitchFamily="34" charset="0"/>
                <a:ea typeface="Calibri" pitchFamily="34" charset="-122"/>
                <a:cs typeface="Calibri" pitchFamily="34" charset="-120"/>
              </a:rPr>
              <a:t>   Mongoose schema</a:t>
            </a:r>
            <a:endParaRPr lang="en-US" sz="1100" dirty="0"/>
          </a:p>
        </p:txBody>
      </p:sp>
      <p:sp>
        <p:nvSpPr>
          <p:cNvPr id="7" name="Shape 5"/>
          <p:cNvSpPr/>
          <p:nvPr/>
        </p:nvSpPr>
        <p:spPr>
          <a:xfrm>
            <a:off x="713232" y="2039112"/>
            <a:ext cx="3383280" cy="0"/>
          </a:xfrm>
          <a:prstGeom prst="line">
            <a:avLst/>
          </a:prstGeom>
          <a:noFill/>
          <a:ln w="6350">
            <a:solidFill>
              <a:srgbClr val="E4E2F0"/>
            </a:solidFill>
            <a:prstDash val="solid"/>
          </a:ln>
        </p:spPr>
      </p:sp>
      <p:sp>
        <p:nvSpPr>
          <p:cNvPr id="8" name="Text 6"/>
          <p:cNvSpPr/>
          <p:nvPr/>
        </p:nvSpPr>
        <p:spPr>
          <a:xfrm>
            <a:off x="713232" y="2066544"/>
            <a:ext cx="3429000" cy="411480"/>
          </a:xfrm>
          <a:prstGeom prst="rect">
            <a:avLst/>
          </a:prstGeom>
          <a:noFill/>
          <a:ln/>
        </p:spPr>
        <p:txBody>
          <a:bodyPr wrap="square" lIns="254" tIns="254" rIns="254" bIns="254" rtlCol="0" anchor="ctr"/>
          <a:lstStyle/>
          <a:p>
            <a:pPr marL="0" indent="0">
              <a:buNone/>
            </a:pPr>
            <a:r>
              <a:rPr lang="en-US" sz="1100" b="1" dirty="0">
                <a:solidFill>
                  <a:srgbClr val="5C4AD6"/>
                </a:solidFill>
                <a:latin typeface="Courier New" pitchFamily="34" charset="0"/>
                <a:ea typeface="Courier New" pitchFamily="34" charset="-122"/>
                <a:cs typeface="Courier New" pitchFamily="34" charset="-120"/>
              </a:rPr>
              <a:t>*.types.ts</a:t>
            </a:r>
            <a:r>
              <a:rPr lang="en-US" sz="1050" dirty="0">
                <a:solidFill>
                  <a:srgbClr val="6A6A82"/>
                </a:solidFill>
                <a:latin typeface="Calibri" pitchFamily="34" charset="0"/>
                <a:ea typeface="Calibri" pitchFamily="34" charset="-122"/>
                <a:cs typeface="Calibri" pitchFamily="34" charset="-120"/>
              </a:rPr>
              <a:t>   shared TypeScript types</a:t>
            </a:r>
            <a:endParaRPr lang="en-US" sz="1100" dirty="0"/>
          </a:p>
        </p:txBody>
      </p:sp>
      <p:sp>
        <p:nvSpPr>
          <p:cNvPr id="9" name="Shape 7"/>
          <p:cNvSpPr/>
          <p:nvPr/>
        </p:nvSpPr>
        <p:spPr>
          <a:xfrm>
            <a:off x="713232" y="2505456"/>
            <a:ext cx="3383280" cy="0"/>
          </a:xfrm>
          <a:prstGeom prst="line">
            <a:avLst/>
          </a:prstGeom>
          <a:noFill/>
          <a:ln w="6350">
            <a:solidFill>
              <a:srgbClr val="E4E2F0"/>
            </a:solidFill>
            <a:prstDash val="solid"/>
          </a:ln>
        </p:spPr>
      </p:sp>
      <p:sp>
        <p:nvSpPr>
          <p:cNvPr id="10" name="Text 8"/>
          <p:cNvSpPr/>
          <p:nvPr/>
        </p:nvSpPr>
        <p:spPr>
          <a:xfrm>
            <a:off x="713232" y="2532888"/>
            <a:ext cx="3429000" cy="411480"/>
          </a:xfrm>
          <a:prstGeom prst="rect">
            <a:avLst/>
          </a:prstGeom>
          <a:noFill/>
          <a:ln/>
        </p:spPr>
        <p:txBody>
          <a:bodyPr wrap="square" lIns="254" tIns="254" rIns="254" bIns="254" rtlCol="0" anchor="ctr"/>
          <a:lstStyle/>
          <a:p>
            <a:pPr marL="0" indent="0">
              <a:buNone/>
            </a:pPr>
            <a:r>
              <a:rPr lang="en-US" sz="1100" b="1" dirty="0">
                <a:solidFill>
                  <a:srgbClr val="5C4AD6"/>
                </a:solidFill>
                <a:latin typeface="Courier New" pitchFamily="34" charset="0"/>
                <a:ea typeface="Courier New" pitchFamily="34" charset="-122"/>
                <a:cs typeface="Courier New" pitchFamily="34" charset="-120"/>
              </a:rPr>
              <a:t>*.routes.ts</a:t>
            </a:r>
            <a:r>
              <a:rPr lang="en-US" sz="1050" dirty="0">
                <a:solidFill>
                  <a:srgbClr val="6A6A82"/>
                </a:solidFill>
                <a:latin typeface="Calibri" pitchFamily="34" charset="0"/>
                <a:ea typeface="Calibri" pitchFamily="34" charset="-122"/>
                <a:cs typeface="Calibri" pitchFamily="34" charset="-120"/>
              </a:rPr>
              <a:t>   path → middleware → controller</a:t>
            </a:r>
            <a:endParaRPr lang="en-US" sz="1100" dirty="0"/>
          </a:p>
        </p:txBody>
      </p:sp>
      <p:sp>
        <p:nvSpPr>
          <p:cNvPr id="11" name="Shape 9"/>
          <p:cNvSpPr/>
          <p:nvPr/>
        </p:nvSpPr>
        <p:spPr>
          <a:xfrm>
            <a:off x="713232" y="2971800"/>
            <a:ext cx="3383280" cy="0"/>
          </a:xfrm>
          <a:prstGeom prst="line">
            <a:avLst/>
          </a:prstGeom>
          <a:noFill/>
          <a:ln w="6350">
            <a:solidFill>
              <a:srgbClr val="E4E2F0"/>
            </a:solidFill>
            <a:prstDash val="solid"/>
          </a:ln>
        </p:spPr>
      </p:sp>
      <p:sp>
        <p:nvSpPr>
          <p:cNvPr id="12" name="Text 10"/>
          <p:cNvSpPr/>
          <p:nvPr/>
        </p:nvSpPr>
        <p:spPr>
          <a:xfrm>
            <a:off x="713232" y="2999232"/>
            <a:ext cx="3429000" cy="411480"/>
          </a:xfrm>
          <a:prstGeom prst="rect">
            <a:avLst/>
          </a:prstGeom>
          <a:noFill/>
          <a:ln/>
        </p:spPr>
        <p:txBody>
          <a:bodyPr wrap="square" lIns="254" tIns="254" rIns="254" bIns="254" rtlCol="0" anchor="ctr"/>
          <a:lstStyle/>
          <a:p>
            <a:pPr marL="0" indent="0">
              <a:buNone/>
            </a:pPr>
            <a:r>
              <a:rPr lang="en-US" sz="1100" b="1" dirty="0">
                <a:solidFill>
                  <a:srgbClr val="5C4AD6"/>
                </a:solidFill>
                <a:latin typeface="Courier New" pitchFamily="34" charset="0"/>
                <a:ea typeface="Courier New" pitchFamily="34" charset="-122"/>
                <a:cs typeface="Courier New" pitchFamily="34" charset="-120"/>
              </a:rPr>
              <a:t>*.controller.ts</a:t>
            </a:r>
            <a:r>
              <a:rPr lang="en-US" sz="1050" dirty="0">
                <a:solidFill>
                  <a:srgbClr val="6A6A82"/>
                </a:solidFill>
                <a:latin typeface="Calibri" pitchFamily="34" charset="0"/>
                <a:ea typeface="Calibri" pitchFamily="34" charset="-122"/>
                <a:cs typeface="Calibri" pitchFamily="34" charset="-120"/>
              </a:rPr>
              <a:t>   thin — parse, call service, respond</a:t>
            </a:r>
            <a:endParaRPr lang="en-US" sz="1100" dirty="0"/>
          </a:p>
        </p:txBody>
      </p:sp>
      <p:sp>
        <p:nvSpPr>
          <p:cNvPr id="13" name="Shape 11"/>
          <p:cNvSpPr/>
          <p:nvPr/>
        </p:nvSpPr>
        <p:spPr>
          <a:xfrm>
            <a:off x="713232" y="3438144"/>
            <a:ext cx="3383280" cy="0"/>
          </a:xfrm>
          <a:prstGeom prst="line">
            <a:avLst/>
          </a:prstGeom>
          <a:noFill/>
          <a:ln w="6350">
            <a:solidFill>
              <a:srgbClr val="E4E2F0"/>
            </a:solidFill>
            <a:prstDash val="solid"/>
          </a:ln>
        </p:spPr>
      </p:sp>
      <p:sp>
        <p:nvSpPr>
          <p:cNvPr id="14" name="Text 12"/>
          <p:cNvSpPr/>
          <p:nvPr/>
        </p:nvSpPr>
        <p:spPr>
          <a:xfrm>
            <a:off x="713232" y="3465576"/>
            <a:ext cx="3429000" cy="411480"/>
          </a:xfrm>
          <a:prstGeom prst="rect">
            <a:avLst/>
          </a:prstGeom>
          <a:noFill/>
          <a:ln/>
        </p:spPr>
        <p:txBody>
          <a:bodyPr wrap="square" lIns="254" tIns="254" rIns="254" bIns="254" rtlCol="0" anchor="ctr"/>
          <a:lstStyle/>
          <a:p>
            <a:pPr marL="0" indent="0">
              <a:buNone/>
            </a:pPr>
            <a:r>
              <a:rPr lang="en-US" sz="1100" b="1" dirty="0">
                <a:solidFill>
                  <a:srgbClr val="5C4AD6"/>
                </a:solidFill>
                <a:latin typeface="Courier New" pitchFamily="34" charset="0"/>
                <a:ea typeface="Courier New" pitchFamily="34" charset="-122"/>
                <a:cs typeface="Courier New" pitchFamily="34" charset="-120"/>
              </a:rPr>
              <a:t>*.service.ts</a:t>
            </a:r>
            <a:r>
              <a:rPr lang="en-US" sz="1050" b="1" dirty="0">
                <a:solidFill>
                  <a:srgbClr val="23233F"/>
                </a:solidFill>
                <a:latin typeface="Calibri" pitchFamily="34" charset="0"/>
                <a:ea typeface="Calibri" pitchFamily="34" charset="-122"/>
                <a:cs typeface="Calibri" pitchFamily="34" charset="-120"/>
              </a:rPr>
              <a:t>   ALL business logic &amp; data access</a:t>
            </a:r>
            <a:endParaRPr lang="en-US" sz="1100" dirty="0"/>
          </a:p>
        </p:txBody>
      </p:sp>
      <p:sp>
        <p:nvSpPr>
          <p:cNvPr id="15" name="Text 13"/>
          <p:cNvSpPr/>
          <p:nvPr/>
        </p:nvSpPr>
        <p:spPr>
          <a:xfrm>
            <a:off x="4709160" y="1024128"/>
            <a:ext cx="3931920" cy="274320"/>
          </a:xfrm>
          <a:prstGeom prst="rect">
            <a:avLst/>
          </a:prstGeom>
          <a:noFill/>
          <a:ln/>
        </p:spPr>
        <p:txBody>
          <a:bodyPr wrap="square" lIns="0" tIns="0" rIns="0" bIns="0" rtlCol="0" anchor="ctr"/>
          <a:lstStyle/>
          <a:p>
            <a:pPr marL="0" indent="0">
              <a:buNone/>
            </a:pPr>
            <a:r>
              <a:rPr lang="en-US" sz="1350" b="1" dirty="0">
                <a:solidFill>
                  <a:srgbClr val="23233F"/>
                </a:solidFill>
                <a:latin typeface="Calibri" pitchFamily="34" charset="0"/>
                <a:ea typeface="Calibri" pitchFamily="34" charset="-122"/>
                <a:cs typeface="Calibri" pitchFamily="34" charset="-120"/>
              </a:rPr>
              <a:t>A request's path</a:t>
            </a:r>
            <a:endParaRPr lang="en-US" sz="1350" dirty="0"/>
          </a:p>
        </p:txBody>
      </p:sp>
      <p:sp>
        <p:nvSpPr>
          <p:cNvPr id="16" name="Shape 14"/>
          <p:cNvSpPr/>
          <p:nvPr/>
        </p:nvSpPr>
        <p:spPr>
          <a:xfrm>
            <a:off x="4709160" y="1371600"/>
            <a:ext cx="3931920" cy="438912"/>
          </a:xfrm>
          <a:prstGeom prst="roundRect">
            <a:avLst>
              <a:gd name="adj" fmla="val 12500"/>
            </a:avLst>
          </a:prstGeom>
          <a:solidFill>
            <a:srgbClr val="FFFFFF"/>
          </a:solidFill>
          <a:ln w="12700">
            <a:solidFill>
              <a:srgbClr val="C9C4E8"/>
            </a:solidFill>
            <a:prstDash val="solid"/>
          </a:ln>
          <a:effectLst>
            <a:outerShdw blurRad="88900" dist="25400" dir="2700000" algn="bl" rotWithShape="0">
              <a:srgbClr val="000000">
                <a:alpha val="13000"/>
              </a:srgbClr>
            </a:outerShdw>
          </a:effectLst>
        </p:spPr>
      </p:sp>
      <p:sp>
        <p:nvSpPr>
          <p:cNvPr id="17" name="Text 15"/>
          <p:cNvSpPr/>
          <p:nvPr/>
        </p:nvSpPr>
        <p:spPr>
          <a:xfrm>
            <a:off x="4709160" y="1371600"/>
            <a:ext cx="3931920" cy="438912"/>
          </a:xfrm>
          <a:prstGeom prst="rect">
            <a:avLst/>
          </a:prstGeom>
          <a:noFill/>
          <a:ln/>
        </p:spPr>
        <p:txBody>
          <a:bodyPr wrap="square" lIns="508" tIns="508" rIns="508" bIns="508" rtlCol="0" anchor="ctr"/>
          <a:lstStyle/>
          <a:p>
            <a:pPr marL="0" indent="0" algn="ctr">
              <a:buNone/>
            </a:pPr>
            <a:r>
              <a:rPr lang="en-US" sz="1250" b="1" dirty="0">
                <a:solidFill>
                  <a:srgbClr val="23233F"/>
                </a:solidFill>
                <a:latin typeface="Calibri"/>
                <a:ea typeface="Calibri"/>
                <a:cs typeface="Calibri"/>
              </a:rPr>
              <a:t>Global middleware  —  CORS(CLIENT_URL) · </a:t>
            </a:r>
            <a:r>
              <a:rPr lang="en-US" sz="1250" b="1" dirty="0" err="1">
                <a:solidFill>
                  <a:srgbClr val="23233F"/>
                </a:solidFill>
                <a:latin typeface="Calibri"/>
                <a:ea typeface="Calibri"/>
                <a:cs typeface="Calibri"/>
              </a:rPr>
              <a:t>Express.json</a:t>
            </a:r>
            <a:r>
              <a:rPr lang="en-US" sz="1250" b="1" dirty="0">
                <a:solidFill>
                  <a:srgbClr val="23233F"/>
                </a:solidFill>
                <a:latin typeface="Calibri"/>
                <a:ea typeface="Calibri"/>
                <a:cs typeface="Calibri"/>
              </a:rPr>
              <a:t> · morgan</a:t>
            </a:r>
            <a:endParaRPr lang="en-US" sz="1250" dirty="0">
              <a:latin typeface="Calibri"/>
              <a:ea typeface="Calibri"/>
              <a:cs typeface="Calibri"/>
            </a:endParaRPr>
          </a:p>
        </p:txBody>
      </p:sp>
      <p:sp>
        <p:nvSpPr>
          <p:cNvPr id="18" name="Shape 16"/>
          <p:cNvSpPr/>
          <p:nvPr/>
        </p:nvSpPr>
        <p:spPr>
          <a:xfrm>
            <a:off x="6675120" y="1810512"/>
            <a:ext cx="0" cy="109728"/>
          </a:xfrm>
          <a:prstGeom prst="line">
            <a:avLst/>
          </a:prstGeom>
          <a:noFill/>
          <a:ln w="15875">
            <a:solidFill>
              <a:srgbClr val="6A6A82"/>
            </a:solidFill>
            <a:prstDash val="solid"/>
            <a:tailEnd type="triangle"/>
          </a:ln>
        </p:spPr>
      </p:sp>
      <p:sp>
        <p:nvSpPr>
          <p:cNvPr id="19" name="Shape 17"/>
          <p:cNvSpPr/>
          <p:nvPr/>
        </p:nvSpPr>
        <p:spPr>
          <a:xfrm>
            <a:off x="4709160" y="1911096"/>
            <a:ext cx="3931920" cy="438912"/>
          </a:xfrm>
          <a:prstGeom prst="roundRect">
            <a:avLst>
              <a:gd name="adj" fmla="val 12500"/>
            </a:avLst>
          </a:prstGeom>
          <a:solidFill>
            <a:srgbClr val="FFFFFF"/>
          </a:solidFill>
          <a:ln w="12700">
            <a:solidFill>
              <a:srgbClr val="C9C4E8"/>
            </a:solidFill>
            <a:prstDash val="solid"/>
          </a:ln>
          <a:effectLst>
            <a:outerShdw blurRad="88900" dist="25400" dir="2700000" algn="bl" rotWithShape="0">
              <a:srgbClr val="000000">
                <a:alpha val="13000"/>
              </a:srgbClr>
            </a:outerShdw>
          </a:effectLst>
        </p:spPr>
      </p:sp>
      <p:sp>
        <p:nvSpPr>
          <p:cNvPr id="20" name="Text 18"/>
          <p:cNvSpPr/>
          <p:nvPr/>
        </p:nvSpPr>
        <p:spPr>
          <a:xfrm>
            <a:off x="4709160" y="1911096"/>
            <a:ext cx="3931920" cy="438912"/>
          </a:xfrm>
          <a:prstGeom prst="rect">
            <a:avLst/>
          </a:prstGeom>
          <a:noFill/>
          <a:ln/>
        </p:spPr>
        <p:txBody>
          <a:bodyPr wrap="square" lIns="508" tIns="508" rIns="508" bIns="508" rtlCol="0" anchor="ctr"/>
          <a:lstStyle/>
          <a:p>
            <a:pPr marL="0" indent="0" algn="ctr">
              <a:buNone/>
            </a:pPr>
            <a:r>
              <a:rPr lang="en-US" sz="1250" b="1" dirty="0">
                <a:solidFill>
                  <a:srgbClr val="23233F"/>
                </a:solidFill>
                <a:latin typeface="Calibri" pitchFamily="34" charset="0"/>
                <a:ea typeface="Calibri" pitchFamily="34" charset="-122"/>
                <a:cs typeface="Calibri" pitchFamily="34" charset="-120"/>
              </a:rPr>
              <a:t>Auth middleware  —  none | optional | user | admin</a:t>
            </a:r>
            <a:endParaRPr lang="en-US" sz="1250" dirty="0"/>
          </a:p>
        </p:txBody>
      </p:sp>
      <p:sp>
        <p:nvSpPr>
          <p:cNvPr id="21" name="Shape 19"/>
          <p:cNvSpPr/>
          <p:nvPr/>
        </p:nvSpPr>
        <p:spPr>
          <a:xfrm>
            <a:off x="6675120" y="2350008"/>
            <a:ext cx="0" cy="109728"/>
          </a:xfrm>
          <a:prstGeom prst="line">
            <a:avLst/>
          </a:prstGeom>
          <a:noFill/>
          <a:ln w="15875">
            <a:solidFill>
              <a:srgbClr val="6A6A82"/>
            </a:solidFill>
            <a:prstDash val="solid"/>
            <a:tailEnd type="triangle"/>
          </a:ln>
        </p:spPr>
      </p:sp>
      <p:sp>
        <p:nvSpPr>
          <p:cNvPr id="22" name="Shape 20"/>
          <p:cNvSpPr/>
          <p:nvPr/>
        </p:nvSpPr>
        <p:spPr>
          <a:xfrm>
            <a:off x="4709160" y="2450592"/>
            <a:ext cx="3931920" cy="438912"/>
          </a:xfrm>
          <a:prstGeom prst="roundRect">
            <a:avLst>
              <a:gd name="adj" fmla="val 12500"/>
            </a:avLst>
          </a:prstGeom>
          <a:solidFill>
            <a:srgbClr val="F1EFFB"/>
          </a:solidFill>
          <a:ln w="12700">
            <a:solidFill>
              <a:srgbClr val="F1EFFB"/>
            </a:solidFill>
            <a:prstDash val="solid"/>
          </a:ln>
          <a:effectLst>
            <a:outerShdw blurRad="88900" dist="25400" dir="2700000" algn="bl" rotWithShape="0">
              <a:srgbClr val="000000">
                <a:alpha val="13000"/>
              </a:srgbClr>
            </a:outerShdw>
          </a:effectLst>
        </p:spPr>
      </p:sp>
      <p:sp>
        <p:nvSpPr>
          <p:cNvPr id="23" name="Text 21"/>
          <p:cNvSpPr/>
          <p:nvPr/>
        </p:nvSpPr>
        <p:spPr>
          <a:xfrm>
            <a:off x="4709160" y="2450592"/>
            <a:ext cx="3931920" cy="438912"/>
          </a:xfrm>
          <a:prstGeom prst="rect">
            <a:avLst/>
          </a:prstGeom>
          <a:noFill/>
          <a:ln/>
        </p:spPr>
        <p:txBody>
          <a:bodyPr wrap="square" lIns="508" tIns="508" rIns="508" bIns="508" rtlCol="0" anchor="ctr"/>
          <a:lstStyle/>
          <a:p>
            <a:pPr marL="0" indent="0" algn="ctr">
              <a:buNone/>
            </a:pPr>
            <a:r>
              <a:rPr lang="en-US" sz="1250" b="1" dirty="0">
                <a:solidFill>
                  <a:srgbClr val="23233F"/>
                </a:solidFill>
                <a:latin typeface="Calibri" pitchFamily="34" charset="0"/>
                <a:ea typeface="Calibri" pitchFamily="34" charset="-122"/>
                <a:cs typeface="Calibri" pitchFamily="34" charset="-120"/>
              </a:rPr>
              <a:t>Controller  —  wrapped in asyncHandler</a:t>
            </a:r>
            <a:endParaRPr lang="en-US" sz="1250" dirty="0"/>
          </a:p>
        </p:txBody>
      </p:sp>
      <p:sp>
        <p:nvSpPr>
          <p:cNvPr id="24" name="Shape 22"/>
          <p:cNvSpPr/>
          <p:nvPr/>
        </p:nvSpPr>
        <p:spPr>
          <a:xfrm>
            <a:off x="6675120" y="2889504"/>
            <a:ext cx="0" cy="109728"/>
          </a:xfrm>
          <a:prstGeom prst="line">
            <a:avLst/>
          </a:prstGeom>
          <a:noFill/>
          <a:ln w="15875">
            <a:solidFill>
              <a:srgbClr val="6A6A82"/>
            </a:solidFill>
            <a:prstDash val="solid"/>
            <a:tailEnd type="triangle"/>
          </a:ln>
        </p:spPr>
      </p:sp>
      <p:sp>
        <p:nvSpPr>
          <p:cNvPr id="25" name="Shape 23"/>
          <p:cNvSpPr/>
          <p:nvPr/>
        </p:nvSpPr>
        <p:spPr>
          <a:xfrm>
            <a:off x="4709160" y="2990088"/>
            <a:ext cx="3931920" cy="438912"/>
          </a:xfrm>
          <a:prstGeom prst="roundRect">
            <a:avLst>
              <a:gd name="adj" fmla="val 12500"/>
            </a:avLst>
          </a:prstGeom>
          <a:solidFill>
            <a:srgbClr val="F1EFFB"/>
          </a:solidFill>
          <a:ln w="12700">
            <a:solidFill>
              <a:srgbClr val="F1EFFB"/>
            </a:solidFill>
            <a:prstDash val="solid"/>
          </a:ln>
          <a:effectLst>
            <a:outerShdw blurRad="88900" dist="25400" dir="2700000" algn="bl" rotWithShape="0">
              <a:srgbClr val="000000">
                <a:alpha val="13000"/>
              </a:srgbClr>
            </a:outerShdw>
          </a:effectLst>
        </p:spPr>
      </p:sp>
      <p:sp>
        <p:nvSpPr>
          <p:cNvPr id="26" name="Text 24"/>
          <p:cNvSpPr/>
          <p:nvPr/>
        </p:nvSpPr>
        <p:spPr>
          <a:xfrm>
            <a:off x="4709160" y="2990088"/>
            <a:ext cx="3931920" cy="438912"/>
          </a:xfrm>
          <a:prstGeom prst="rect">
            <a:avLst/>
          </a:prstGeom>
          <a:noFill/>
          <a:ln/>
        </p:spPr>
        <p:txBody>
          <a:bodyPr wrap="square" lIns="508" tIns="508" rIns="508" bIns="508" rtlCol="0" anchor="ctr"/>
          <a:lstStyle/>
          <a:p>
            <a:pPr marL="0" indent="0" algn="ctr">
              <a:buNone/>
            </a:pPr>
            <a:r>
              <a:rPr lang="en-US" sz="1250" b="1" dirty="0">
                <a:solidFill>
                  <a:srgbClr val="23233F"/>
                </a:solidFill>
                <a:latin typeface="Calibri" pitchFamily="34" charset="0"/>
                <a:ea typeface="Calibri" pitchFamily="34" charset="-122"/>
                <a:cs typeface="Calibri" pitchFamily="34" charset="-120"/>
              </a:rPr>
              <a:t>Service  —  rules + data access · throws ApiError(status)</a:t>
            </a:r>
            <a:endParaRPr lang="en-US" sz="1250" dirty="0"/>
          </a:p>
        </p:txBody>
      </p:sp>
      <p:sp>
        <p:nvSpPr>
          <p:cNvPr id="27" name="Shape 25"/>
          <p:cNvSpPr/>
          <p:nvPr/>
        </p:nvSpPr>
        <p:spPr>
          <a:xfrm>
            <a:off x="6675120" y="3429000"/>
            <a:ext cx="0" cy="109728"/>
          </a:xfrm>
          <a:prstGeom prst="line">
            <a:avLst/>
          </a:prstGeom>
          <a:noFill/>
          <a:ln w="15875">
            <a:solidFill>
              <a:srgbClr val="6A6A82"/>
            </a:solidFill>
            <a:prstDash val="solid"/>
            <a:tailEnd type="triangle"/>
          </a:ln>
        </p:spPr>
      </p:sp>
      <p:sp>
        <p:nvSpPr>
          <p:cNvPr id="28" name="Shape 26"/>
          <p:cNvSpPr/>
          <p:nvPr/>
        </p:nvSpPr>
        <p:spPr>
          <a:xfrm>
            <a:off x="4709160" y="3529584"/>
            <a:ext cx="3931920" cy="438912"/>
          </a:xfrm>
          <a:prstGeom prst="roundRect">
            <a:avLst>
              <a:gd name="adj" fmla="val 12500"/>
            </a:avLst>
          </a:prstGeom>
          <a:solidFill>
            <a:srgbClr val="23233F"/>
          </a:solidFill>
          <a:ln w="12700">
            <a:solidFill>
              <a:srgbClr val="23233F"/>
            </a:solidFill>
            <a:prstDash val="solid"/>
          </a:ln>
          <a:effectLst>
            <a:outerShdw blurRad="88900" dist="25400" dir="2700000" algn="bl" rotWithShape="0">
              <a:srgbClr val="000000">
                <a:alpha val="13000"/>
              </a:srgbClr>
            </a:outerShdw>
          </a:effectLst>
        </p:spPr>
      </p:sp>
      <p:sp>
        <p:nvSpPr>
          <p:cNvPr id="29" name="Text 27"/>
          <p:cNvSpPr/>
          <p:nvPr/>
        </p:nvSpPr>
        <p:spPr>
          <a:xfrm>
            <a:off x="4709160" y="3529584"/>
            <a:ext cx="3931920" cy="438912"/>
          </a:xfrm>
          <a:prstGeom prst="rect">
            <a:avLst/>
          </a:prstGeom>
          <a:noFill/>
          <a:ln/>
        </p:spPr>
        <p:txBody>
          <a:bodyPr wrap="square" lIns="508" tIns="508" rIns="508" bIns="508"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Central error middleware  —  ApiError → JSON · stack only in dev</a:t>
            </a:r>
            <a:endParaRPr lang="en-US" sz="1250" dirty="0"/>
          </a:p>
        </p:txBody>
      </p:sp>
      <p:sp>
        <p:nvSpPr>
          <p:cNvPr id="30" name="Shape 28"/>
          <p:cNvSpPr/>
          <p:nvPr/>
        </p:nvSpPr>
        <p:spPr>
          <a:xfrm>
            <a:off x="457200" y="4206240"/>
            <a:ext cx="8229600" cy="548640"/>
          </a:xfrm>
          <a:prstGeom prst="roundRect">
            <a:avLst>
              <a:gd name="adj" fmla="val 11667"/>
            </a:avLst>
          </a:prstGeom>
          <a:solidFill>
            <a:srgbClr val="EAF7F0"/>
          </a:solidFill>
          <a:ln w="9525">
            <a:solidFill>
              <a:srgbClr val="E4E2F0"/>
            </a:solidFill>
            <a:prstDash val="solid"/>
          </a:ln>
        </p:spPr>
      </p:sp>
      <p:sp>
        <p:nvSpPr>
          <p:cNvPr id="31" name="Text 29"/>
          <p:cNvSpPr/>
          <p:nvPr/>
        </p:nvSpPr>
        <p:spPr>
          <a:xfrm>
            <a:off x="685800" y="4206240"/>
            <a:ext cx="7863840" cy="548640"/>
          </a:xfrm>
          <a:prstGeom prst="rect">
            <a:avLst/>
          </a:prstGeom>
          <a:noFill/>
          <a:ln/>
        </p:spPr>
        <p:txBody>
          <a:bodyPr wrap="square" lIns="0" tIns="0" rIns="0" bIns="0" rtlCol="0" anchor="ctr"/>
          <a:lstStyle/>
          <a:p>
            <a:r>
              <a:rPr lang="en-US" sz="1100" b="1" dirty="0">
                <a:solidFill>
                  <a:srgbClr val="23233F"/>
                </a:solidFill>
                <a:latin typeface="Calibri"/>
                <a:ea typeface="Calibri"/>
                <a:cs typeface="Calibri"/>
              </a:rPr>
              <a:t>10 modules:   </a:t>
            </a:r>
            <a:r>
              <a:rPr lang="en-US" sz="1050" dirty="0">
                <a:solidFill>
                  <a:srgbClr val="6A6A82"/>
                </a:solidFill>
                <a:latin typeface="Courier New"/>
                <a:ea typeface="Courier New" pitchFamily="34" charset="-122"/>
                <a:cs typeface="Courier New"/>
              </a:rPr>
              <a:t>books · reviews · orders · reservations · checkout · </a:t>
            </a:r>
            <a:r>
              <a:rPr lang="en-US" sz="1050" dirty="0" err="1">
                <a:solidFill>
                  <a:srgbClr val="6A6A82"/>
                </a:solidFill>
                <a:latin typeface="Courier New"/>
                <a:ea typeface="Courier New" pitchFamily="34" charset="-122"/>
                <a:cs typeface="Courier New"/>
              </a:rPr>
              <a:t>bookRequests</a:t>
            </a:r>
            <a:r>
              <a:rPr lang="en-US" sz="1050" dirty="0">
                <a:solidFill>
                  <a:srgbClr val="6A6A82"/>
                </a:solidFill>
                <a:latin typeface="Courier New"/>
                <a:ea typeface="Courier New" pitchFamily="34" charset="-122"/>
                <a:cs typeface="Courier New"/>
              </a:rPr>
              <a:t> · stores · analytics · admin · auth</a:t>
            </a:r>
            <a:endParaRPr lang="en-US" sz="1100" dirty="0">
              <a:latin typeface="Courier New"/>
              <a:cs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ARCHITECTURE</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Frontend Architecture</a:t>
            </a:r>
            <a:endParaRPr lang="en-US" sz="2800" dirty="0"/>
          </a:p>
        </p:txBody>
      </p:sp>
      <p:sp>
        <p:nvSpPr>
          <p:cNvPr id="4" name="Text 2"/>
          <p:cNvSpPr/>
          <p:nvPr/>
        </p:nvSpPr>
        <p:spPr>
          <a:xfrm>
            <a:off x="457200" y="1024128"/>
            <a:ext cx="3931920" cy="274320"/>
          </a:xfrm>
          <a:prstGeom prst="rect">
            <a:avLst/>
          </a:prstGeom>
          <a:noFill/>
          <a:ln/>
        </p:spPr>
        <p:txBody>
          <a:bodyPr wrap="square" lIns="0" tIns="0" rIns="0" bIns="0" rtlCol="0" anchor="ctr"/>
          <a:lstStyle/>
          <a:p>
            <a:pPr marL="0" indent="0">
              <a:buNone/>
            </a:pPr>
            <a:r>
              <a:rPr lang="en-US" sz="1350" b="1" dirty="0">
                <a:solidFill>
                  <a:srgbClr val="23233F"/>
                </a:solidFill>
                <a:latin typeface="Calibri" pitchFamily="34" charset="0"/>
                <a:ea typeface="Calibri" pitchFamily="34" charset="-122"/>
                <a:cs typeface="Calibri" pitchFamily="34" charset="-120"/>
              </a:rPr>
              <a:t>Components never call Axios directly</a:t>
            </a:r>
            <a:endParaRPr lang="en-US" sz="1350" dirty="0"/>
          </a:p>
        </p:txBody>
      </p:sp>
      <p:sp>
        <p:nvSpPr>
          <p:cNvPr id="5" name="Shape 3"/>
          <p:cNvSpPr/>
          <p:nvPr/>
        </p:nvSpPr>
        <p:spPr>
          <a:xfrm>
            <a:off x="457200" y="1371600"/>
            <a:ext cx="3931920" cy="603504"/>
          </a:xfrm>
          <a:prstGeom prst="roundRect">
            <a:avLst>
              <a:gd name="adj" fmla="val 9091"/>
            </a:avLst>
          </a:prstGeom>
          <a:solidFill>
            <a:srgbClr val="FFFFFF"/>
          </a:solidFill>
          <a:ln w="12700">
            <a:solidFill>
              <a:srgbClr val="C9C4E8"/>
            </a:solidFill>
            <a:prstDash val="solid"/>
          </a:ln>
          <a:effectLst>
            <a:outerShdw blurRad="88900" dist="25400" dir="2700000" algn="bl" rotWithShape="0">
              <a:srgbClr val="000000">
                <a:alpha val="13000"/>
              </a:srgbClr>
            </a:outerShdw>
          </a:effectLst>
        </p:spPr>
      </p:sp>
      <p:sp>
        <p:nvSpPr>
          <p:cNvPr id="6" name="Text 4"/>
          <p:cNvSpPr/>
          <p:nvPr/>
        </p:nvSpPr>
        <p:spPr>
          <a:xfrm>
            <a:off x="457200" y="1371600"/>
            <a:ext cx="3931920" cy="603504"/>
          </a:xfrm>
          <a:prstGeom prst="rect">
            <a:avLst/>
          </a:prstGeom>
          <a:noFill/>
          <a:ln/>
        </p:spPr>
        <p:txBody>
          <a:bodyPr wrap="square" lIns="508" tIns="508" rIns="508" bIns="508" rtlCol="0" anchor="ctr"/>
          <a:lstStyle/>
          <a:p>
            <a:pPr marL="0" indent="0" algn="ctr">
              <a:buNone/>
            </a:pPr>
            <a:r>
              <a:rPr lang="en-US" sz="1200" b="1" dirty="0">
                <a:solidFill>
                  <a:srgbClr val="23233F"/>
                </a:solidFill>
                <a:latin typeface="Calibri" pitchFamily="34" charset="0"/>
                <a:ea typeface="Calibri" pitchFamily="34" charset="-122"/>
                <a:cs typeface="Calibri" pitchFamily="34" charset="-120"/>
              </a:rPr>
              <a:t>Pages / Components</a:t>
            </a:r>
            <a:endParaRPr lang="en-US" sz="1200" dirty="0"/>
          </a:p>
          <a:p>
            <a:pPr marL="0" indent="0" algn="ctr">
              <a:buNone/>
            </a:pPr>
            <a:r>
              <a:rPr lang="en-US" sz="950" dirty="0">
                <a:solidFill>
                  <a:srgbClr val="6A6A82"/>
                </a:solidFill>
                <a:latin typeface="Calibri" pitchFamily="34" charset="0"/>
                <a:ea typeface="Calibri" pitchFamily="34" charset="-122"/>
                <a:cs typeface="Calibri" pitchFamily="34" charset="-120"/>
              </a:rPr>
              <a:t>route-level views + reusable UI</a:t>
            </a:r>
            <a:endParaRPr lang="en-US" sz="1200" dirty="0"/>
          </a:p>
        </p:txBody>
      </p:sp>
      <p:sp>
        <p:nvSpPr>
          <p:cNvPr id="7" name="Shape 5"/>
          <p:cNvSpPr/>
          <p:nvPr/>
        </p:nvSpPr>
        <p:spPr>
          <a:xfrm>
            <a:off x="2423160" y="1975104"/>
            <a:ext cx="0" cy="164592"/>
          </a:xfrm>
          <a:prstGeom prst="line">
            <a:avLst/>
          </a:prstGeom>
          <a:noFill/>
          <a:ln w="15875">
            <a:solidFill>
              <a:srgbClr val="6A6A82"/>
            </a:solidFill>
            <a:prstDash val="solid"/>
            <a:tailEnd type="triangle"/>
          </a:ln>
        </p:spPr>
      </p:sp>
      <p:sp>
        <p:nvSpPr>
          <p:cNvPr id="8" name="Shape 6"/>
          <p:cNvSpPr/>
          <p:nvPr/>
        </p:nvSpPr>
        <p:spPr>
          <a:xfrm>
            <a:off x="457200" y="2130552"/>
            <a:ext cx="3931920" cy="603504"/>
          </a:xfrm>
          <a:prstGeom prst="roundRect">
            <a:avLst>
              <a:gd name="adj" fmla="val 9091"/>
            </a:avLst>
          </a:prstGeom>
          <a:solidFill>
            <a:srgbClr val="F1EFFB"/>
          </a:solidFill>
          <a:ln w="12700">
            <a:solidFill>
              <a:srgbClr val="F1EFFB"/>
            </a:solidFill>
            <a:prstDash val="solid"/>
          </a:ln>
          <a:effectLst>
            <a:outerShdw blurRad="88900" dist="25400" dir="2700000" algn="bl" rotWithShape="0">
              <a:srgbClr val="000000">
                <a:alpha val="13000"/>
              </a:srgbClr>
            </a:outerShdw>
          </a:effectLst>
        </p:spPr>
      </p:sp>
      <p:sp>
        <p:nvSpPr>
          <p:cNvPr id="9" name="Text 7"/>
          <p:cNvSpPr/>
          <p:nvPr/>
        </p:nvSpPr>
        <p:spPr>
          <a:xfrm>
            <a:off x="457200" y="2130552"/>
            <a:ext cx="3931920" cy="603504"/>
          </a:xfrm>
          <a:prstGeom prst="rect">
            <a:avLst/>
          </a:prstGeom>
          <a:noFill/>
          <a:ln/>
        </p:spPr>
        <p:txBody>
          <a:bodyPr wrap="square" lIns="508" tIns="508" rIns="508" bIns="508" rtlCol="0" anchor="ctr"/>
          <a:lstStyle/>
          <a:p>
            <a:pPr marL="0" indent="0" algn="ctr">
              <a:buNone/>
            </a:pPr>
            <a:r>
              <a:rPr lang="en-US" sz="1200" b="1" dirty="0">
                <a:solidFill>
                  <a:srgbClr val="23233F"/>
                </a:solidFill>
                <a:latin typeface="Calibri" pitchFamily="34" charset="0"/>
                <a:ea typeface="Calibri" pitchFamily="34" charset="-122"/>
                <a:cs typeface="Calibri" pitchFamily="34" charset="-120"/>
              </a:rPr>
              <a:t>services/*.ts</a:t>
            </a:r>
            <a:endParaRPr lang="en-US" sz="1200" dirty="0"/>
          </a:p>
          <a:p>
            <a:pPr marL="0" indent="0" algn="ctr">
              <a:buNone/>
            </a:pPr>
            <a:r>
              <a:rPr lang="en-US" sz="950" dirty="0">
                <a:solidFill>
                  <a:srgbClr val="6A6A82"/>
                </a:solidFill>
                <a:latin typeface="Calibri" pitchFamily="34" charset="0"/>
                <a:ea typeface="Calibri" pitchFamily="34" charset="-122"/>
                <a:cs typeface="Calibri" pitchFamily="34" charset="-120"/>
              </a:rPr>
              <a:t>per-domain API layer (books, checkout, …)</a:t>
            </a:r>
            <a:endParaRPr lang="en-US" sz="1200" dirty="0"/>
          </a:p>
        </p:txBody>
      </p:sp>
      <p:sp>
        <p:nvSpPr>
          <p:cNvPr id="10" name="Shape 8"/>
          <p:cNvSpPr/>
          <p:nvPr/>
        </p:nvSpPr>
        <p:spPr>
          <a:xfrm>
            <a:off x="2423160" y="2734056"/>
            <a:ext cx="0" cy="164592"/>
          </a:xfrm>
          <a:prstGeom prst="line">
            <a:avLst/>
          </a:prstGeom>
          <a:noFill/>
          <a:ln w="15875">
            <a:solidFill>
              <a:srgbClr val="6A6A82"/>
            </a:solidFill>
            <a:prstDash val="solid"/>
            <a:tailEnd type="triangle"/>
          </a:ln>
        </p:spPr>
      </p:sp>
      <p:sp>
        <p:nvSpPr>
          <p:cNvPr id="11" name="Shape 9"/>
          <p:cNvSpPr/>
          <p:nvPr/>
        </p:nvSpPr>
        <p:spPr>
          <a:xfrm>
            <a:off x="457200" y="2889504"/>
            <a:ext cx="3931920" cy="603504"/>
          </a:xfrm>
          <a:prstGeom prst="roundRect">
            <a:avLst>
              <a:gd name="adj" fmla="val 9091"/>
            </a:avLst>
          </a:prstGeom>
          <a:solidFill>
            <a:srgbClr val="F1EFFB"/>
          </a:solidFill>
          <a:ln w="12700">
            <a:solidFill>
              <a:srgbClr val="F1EFFB"/>
            </a:solidFill>
            <a:prstDash val="solid"/>
          </a:ln>
          <a:effectLst>
            <a:outerShdw blurRad="88900" dist="25400" dir="2700000" algn="bl" rotWithShape="0">
              <a:srgbClr val="000000">
                <a:alpha val="13000"/>
              </a:srgbClr>
            </a:outerShdw>
          </a:effectLst>
        </p:spPr>
      </p:sp>
      <p:sp>
        <p:nvSpPr>
          <p:cNvPr id="12" name="Text 10"/>
          <p:cNvSpPr/>
          <p:nvPr/>
        </p:nvSpPr>
        <p:spPr>
          <a:xfrm>
            <a:off x="457200" y="2889504"/>
            <a:ext cx="3931920" cy="603504"/>
          </a:xfrm>
          <a:prstGeom prst="rect">
            <a:avLst/>
          </a:prstGeom>
          <a:noFill/>
          <a:ln/>
        </p:spPr>
        <p:txBody>
          <a:bodyPr wrap="square" lIns="508" tIns="508" rIns="508" bIns="508" rtlCol="0" anchor="ctr"/>
          <a:lstStyle/>
          <a:p>
            <a:pPr marL="0" indent="0" algn="ctr">
              <a:buNone/>
            </a:pPr>
            <a:r>
              <a:rPr lang="en-US" sz="1200" b="1" dirty="0">
                <a:solidFill>
                  <a:srgbClr val="23233F"/>
                </a:solidFill>
                <a:latin typeface="Calibri" pitchFamily="34" charset="0"/>
                <a:ea typeface="Calibri" pitchFamily="34" charset="-122"/>
                <a:cs typeface="Calibri" pitchFamily="34" charset="-120"/>
              </a:rPr>
              <a:t>api/axios.ts</a:t>
            </a:r>
            <a:endParaRPr lang="en-US" sz="1200" dirty="0"/>
          </a:p>
          <a:p>
            <a:pPr marL="0" indent="0" algn="ctr">
              <a:buNone/>
            </a:pPr>
            <a:r>
              <a:rPr lang="en-US" sz="950" dirty="0">
                <a:solidFill>
                  <a:srgbClr val="6A6A82"/>
                </a:solidFill>
                <a:latin typeface="Calibri" pitchFamily="34" charset="0"/>
                <a:ea typeface="Calibri" pitchFamily="34" charset="-122"/>
                <a:cs typeface="Calibri" pitchFamily="34" charset="-120"/>
              </a:rPr>
              <a:t>interceptor attaches a fresh Firebase token</a:t>
            </a:r>
            <a:endParaRPr lang="en-US" sz="1200" dirty="0"/>
          </a:p>
        </p:txBody>
      </p:sp>
      <p:sp>
        <p:nvSpPr>
          <p:cNvPr id="13" name="Shape 11"/>
          <p:cNvSpPr/>
          <p:nvPr/>
        </p:nvSpPr>
        <p:spPr>
          <a:xfrm>
            <a:off x="2423160" y="3493008"/>
            <a:ext cx="0" cy="164592"/>
          </a:xfrm>
          <a:prstGeom prst="line">
            <a:avLst/>
          </a:prstGeom>
          <a:noFill/>
          <a:ln w="15875">
            <a:solidFill>
              <a:srgbClr val="6A6A82"/>
            </a:solidFill>
            <a:prstDash val="solid"/>
            <a:tailEnd type="triangle"/>
          </a:ln>
        </p:spPr>
      </p:sp>
      <p:sp>
        <p:nvSpPr>
          <p:cNvPr id="14" name="Shape 12"/>
          <p:cNvSpPr/>
          <p:nvPr/>
        </p:nvSpPr>
        <p:spPr>
          <a:xfrm>
            <a:off x="457200" y="3648456"/>
            <a:ext cx="3931920" cy="603504"/>
          </a:xfrm>
          <a:prstGeom prst="roundRect">
            <a:avLst>
              <a:gd name="adj" fmla="val 9091"/>
            </a:avLst>
          </a:prstGeom>
          <a:solidFill>
            <a:srgbClr val="23233F"/>
          </a:solidFill>
          <a:ln w="12700">
            <a:solidFill>
              <a:srgbClr val="23233F"/>
            </a:solidFill>
            <a:prstDash val="solid"/>
          </a:ln>
          <a:effectLst>
            <a:outerShdw blurRad="88900" dist="25400" dir="2700000" algn="bl" rotWithShape="0">
              <a:srgbClr val="000000">
                <a:alpha val="13000"/>
              </a:srgbClr>
            </a:outerShdw>
          </a:effectLst>
        </p:spPr>
      </p:sp>
      <p:sp>
        <p:nvSpPr>
          <p:cNvPr id="15" name="Text 13"/>
          <p:cNvSpPr/>
          <p:nvPr/>
        </p:nvSpPr>
        <p:spPr>
          <a:xfrm>
            <a:off x="457200" y="3648456"/>
            <a:ext cx="3931920" cy="603504"/>
          </a:xfrm>
          <a:prstGeom prst="rect">
            <a:avLst/>
          </a:prstGeom>
          <a:noFill/>
          <a:ln/>
        </p:spPr>
        <p:txBody>
          <a:bodyPr wrap="square" lIns="508" tIns="508" rIns="508" bIns="508"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REST API</a:t>
            </a:r>
            <a:endParaRPr lang="en-US" sz="1200" dirty="0"/>
          </a:p>
          <a:p>
            <a:pPr marL="0" indent="0" algn="ctr">
              <a:buNone/>
            </a:pPr>
            <a:r>
              <a:rPr lang="en-US" sz="950" dirty="0">
                <a:solidFill>
                  <a:srgbClr val="C9C4F2"/>
                </a:solidFill>
                <a:latin typeface="Calibri" pitchFamily="34" charset="0"/>
                <a:ea typeface="Calibri" pitchFamily="34" charset="-122"/>
                <a:cs typeface="Calibri" pitchFamily="34" charset="-120"/>
              </a:rPr>
              <a:t>every request authenticated the same way</a:t>
            </a:r>
            <a:endParaRPr lang="en-US" sz="1200" dirty="0"/>
          </a:p>
        </p:txBody>
      </p:sp>
      <p:sp>
        <p:nvSpPr>
          <p:cNvPr id="16" name="Shape 14"/>
          <p:cNvSpPr/>
          <p:nvPr/>
        </p:nvSpPr>
        <p:spPr>
          <a:xfrm>
            <a:off x="4754880" y="1371600"/>
            <a:ext cx="3931920" cy="1005840"/>
          </a:xfrm>
          <a:prstGeom prst="roundRect">
            <a:avLst>
              <a:gd name="adj" fmla="val 6364"/>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17" name="Shape 15"/>
          <p:cNvSpPr/>
          <p:nvPr/>
        </p:nvSpPr>
        <p:spPr>
          <a:xfrm>
            <a:off x="4956048" y="1645920"/>
            <a:ext cx="457200" cy="457200"/>
          </a:xfrm>
          <a:prstGeom prst="ellipse">
            <a:avLst/>
          </a:prstGeom>
          <a:solidFill>
            <a:srgbClr val="5C4AD6"/>
          </a:solidFill>
          <a:ln/>
        </p:spPr>
      </p:sp>
      <p:pic>
        <p:nvPicPr>
          <p:cNvPr id="18" name="Image 0" descr="preencoded.png"/>
          <p:cNvPicPr>
            <a:picLocks noChangeAspect="1"/>
          </p:cNvPicPr>
          <p:nvPr/>
        </p:nvPicPr>
        <p:blipFill>
          <a:blip r:embed="rId3"/>
          <a:stretch>
            <a:fillRect/>
          </a:stretch>
        </p:blipFill>
        <p:spPr>
          <a:xfrm>
            <a:off x="5074920" y="1764792"/>
            <a:ext cx="219456" cy="219456"/>
          </a:xfrm>
          <a:prstGeom prst="rect">
            <a:avLst/>
          </a:prstGeom>
        </p:spPr>
      </p:pic>
      <p:sp>
        <p:nvSpPr>
          <p:cNvPr id="19" name="Text 16"/>
          <p:cNvSpPr/>
          <p:nvPr/>
        </p:nvSpPr>
        <p:spPr>
          <a:xfrm>
            <a:off x="5577840" y="1435608"/>
            <a:ext cx="3017520" cy="877824"/>
          </a:xfrm>
          <a:prstGeom prst="rect">
            <a:avLst/>
          </a:prstGeom>
          <a:noFill/>
          <a:ln/>
        </p:spPr>
        <p:txBody>
          <a:bodyPr wrap="square" lIns="381" tIns="381" rIns="381" bIns="381" rtlCol="0" anchor="ctr"/>
          <a:lstStyle/>
          <a:p>
            <a:pPr marL="0" indent="0">
              <a:spcAft>
                <a:spcPts val="300"/>
              </a:spcAft>
              <a:buNone/>
            </a:pPr>
            <a:r>
              <a:rPr lang="en-US" sz="1250" b="1" dirty="0">
                <a:solidFill>
                  <a:srgbClr val="23233F"/>
                </a:solidFill>
                <a:latin typeface="Calibri" pitchFamily="34" charset="0"/>
                <a:ea typeface="Calibri" pitchFamily="34" charset="-122"/>
                <a:cs typeface="Calibri" pitchFamily="34" charset="-120"/>
              </a:rPr>
              <a:t>Two contexts, not Redux</a:t>
            </a:r>
            <a:endParaRPr lang="en-US" sz="1250" dirty="0"/>
          </a:p>
          <a:p>
            <a:pPr marL="0" indent="0">
              <a:spcAft>
                <a:spcPts val="300"/>
              </a:spcAft>
              <a:buNone/>
            </a:pPr>
            <a:r>
              <a:rPr lang="en-US" sz="1000" dirty="0">
                <a:solidFill>
                  <a:srgbClr val="6A6A82"/>
                </a:solidFill>
                <a:latin typeface="Calibri" pitchFamily="34" charset="0"/>
                <a:ea typeface="Calibri" pitchFamily="34" charset="-122"/>
                <a:cs typeface="Calibri" pitchFamily="34" charset="-120"/>
              </a:rPr>
              <a:t>AuthProvider (Firebase state + role) · CartProvider (localStorage, stock-clamped)</a:t>
            </a:r>
            <a:endParaRPr lang="en-US" sz="1250" dirty="0"/>
          </a:p>
        </p:txBody>
      </p:sp>
      <p:sp>
        <p:nvSpPr>
          <p:cNvPr id="20" name="Shape 17"/>
          <p:cNvSpPr/>
          <p:nvPr/>
        </p:nvSpPr>
        <p:spPr>
          <a:xfrm>
            <a:off x="4754880" y="2505456"/>
            <a:ext cx="3931920" cy="1005840"/>
          </a:xfrm>
          <a:prstGeom prst="roundRect">
            <a:avLst>
              <a:gd name="adj" fmla="val 6364"/>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21" name="Shape 18"/>
          <p:cNvSpPr/>
          <p:nvPr/>
        </p:nvSpPr>
        <p:spPr>
          <a:xfrm>
            <a:off x="4956048" y="2779776"/>
            <a:ext cx="457200" cy="457200"/>
          </a:xfrm>
          <a:prstGeom prst="ellipse">
            <a:avLst/>
          </a:prstGeom>
          <a:solidFill>
            <a:srgbClr val="2BB673"/>
          </a:solidFill>
          <a:ln/>
        </p:spPr>
      </p:sp>
      <p:pic>
        <p:nvPicPr>
          <p:cNvPr id="22" name="Image 1" descr="preencoded.png"/>
          <p:cNvPicPr>
            <a:picLocks noChangeAspect="1"/>
          </p:cNvPicPr>
          <p:nvPr/>
        </p:nvPicPr>
        <p:blipFill>
          <a:blip r:embed="rId4"/>
          <a:stretch>
            <a:fillRect/>
          </a:stretch>
        </p:blipFill>
        <p:spPr>
          <a:xfrm>
            <a:off x="5074920" y="2898648"/>
            <a:ext cx="219456" cy="219456"/>
          </a:xfrm>
          <a:prstGeom prst="rect">
            <a:avLst/>
          </a:prstGeom>
        </p:spPr>
      </p:pic>
      <p:sp>
        <p:nvSpPr>
          <p:cNvPr id="23" name="Text 19"/>
          <p:cNvSpPr/>
          <p:nvPr/>
        </p:nvSpPr>
        <p:spPr>
          <a:xfrm>
            <a:off x="5577840" y="2569464"/>
            <a:ext cx="3017520" cy="877824"/>
          </a:xfrm>
          <a:prstGeom prst="rect">
            <a:avLst/>
          </a:prstGeom>
          <a:noFill/>
          <a:ln/>
        </p:spPr>
        <p:txBody>
          <a:bodyPr wrap="square" lIns="381" tIns="381" rIns="381" bIns="381" rtlCol="0" anchor="ctr"/>
          <a:lstStyle/>
          <a:p>
            <a:pPr marL="0" indent="0">
              <a:spcAft>
                <a:spcPts val="300"/>
              </a:spcAft>
              <a:buNone/>
            </a:pPr>
            <a:r>
              <a:rPr lang="en-US" sz="1250" b="1" dirty="0">
                <a:solidFill>
                  <a:srgbClr val="23233F"/>
                </a:solidFill>
                <a:latin typeface="Calibri" pitchFamily="34" charset="0"/>
                <a:ea typeface="Calibri" pitchFamily="34" charset="-122"/>
                <a:cs typeface="Calibri" pitchFamily="34" charset="-120"/>
              </a:rPr>
              <a:t>useFetch hook</a:t>
            </a:r>
            <a:endParaRPr lang="en-US" sz="1250" dirty="0"/>
          </a:p>
          <a:p>
            <a:pPr marL="0" indent="0">
              <a:spcAft>
                <a:spcPts val="300"/>
              </a:spcAft>
              <a:buNone/>
            </a:pPr>
            <a:r>
              <a:rPr lang="en-US" sz="1000" dirty="0">
                <a:solidFill>
                  <a:srgbClr val="6A6A82"/>
                </a:solidFill>
                <a:latin typeface="Calibri" pitchFamily="34" charset="0"/>
                <a:ea typeface="Calibri" pitchFamily="34" charset="-122"/>
                <a:cs typeface="Calibri" pitchFamily="34" charset="-120"/>
              </a:rPr>
              <a:t>loading/error reducer + AbortController — stale requests cancelled, no out-of-order results</a:t>
            </a:r>
            <a:endParaRPr lang="en-US" sz="1250" dirty="0"/>
          </a:p>
        </p:txBody>
      </p:sp>
      <p:sp>
        <p:nvSpPr>
          <p:cNvPr id="24" name="Shape 20"/>
          <p:cNvSpPr/>
          <p:nvPr/>
        </p:nvSpPr>
        <p:spPr>
          <a:xfrm>
            <a:off x="4754880" y="3639312"/>
            <a:ext cx="3931920" cy="1005840"/>
          </a:xfrm>
          <a:prstGeom prst="roundRect">
            <a:avLst>
              <a:gd name="adj" fmla="val 6364"/>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25" name="Shape 21"/>
          <p:cNvSpPr/>
          <p:nvPr/>
        </p:nvSpPr>
        <p:spPr>
          <a:xfrm>
            <a:off x="4956048" y="3913632"/>
            <a:ext cx="457200" cy="457200"/>
          </a:xfrm>
          <a:prstGeom prst="ellipse">
            <a:avLst/>
          </a:prstGeom>
          <a:solidFill>
            <a:srgbClr val="23233F"/>
          </a:solidFill>
          <a:ln/>
        </p:spPr>
      </p:sp>
      <p:pic>
        <p:nvPicPr>
          <p:cNvPr id="26" name="Image 2" descr="preencoded.png"/>
          <p:cNvPicPr>
            <a:picLocks noChangeAspect="1"/>
          </p:cNvPicPr>
          <p:nvPr/>
        </p:nvPicPr>
        <p:blipFill>
          <a:blip r:embed="rId5"/>
          <a:stretch>
            <a:fillRect/>
          </a:stretch>
        </p:blipFill>
        <p:spPr>
          <a:xfrm>
            <a:off x="5074920" y="4032504"/>
            <a:ext cx="219456" cy="219456"/>
          </a:xfrm>
          <a:prstGeom prst="rect">
            <a:avLst/>
          </a:prstGeom>
        </p:spPr>
      </p:pic>
      <p:sp>
        <p:nvSpPr>
          <p:cNvPr id="27" name="Text 22"/>
          <p:cNvSpPr/>
          <p:nvPr/>
        </p:nvSpPr>
        <p:spPr>
          <a:xfrm>
            <a:off x="5577840" y="3703320"/>
            <a:ext cx="3017520" cy="877824"/>
          </a:xfrm>
          <a:prstGeom prst="rect">
            <a:avLst/>
          </a:prstGeom>
          <a:noFill/>
          <a:ln/>
        </p:spPr>
        <p:txBody>
          <a:bodyPr wrap="square" lIns="381" tIns="381" rIns="381" bIns="381" rtlCol="0" anchor="ctr"/>
          <a:lstStyle/>
          <a:p>
            <a:pPr marL="0" indent="0">
              <a:spcAft>
                <a:spcPts val="300"/>
              </a:spcAft>
              <a:buNone/>
            </a:pPr>
            <a:r>
              <a:rPr lang="en-US" sz="1250" b="1" dirty="0">
                <a:solidFill>
                  <a:srgbClr val="23233F"/>
                </a:solidFill>
                <a:latin typeface="Calibri" pitchFamily="34" charset="0"/>
                <a:ea typeface="Calibri" pitchFamily="34" charset="-122"/>
                <a:cs typeface="Calibri" pitchFamily="34" charset="-120"/>
              </a:rPr>
              <a:t>Guards + React Compiler</a:t>
            </a:r>
            <a:endParaRPr lang="en-US" sz="1250" dirty="0"/>
          </a:p>
          <a:p>
            <a:pPr marL="0" indent="0">
              <a:spcAft>
                <a:spcPts val="300"/>
              </a:spcAft>
              <a:buNone/>
            </a:pPr>
            <a:r>
              <a:rPr lang="en-US" sz="1000" dirty="0">
                <a:solidFill>
                  <a:srgbClr val="6A6A82"/>
                </a:solidFill>
                <a:latin typeface="Calibri" pitchFamily="34" charset="0"/>
                <a:ea typeface="Calibri" pitchFamily="34" charset="-122"/>
                <a:cs typeface="Calibri" pitchFamily="34" charset="-120"/>
              </a:rPr>
              <a:t>ProtectedRoute / AdminRoute (UX — server middleware enforces) · automatic memoization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ARCHITECTURE</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Authentication &amp; Authorization</a:t>
            </a:r>
            <a:endParaRPr lang="en-US" sz="2800" dirty="0"/>
          </a:p>
        </p:txBody>
      </p:sp>
      <p:sp>
        <p:nvSpPr>
          <p:cNvPr id="4" name="Shape 2"/>
          <p:cNvSpPr/>
          <p:nvPr/>
        </p:nvSpPr>
        <p:spPr>
          <a:xfrm>
            <a:off x="457200" y="1170432"/>
            <a:ext cx="347472" cy="347472"/>
          </a:xfrm>
          <a:prstGeom prst="ellipse">
            <a:avLst/>
          </a:prstGeom>
          <a:solidFill>
            <a:srgbClr val="5C4AD6"/>
          </a:solidFill>
          <a:ln/>
        </p:spPr>
      </p:sp>
      <p:sp>
        <p:nvSpPr>
          <p:cNvPr id="5" name="Text 3"/>
          <p:cNvSpPr/>
          <p:nvPr/>
        </p:nvSpPr>
        <p:spPr>
          <a:xfrm>
            <a:off x="457200" y="11704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932688" y="1088136"/>
            <a:ext cx="3657600" cy="566928"/>
          </a:xfrm>
          <a:prstGeom prst="rect">
            <a:avLst/>
          </a:prstGeom>
          <a:noFill/>
          <a:ln/>
        </p:spPr>
        <p:txBody>
          <a:bodyPr wrap="square" lIns="254" tIns="254" rIns="254" bIns="254" rtlCol="0" anchor="ctr"/>
          <a:lstStyle/>
          <a:p>
            <a:pPr marL="0" indent="0">
              <a:spcAft>
                <a:spcPts val="200"/>
              </a:spcAft>
              <a:buNone/>
            </a:pPr>
            <a:r>
              <a:rPr lang="en-US" sz="1200" b="1" dirty="0">
                <a:solidFill>
                  <a:srgbClr val="23233F"/>
                </a:solidFill>
                <a:latin typeface="Calibri" pitchFamily="34" charset="0"/>
                <a:ea typeface="Calibri" pitchFamily="34" charset="-122"/>
                <a:cs typeface="Calibri" pitchFamily="34" charset="-120"/>
              </a:rPr>
              <a:t>Sign in via Firebase SDK</a:t>
            </a:r>
            <a:endParaRPr lang="en-US" sz="1200" dirty="0"/>
          </a:p>
          <a:p>
            <a:pPr marL="0" indent="0">
              <a:spcAft>
                <a:spcPts val="200"/>
              </a:spcAft>
              <a:buNone/>
            </a:pPr>
            <a:r>
              <a:rPr lang="en-US" sz="1000" dirty="0">
                <a:solidFill>
                  <a:srgbClr val="6A6A82"/>
                </a:solidFill>
                <a:latin typeface="Calibri" pitchFamily="34" charset="0"/>
                <a:ea typeface="Calibri" pitchFamily="34" charset="-122"/>
                <a:cs typeface="Calibri" pitchFamily="34" charset="-120"/>
              </a:rPr>
              <a:t>email/password or Google — we never see passwords</a:t>
            </a:r>
            <a:endParaRPr lang="en-US" sz="1200" dirty="0"/>
          </a:p>
        </p:txBody>
      </p:sp>
      <p:sp>
        <p:nvSpPr>
          <p:cNvPr id="7" name="Shape 5"/>
          <p:cNvSpPr/>
          <p:nvPr/>
        </p:nvSpPr>
        <p:spPr>
          <a:xfrm>
            <a:off x="630936" y="1517904"/>
            <a:ext cx="0" cy="329184"/>
          </a:xfrm>
          <a:prstGeom prst="line">
            <a:avLst/>
          </a:prstGeom>
          <a:noFill/>
          <a:ln w="15875">
            <a:solidFill>
              <a:srgbClr val="C9C4E8"/>
            </a:solidFill>
            <a:prstDash val="solid"/>
          </a:ln>
        </p:spPr>
      </p:sp>
      <p:sp>
        <p:nvSpPr>
          <p:cNvPr id="8" name="Shape 6"/>
          <p:cNvSpPr/>
          <p:nvPr/>
        </p:nvSpPr>
        <p:spPr>
          <a:xfrm>
            <a:off x="457200" y="1883664"/>
            <a:ext cx="347472" cy="347472"/>
          </a:xfrm>
          <a:prstGeom prst="ellipse">
            <a:avLst/>
          </a:prstGeom>
          <a:solidFill>
            <a:srgbClr val="5C4AD6"/>
          </a:solidFill>
          <a:ln/>
        </p:spPr>
      </p:sp>
      <p:sp>
        <p:nvSpPr>
          <p:cNvPr id="9" name="Text 7"/>
          <p:cNvSpPr/>
          <p:nvPr/>
        </p:nvSpPr>
        <p:spPr>
          <a:xfrm>
            <a:off x="457200" y="188366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932688" y="1801368"/>
            <a:ext cx="3657600" cy="566928"/>
          </a:xfrm>
          <a:prstGeom prst="rect">
            <a:avLst/>
          </a:prstGeom>
          <a:noFill/>
          <a:ln/>
        </p:spPr>
        <p:txBody>
          <a:bodyPr wrap="square" lIns="254" tIns="254" rIns="254" bIns="254" rtlCol="0" anchor="ctr"/>
          <a:lstStyle/>
          <a:p>
            <a:pPr marL="0" indent="0">
              <a:spcAft>
                <a:spcPts val="200"/>
              </a:spcAft>
              <a:buNone/>
            </a:pPr>
            <a:r>
              <a:rPr lang="en-US" sz="1200" b="1" dirty="0">
                <a:solidFill>
                  <a:srgbClr val="23233F"/>
                </a:solidFill>
                <a:latin typeface="Calibri" pitchFamily="34" charset="0"/>
                <a:ea typeface="Calibri" pitchFamily="34" charset="-122"/>
                <a:cs typeface="Calibri" pitchFamily="34" charset="-120"/>
              </a:rPr>
              <a:t>Firebase issues a short-lived ID token (JWT)</a:t>
            </a:r>
            <a:endParaRPr lang="en-US" sz="1200" dirty="0"/>
          </a:p>
        </p:txBody>
      </p:sp>
      <p:sp>
        <p:nvSpPr>
          <p:cNvPr id="11" name="Shape 9"/>
          <p:cNvSpPr/>
          <p:nvPr/>
        </p:nvSpPr>
        <p:spPr>
          <a:xfrm>
            <a:off x="630936" y="2231136"/>
            <a:ext cx="0" cy="329184"/>
          </a:xfrm>
          <a:prstGeom prst="line">
            <a:avLst/>
          </a:prstGeom>
          <a:noFill/>
          <a:ln w="15875">
            <a:solidFill>
              <a:srgbClr val="C9C4E8"/>
            </a:solidFill>
            <a:prstDash val="solid"/>
          </a:ln>
        </p:spPr>
      </p:sp>
      <p:sp>
        <p:nvSpPr>
          <p:cNvPr id="12" name="Shape 10"/>
          <p:cNvSpPr/>
          <p:nvPr/>
        </p:nvSpPr>
        <p:spPr>
          <a:xfrm>
            <a:off x="457200" y="2596896"/>
            <a:ext cx="347472" cy="347472"/>
          </a:xfrm>
          <a:prstGeom prst="ellipse">
            <a:avLst/>
          </a:prstGeom>
          <a:solidFill>
            <a:srgbClr val="5C4AD6"/>
          </a:solidFill>
          <a:ln/>
        </p:spPr>
      </p:sp>
      <p:sp>
        <p:nvSpPr>
          <p:cNvPr id="13" name="Text 11"/>
          <p:cNvSpPr/>
          <p:nvPr/>
        </p:nvSpPr>
        <p:spPr>
          <a:xfrm>
            <a:off x="457200" y="259689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932688" y="2514600"/>
            <a:ext cx="3657600" cy="566928"/>
          </a:xfrm>
          <a:prstGeom prst="rect">
            <a:avLst/>
          </a:prstGeom>
          <a:noFill/>
          <a:ln/>
        </p:spPr>
        <p:txBody>
          <a:bodyPr wrap="square" lIns="254" tIns="254" rIns="254" bIns="254" rtlCol="0" anchor="ctr"/>
          <a:lstStyle/>
          <a:p>
            <a:pPr marL="0" indent="0">
              <a:spcAft>
                <a:spcPts val="200"/>
              </a:spcAft>
              <a:buNone/>
            </a:pPr>
            <a:r>
              <a:rPr lang="en-US" sz="1200" b="1" dirty="0">
                <a:solidFill>
                  <a:srgbClr val="23233F"/>
                </a:solidFill>
                <a:latin typeface="Calibri" pitchFamily="34" charset="0"/>
                <a:ea typeface="Calibri" pitchFamily="34" charset="-122"/>
                <a:cs typeface="Calibri" pitchFamily="34" charset="-120"/>
              </a:rPr>
              <a:t>Axios attaches Bearer token on every request</a:t>
            </a:r>
            <a:endParaRPr lang="en-US" sz="1200" dirty="0"/>
          </a:p>
        </p:txBody>
      </p:sp>
      <p:sp>
        <p:nvSpPr>
          <p:cNvPr id="15" name="Shape 13"/>
          <p:cNvSpPr/>
          <p:nvPr/>
        </p:nvSpPr>
        <p:spPr>
          <a:xfrm>
            <a:off x="630936" y="2944368"/>
            <a:ext cx="0" cy="329184"/>
          </a:xfrm>
          <a:prstGeom prst="line">
            <a:avLst/>
          </a:prstGeom>
          <a:noFill/>
          <a:ln w="15875">
            <a:solidFill>
              <a:srgbClr val="C9C4E8"/>
            </a:solidFill>
            <a:prstDash val="solid"/>
          </a:ln>
        </p:spPr>
      </p:sp>
      <p:sp>
        <p:nvSpPr>
          <p:cNvPr id="16" name="Shape 14"/>
          <p:cNvSpPr/>
          <p:nvPr/>
        </p:nvSpPr>
        <p:spPr>
          <a:xfrm>
            <a:off x="457200" y="3310128"/>
            <a:ext cx="347472" cy="347472"/>
          </a:xfrm>
          <a:prstGeom prst="ellipse">
            <a:avLst/>
          </a:prstGeom>
          <a:solidFill>
            <a:srgbClr val="5C4AD6"/>
          </a:solidFill>
          <a:ln/>
        </p:spPr>
      </p:sp>
      <p:sp>
        <p:nvSpPr>
          <p:cNvPr id="17" name="Text 15"/>
          <p:cNvSpPr/>
          <p:nvPr/>
        </p:nvSpPr>
        <p:spPr>
          <a:xfrm>
            <a:off x="457200" y="33101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932688" y="3227832"/>
            <a:ext cx="3657600" cy="566928"/>
          </a:xfrm>
          <a:prstGeom prst="rect">
            <a:avLst/>
          </a:prstGeom>
          <a:noFill/>
          <a:ln/>
        </p:spPr>
        <p:txBody>
          <a:bodyPr wrap="square" lIns="254" tIns="254" rIns="254" bIns="254" rtlCol="0" anchor="ctr"/>
          <a:lstStyle/>
          <a:p>
            <a:pPr marL="0" indent="0">
              <a:spcAft>
                <a:spcPts val="200"/>
              </a:spcAft>
              <a:buNone/>
            </a:pPr>
            <a:r>
              <a:rPr lang="en-US" sz="1200" b="1" dirty="0">
                <a:solidFill>
                  <a:srgbClr val="23233F"/>
                </a:solidFill>
                <a:latin typeface="Calibri" pitchFamily="34" charset="0"/>
                <a:ea typeface="Calibri" pitchFamily="34" charset="-122"/>
                <a:cs typeface="Calibri" pitchFamily="34" charset="-120"/>
              </a:rPr>
              <a:t>Server verifies signature via Firebase Admin SDK</a:t>
            </a:r>
            <a:endParaRPr lang="en-US" sz="1200" dirty="0"/>
          </a:p>
        </p:txBody>
      </p:sp>
      <p:sp>
        <p:nvSpPr>
          <p:cNvPr id="19" name="Shape 17"/>
          <p:cNvSpPr/>
          <p:nvPr/>
        </p:nvSpPr>
        <p:spPr>
          <a:xfrm>
            <a:off x="630936" y="3657600"/>
            <a:ext cx="0" cy="329184"/>
          </a:xfrm>
          <a:prstGeom prst="line">
            <a:avLst/>
          </a:prstGeom>
          <a:noFill/>
          <a:ln w="15875">
            <a:solidFill>
              <a:srgbClr val="C9C4E8"/>
            </a:solidFill>
            <a:prstDash val="solid"/>
          </a:ln>
        </p:spPr>
      </p:sp>
      <p:sp>
        <p:nvSpPr>
          <p:cNvPr id="20" name="Shape 18"/>
          <p:cNvSpPr/>
          <p:nvPr/>
        </p:nvSpPr>
        <p:spPr>
          <a:xfrm>
            <a:off x="457200" y="4023360"/>
            <a:ext cx="347472" cy="347472"/>
          </a:xfrm>
          <a:prstGeom prst="ellipse">
            <a:avLst/>
          </a:prstGeom>
          <a:solidFill>
            <a:srgbClr val="5C4AD6"/>
          </a:solidFill>
          <a:ln/>
        </p:spPr>
      </p:sp>
      <p:sp>
        <p:nvSpPr>
          <p:cNvPr id="21" name="Text 19"/>
          <p:cNvSpPr/>
          <p:nvPr/>
        </p:nvSpPr>
        <p:spPr>
          <a:xfrm>
            <a:off x="457200" y="402336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932688" y="3941064"/>
            <a:ext cx="3657600" cy="566928"/>
          </a:xfrm>
          <a:prstGeom prst="rect">
            <a:avLst/>
          </a:prstGeom>
          <a:noFill/>
          <a:ln/>
        </p:spPr>
        <p:txBody>
          <a:bodyPr wrap="square" lIns="254" tIns="254" rIns="254" bIns="254" rtlCol="0" anchor="ctr"/>
          <a:lstStyle/>
          <a:p>
            <a:pPr marL="0" indent="0">
              <a:spcAft>
                <a:spcPts val="200"/>
              </a:spcAft>
              <a:buNone/>
            </a:pPr>
            <a:r>
              <a:rPr lang="en-US" sz="1200" b="1" dirty="0">
                <a:solidFill>
                  <a:srgbClr val="23233F"/>
                </a:solidFill>
                <a:latin typeface="Calibri" pitchFamily="34" charset="0"/>
                <a:ea typeface="Calibri" pitchFamily="34" charset="-122"/>
                <a:cs typeface="Calibri" pitchFamily="34" charset="-120"/>
              </a:rPr>
              <a:t>Mongo user resolved (created / linked by email)</a:t>
            </a:r>
            <a:endParaRPr lang="en-US" sz="1200" dirty="0"/>
          </a:p>
          <a:p>
            <a:pPr marL="0" indent="0">
              <a:spcAft>
                <a:spcPts val="200"/>
              </a:spcAft>
              <a:buNone/>
            </a:pPr>
            <a:r>
              <a:rPr lang="en-US" sz="1000" dirty="0">
                <a:solidFill>
                  <a:srgbClr val="6A6A82"/>
                </a:solidFill>
                <a:latin typeface="Courier New" pitchFamily="34" charset="0"/>
                <a:ea typeface="Courier New" pitchFamily="34" charset="-122"/>
                <a:cs typeface="Courier New" pitchFamily="34" charset="-120"/>
              </a:rPr>
              <a:t>req.user = { uid, mongoId, role }</a:t>
            </a:r>
            <a:endParaRPr lang="en-US" sz="1200" dirty="0"/>
          </a:p>
        </p:txBody>
      </p:sp>
      <p:sp>
        <p:nvSpPr>
          <p:cNvPr id="23" name="Shape 21"/>
          <p:cNvSpPr/>
          <p:nvPr/>
        </p:nvSpPr>
        <p:spPr>
          <a:xfrm>
            <a:off x="4892040" y="1097280"/>
            <a:ext cx="3794760" cy="1024128"/>
          </a:xfrm>
          <a:prstGeom prst="roundRect">
            <a:avLst>
              <a:gd name="adj" fmla="val 6250"/>
            </a:avLst>
          </a:prstGeom>
          <a:solidFill>
            <a:srgbClr val="F1EFFB"/>
          </a:solidFill>
          <a:ln w="9525">
            <a:solidFill>
              <a:srgbClr val="E4E2F0"/>
            </a:solidFill>
            <a:prstDash val="solid"/>
          </a:ln>
          <a:effectLst>
            <a:outerShdw blurRad="88900" dist="25400" dir="2700000" algn="bl" rotWithShape="0">
              <a:srgbClr val="000000">
                <a:alpha val="13000"/>
              </a:srgbClr>
            </a:outerShdw>
          </a:effectLst>
        </p:spPr>
      </p:sp>
      <p:sp>
        <p:nvSpPr>
          <p:cNvPr id="24" name="Shape 22"/>
          <p:cNvSpPr/>
          <p:nvPr/>
        </p:nvSpPr>
        <p:spPr>
          <a:xfrm>
            <a:off x="5093208" y="1371600"/>
            <a:ext cx="475488" cy="475488"/>
          </a:xfrm>
          <a:prstGeom prst="ellipse">
            <a:avLst/>
          </a:prstGeom>
          <a:solidFill>
            <a:srgbClr val="5C4AD6"/>
          </a:solidFill>
          <a:ln/>
        </p:spPr>
      </p:sp>
      <p:pic>
        <p:nvPicPr>
          <p:cNvPr id="25" name="Image 0" descr="preencoded.png"/>
          <p:cNvPicPr>
            <a:picLocks noChangeAspect="1"/>
          </p:cNvPicPr>
          <p:nvPr/>
        </p:nvPicPr>
        <p:blipFill>
          <a:blip r:embed="rId3"/>
          <a:stretch>
            <a:fillRect/>
          </a:stretch>
        </p:blipFill>
        <p:spPr>
          <a:xfrm>
            <a:off x="5216835" y="1495227"/>
            <a:ext cx="228234" cy="228234"/>
          </a:xfrm>
          <a:prstGeom prst="rect">
            <a:avLst/>
          </a:prstGeom>
        </p:spPr>
      </p:pic>
      <p:sp>
        <p:nvSpPr>
          <p:cNvPr id="26" name="Text 23"/>
          <p:cNvSpPr/>
          <p:nvPr/>
        </p:nvSpPr>
        <p:spPr>
          <a:xfrm>
            <a:off x="5715000" y="1170432"/>
            <a:ext cx="2880360" cy="877824"/>
          </a:xfrm>
          <a:prstGeom prst="rect">
            <a:avLst/>
          </a:prstGeom>
          <a:noFill/>
          <a:ln/>
        </p:spPr>
        <p:txBody>
          <a:bodyPr wrap="square" lIns="381" tIns="381" rIns="381" bIns="381" rtlCol="0" anchor="ctr"/>
          <a:lstStyle/>
          <a:p>
            <a:pPr marL="0" indent="0">
              <a:spcAft>
                <a:spcPts val="300"/>
              </a:spcAft>
              <a:buNone/>
            </a:pPr>
            <a:r>
              <a:rPr lang="en-US" sz="1300" b="1" dirty="0">
                <a:solidFill>
                  <a:srgbClr val="23233F"/>
                </a:solidFill>
                <a:latin typeface="Calibri" pitchFamily="34" charset="0"/>
                <a:ea typeface="Calibri" pitchFamily="34" charset="-122"/>
                <a:cs typeface="Calibri" pitchFamily="34" charset="-120"/>
              </a:rPr>
              <a:t>Identity → Firebase</a:t>
            </a:r>
            <a:endParaRPr lang="en-US" sz="1300" dirty="0"/>
          </a:p>
          <a:p>
            <a:pPr marL="0" indent="0">
              <a:spcAft>
                <a:spcPts val="300"/>
              </a:spcAft>
              <a:buNone/>
            </a:pPr>
            <a:r>
              <a:rPr lang="en-US" sz="1000" dirty="0">
                <a:solidFill>
                  <a:srgbClr val="6A6A82"/>
                </a:solidFill>
                <a:latin typeface="Calibri" pitchFamily="34" charset="0"/>
                <a:ea typeface="Calibri" pitchFamily="34" charset="-122"/>
                <a:cs typeface="Calibri" pitchFamily="34" charset="-120"/>
              </a:rPr>
              <a:t>passwords, OAuth, token signing — battle-tested, delegated</a:t>
            </a:r>
            <a:endParaRPr lang="en-US" sz="1300" dirty="0"/>
          </a:p>
        </p:txBody>
      </p:sp>
      <p:sp>
        <p:nvSpPr>
          <p:cNvPr id="27" name="Shape 24"/>
          <p:cNvSpPr/>
          <p:nvPr/>
        </p:nvSpPr>
        <p:spPr>
          <a:xfrm>
            <a:off x="4892040" y="2267712"/>
            <a:ext cx="3794760" cy="1024128"/>
          </a:xfrm>
          <a:prstGeom prst="roundRect">
            <a:avLst>
              <a:gd name="adj" fmla="val 6250"/>
            </a:avLst>
          </a:prstGeom>
          <a:solidFill>
            <a:srgbClr val="EAF7F0"/>
          </a:solidFill>
          <a:ln w="9525">
            <a:solidFill>
              <a:srgbClr val="E4E2F0"/>
            </a:solidFill>
            <a:prstDash val="solid"/>
          </a:ln>
          <a:effectLst>
            <a:outerShdw blurRad="88900" dist="25400" dir="2700000" algn="bl" rotWithShape="0">
              <a:srgbClr val="000000">
                <a:alpha val="13000"/>
              </a:srgbClr>
            </a:outerShdw>
          </a:effectLst>
        </p:spPr>
      </p:sp>
      <p:sp>
        <p:nvSpPr>
          <p:cNvPr id="28" name="Shape 25"/>
          <p:cNvSpPr/>
          <p:nvPr/>
        </p:nvSpPr>
        <p:spPr>
          <a:xfrm>
            <a:off x="5093208" y="2542032"/>
            <a:ext cx="475488" cy="475488"/>
          </a:xfrm>
          <a:prstGeom prst="ellipse">
            <a:avLst/>
          </a:prstGeom>
          <a:solidFill>
            <a:srgbClr val="2BB673"/>
          </a:solidFill>
          <a:ln/>
        </p:spPr>
      </p:sp>
      <p:pic>
        <p:nvPicPr>
          <p:cNvPr id="29" name="Image 1" descr="preencoded.png"/>
          <p:cNvPicPr>
            <a:picLocks noChangeAspect="1"/>
          </p:cNvPicPr>
          <p:nvPr/>
        </p:nvPicPr>
        <p:blipFill>
          <a:blip r:embed="rId4"/>
          <a:stretch>
            <a:fillRect/>
          </a:stretch>
        </p:blipFill>
        <p:spPr>
          <a:xfrm>
            <a:off x="5216835" y="2665659"/>
            <a:ext cx="228234" cy="228234"/>
          </a:xfrm>
          <a:prstGeom prst="rect">
            <a:avLst/>
          </a:prstGeom>
        </p:spPr>
      </p:pic>
      <p:sp>
        <p:nvSpPr>
          <p:cNvPr id="30" name="Text 26"/>
          <p:cNvSpPr/>
          <p:nvPr/>
        </p:nvSpPr>
        <p:spPr>
          <a:xfrm>
            <a:off x="5715000" y="2340864"/>
            <a:ext cx="2880360" cy="877824"/>
          </a:xfrm>
          <a:prstGeom prst="rect">
            <a:avLst/>
          </a:prstGeom>
          <a:noFill/>
          <a:ln/>
        </p:spPr>
        <p:txBody>
          <a:bodyPr wrap="square" lIns="381" tIns="381" rIns="381" bIns="381" rtlCol="0" anchor="ctr"/>
          <a:lstStyle/>
          <a:p>
            <a:pPr marL="0" indent="0">
              <a:spcAft>
                <a:spcPts val="300"/>
              </a:spcAft>
              <a:buNone/>
            </a:pPr>
            <a:r>
              <a:rPr lang="en-US" sz="1300" b="1" dirty="0">
                <a:solidFill>
                  <a:srgbClr val="23233F"/>
                </a:solidFill>
                <a:latin typeface="Calibri" pitchFamily="34" charset="0"/>
                <a:ea typeface="Calibri" pitchFamily="34" charset="-122"/>
                <a:cs typeface="Calibri" pitchFamily="34" charset="-120"/>
              </a:rPr>
              <a:t>Authorization → MongoDB</a:t>
            </a:r>
            <a:endParaRPr lang="en-US" sz="1300" dirty="0"/>
          </a:p>
          <a:p>
            <a:pPr marL="0" indent="0">
              <a:spcAft>
                <a:spcPts val="300"/>
              </a:spcAft>
              <a:buNone/>
            </a:pPr>
            <a:r>
              <a:rPr lang="en-US" sz="1000" dirty="0">
                <a:solidFill>
                  <a:srgbClr val="6A6A82"/>
                </a:solidFill>
                <a:latin typeface="Calibri" pitchFamily="34" charset="0"/>
                <a:ea typeface="Calibri" pitchFamily="34" charset="-122"/>
                <a:cs typeface="Calibri" pitchFamily="34" charset="-120"/>
              </a:rPr>
              <a:t>role: 'user' | 'admin' on the User document — domain data stays in the domain</a:t>
            </a:r>
            <a:endParaRPr lang="en-US" sz="1300" dirty="0"/>
          </a:p>
        </p:txBody>
      </p:sp>
      <p:sp>
        <p:nvSpPr>
          <p:cNvPr id="31" name="Text 27"/>
          <p:cNvSpPr/>
          <p:nvPr/>
        </p:nvSpPr>
        <p:spPr>
          <a:xfrm>
            <a:off x="4892040" y="3456432"/>
            <a:ext cx="3794760" cy="274320"/>
          </a:xfrm>
          <a:prstGeom prst="rect">
            <a:avLst/>
          </a:prstGeom>
          <a:noFill/>
          <a:ln/>
        </p:spPr>
        <p:txBody>
          <a:bodyPr wrap="square" lIns="0" tIns="0" rIns="0" bIns="0" rtlCol="0" anchor="ctr"/>
          <a:lstStyle/>
          <a:p>
            <a:pPr marL="0" indent="0">
              <a:buNone/>
            </a:pPr>
            <a:r>
              <a:rPr lang="en-US" sz="1200" b="1" dirty="0">
                <a:solidFill>
                  <a:srgbClr val="23233F"/>
                </a:solidFill>
                <a:latin typeface="Calibri" pitchFamily="34" charset="0"/>
                <a:ea typeface="Calibri" pitchFamily="34" charset="-122"/>
                <a:cs typeface="Calibri" pitchFamily="34" charset="-120"/>
              </a:rPr>
              <a:t>Three middleware tiers</a:t>
            </a:r>
            <a:endParaRPr lang="en-US" sz="1200" dirty="0"/>
          </a:p>
        </p:txBody>
      </p:sp>
      <p:sp>
        <p:nvSpPr>
          <p:cNvPr id="32" name="Shape 28"/>
          <p:cNvSpPr/>
          <p:nvPr/>
        </p:nvSpPr>
        <p:spPr>
          <a:xfrm>
            <a:off x="4892040" y="3767328"/>
            <a:ext cx="1691640" cy="310896"/>
          </a:xfrm>
          <a:prstGeom prst="roundRect">
            <a:avLst>
              <a:gd name="adj" fmla="val 50000"/>
            </a:avLst>
          </a:prstGeom>
          <a:solidFill>
            <a:srgbClr val="8E8AB8"/>
          </a:solidFill>
          <a:ln/>
        </p:spPr>
      </p:sp>
      <p:sp>
        <p:nvSpPr>
          <p:cNvPr id="33" name="Text 29"/>
          <p:cNvSpPr/>
          <p:nvPr/>
        </p:nvSpPr>
        <p:spPr>
          <a:xfrm>
            <a:off x="4892040" y="3767328"/>
            <a:ext cx="16916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ourier New" pitchFamily="34" charset="0"/>
                <a:ea typeface="Courier New" pitchFamily="34" charset="-122"/>
                <a:cs typeface="Courier New" pitchFamily="34" charset="-120"/>
              </a:rPr>
              <a:t>attachUserIfPresent</a:t>
            </a:r>
            <a:endParaRPr lang="en-US" sz="900" dirty="0"/>
          </a:p>
        </p:txBody>
      </p:sp>
      <p:sp>
        <p:nvSpPr>
          <p:cNvPr id="34" name="Text 30"/>
          <p:cNvSpPr/>
          <p:nvPr/>
        </p:nvSpPr>
        <p:spPr>
          <a:xfrm>
            <a:off x="6675120" y="3767328"/>
            <a:ext cx="2103120" cy="310896"/>
          </a:xfrm>
          <a:prstGeom prst="rect">
            <a:avLst/>
          </a:prstGeom>
          <a:noFill/>
          <a:ln/>
        </p:spPr>
        <p:txBody>
          <a:bodyPr wrap="square" lIns="254" tIns="254" rIns="254" bIns="254" rtlCol="0" anchor="ctr"/>
          <a:lstStyle/>
          <a:p>
            <a:pPr marL="0" indent="0">
              <a:buNone/>
            </a:pPr>
            <a:r>
              <a:rPr lang="en-US" sz="950" dirty="0">
                <a:solidFill>
                  <a:srgbClr val="6A6A82"/>
                </a:solidFill>
                <a:latin typeface="Calibri" pitchFamily="34" charset="0"/>
                <a:ea typeface="Calibri" pitchFamily="34" charset="-122"/>
                <a:cs typeface="Calibri" pitchFamily="34" charset="-120"/>
              </a:rPr>
              <a:t>optional — personalizes, never blocks</a:t>
            </a:r>
            <a:endParaRPr lang="en-US" sz="950" dirty="0"/>
          </a:p>
        </p:txBody>
      </p:sp>
      <p:sp>
        <p:nvSpPr>
          <p:cNvPr id="35" name="Shape 31"/>
          <p:cNvSpPr/>
          <p:nvPr/>
        </p:nvSpPr>
        <p:spPr>
          <a:xfrm>
            <a:off x="4892040" y="4151376"/>
            <a:ext cx="1691640" cy="310896"/>
          </a:xfrm>
          <a:prstGeom prst="roundRect">
            <a:avLst>
              <a:gd name="adj" fmla="val 50000"/>
            </a:avLst>
          </a:prstGeom>
          <a:solidFill>
            <a:srgbClr val="5C4AD6"/>
          </a:solidFill>
          <a:ln/>
        </p:spPr>
      </p:sp>
      <p:sp>
        <p:nvSpPr>
          <p:cNvPr id="36" name="Text 32"/>
          <p:cNvSpPr/>
          <p:nvPr/>
        </p:nvSpPr>
        <p:spPr>
          <a:xfrm>
            <a:off x="4892040" y="4151376"/>
            <a:ext cx="16916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ourier New" pitchFamily="34" charset="0"/>
                <a:ea typeface="Courier New" pitchFamily="34" charset="-122"/>
                <a:cs typeface="Courier New" pitchFamily="34" charset="-120"/>
              </a:rPr>
              <a:t>verifyFirebaseToken</a:t>
            </a:r>
            <a:endParaRPr lang="en-US" sz="900" dirty="0"/>
          </a:p>
        </p:txBody>
      </p:sp>
      <p:sp>
        <p:nvSpPr>
          <p:cNvPr id="37" name="Text 33"/>
          <p:cNvSpPr/>
          <p:nvPr/>
        </p:nvSpPr>
        <p:spPr>
          <a:xfrm>
            <a:off x="6675120" y="4151376"/>
            <a:ext cx="2103120" cy="310896"/>
          </a:xfrm>
          <a:prstGeom prst="rect">
            <a:avLst/>
          </a:prstGeom>
          <a:noFill/>
          <a:ln/>
        </p:spPr>
        <p:txBody>
          <a:bodyPr wrap="square" lIns="254" tIns="254" rIns="254" bIns="254" rtlCol="0" anchor="ctr"/>
          <a:lstStyle/>
          <a:p>
            <a:pPr marL="0" indent="0">
              <a:buNone/>
            </a:pPr>
            <a:r>
              <a:rPr lang="en-US" sz="950" dirty="0">
                <a:solidFill>
                  <a:srgbClr val="6A6A82"/>
                </a:solidFill>
                <a:latin typeface="Calibri" pitchFamily="34" charset="0"/>
                <a:ea typeface="Calibri" pitchFamily="34" charset="-122"/>
                <a:cs typeface="Calibri" pitchFamily="34" charset="-120"/>
              </a:rPr>
              <a:t>user — 401 without a valid token</a:t>
            </a:r>
            <a:endParaRPr lang="en-US" sz="950" dirty="0"/>
          </a:p>
        </p:txBody>
      </p:sp>
      <p:sp>
        <p:nvSpPr>
          <p:cNvPr id="38" name="Shape 34"/>
          <p:cNvSpPr/>
          <p:nvPr/>
        </p:nvSpPr>
        <p:spPr>
          <a:xfrm>
            <a:off x="4892040" y="4535424"/>
            <a:ext cx="1691640" cy="310896"/>
          </a:xfrm>
          <a:prstGeom prst="roundRect">
            <a:avLst>
              <a:gd name="adj" fmla="val 50000"/>
            </a:avLst>
          </a:prstGeom>
          <a:solidFill>
            <a:srgbClr val="23233F"/>
          </a:solidFill>
          <a:ln/>
        </p:spPr>
      </p:sp>
      <p:sp>
        <p:nvSpPr>
          <p:cNvPr id="39" name="Text 35"/>
          <p:cNvSpPr/>
          <p:nvPr/>
        </p:nvSpPr>
        <p:spPr>
          <a:xfrm>
            <a:off x="4892040" y="4535424"/>
            <a:ext cx="169164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ourier New" pitchFamily="34" charset="0"/>
                <a:ea typeface="Courier New" pitchFamily="34" charset="-122"/>
                <a:cs typeface="Courier New" pitchFamily="34" charset="-120"/>
              </a:rPr>
              <a:t>+ requireAdmin</a:t>
            </a:r>
            <a:endParaRPr lang="en-US" sz="900" dirty="0"/>
          </a:p>
        </p:txBody>
      </p:sp>
      <p:sp>
        <p:nvSpPr>
          <p:cNvPr id="40" name="Text 36"/>
          <p:cNvSpPr/>
          <p:nvPr/>
        </p:nvSpPr>
        <p:spPr>
          <a:xfrm>
            <a:off x="6675120" y="4535424"/>
            <a:ext cx="2103120" cy="310896"/>
          </a:xfrm>
          <a:prstGeom prst="rect">
            <a:avLst/>
          </a:prstGeom>
          <a:noFill/>
          <a:ln/>
        </p:spPr>
        <p:txBody>
          <a:bodyPr wrap="square" lIns="254" tIns="254" rIns="254" bIns="254" rtlCol="0" anchor="ctr"/>
          <a:lstStyle/>
          <a:p>
            <a:pPr marL="0" indent="0">
              <a:buNone/>
            </a:pPr>
            <a:r>
              <a:rPr lang="en-US" sz="950" dirty="0">
                <a:solidFill>
                  <a:srgbClr val="6A6A82"/>
                </a:solidFill>
                <a:latin typeface="Calibri" pitchFamily="34" charset="0"/>
                <a:ea typeface="Calibri" pitchFamily="34" charset="-122"/>
                <a:cs typeface="Calibri" pitchFamily="34" charset="-120"/>
              </a:rPr>
              <a:t>admin — applied at router level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IMPLEMENTATION · FLAGSHIP</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The Overselling Problem</a:t>
            </a:r>
            <a:endParaRPr lang="en-US" sz="2800" dirty="0"/>
          </a:p>
        </p:txBody>
      </p:sp>
      <p:sp>
        <p:nvSpPr>
          <p:cNvPr id="4" name="Shape 2"/>
          <p:cNvSpPr/>
          <p:nvPr/>
        </p:nvSpPr>
        <p:spPr>
          <a:xfrm>
            <a:off x="457200" y="1051560"/>
            <a:ext cx="3977640" cy="2286000"/>
          </a:xfrm>
          <a:prstGeom prst="roundRect">
            <a:avLst>
              <a:gd name="adj" fmla="val 2800"/>
            </a:avLst>
          </a:prstGeom>
          <a:solidFill>
            <a:srgbClr val="FDF3F3"/>
          </a:solidFill>
          <a:ln w="9525">
            <a:solidFill>
              <a:srgbClr val="E4E2F0"/>
            </a:solidFill>
            <a:prstDash val="solid"/>
          </a:ln>
          <a:effectLst>
            <a:outerShdw blurRad="88900" dist="25400" dir="2700000" algn="bl" rotWithShape="0">
              <a:srgbClr val="000000">
                <a:alpha val="13000"/>
              </a:srgbClr>
            </a:outerShdw>
          </a:effectLst>
        </p:spPr>
      </p:sp>
      <p:sp>
        <p:nvSpPr>
          <p:cNvPr id="5" name="Text 3"/>
          <p:cNvSpPr/>
          <p:nvPr/>
        </p:nvSpPr>
        <p:spPr>
          <a:xfrm>
            <a:off x="685800" y="1188720"/>
            <a:ext cx="3566160" cy="292608"/>
          </a:xfrm>
          <a:prstGeom prst="rect">
            <a:avLst/>
          </a:prstGeom>
          <a:noFill/>
          <a:ln/>
        </p:spPr>
        <p:txBody>
          <a:bodyPr wrap="square" lIns="0" tIns="0" rIns="0" bIns="0" rtlCol="0" anchor="ctr"/>
          <a:lstStyle/>
          <a:p>
            <a:pPr marL="0" indent="0">
              <a:buNone/>
            </a:pPr>
            <a:r>
              <a:rPr lang="en-US" sz="1350" b="1" dirty="0">
                <a:solidFill>
                  <a:srgbClr val="D64545"/>
                </a:solidFill>
                <a:latin typeface="Calibri" pitchFamily="34" charset="0"/>
                <a:ea typeface="Calibri" pitchFamily="34" charset="-122"/>
                <a:cs typeface="Calibri" pitchFamily="34" charset="-120"/>
              </a:rPr>
              <a:t>Naive checkout is broken</a:t>
            </a:r>
            <a:endParaRPr lang="en-US" sz="1350" dirty="0"/>
          </a:p>
        </p:txBody>
      </p:sp>
      <p:pic>
        <p:nvPicPr>
          <p:cNvPr id="6" name="Image 0" descr="preencoded.png"/>
          <p:cNvPicPr>
            <a:picLocks noChangeAspect="1"/>
          </p:cNvPicPr>
          <p:nvPr/>
        </p:nvPicPr>
        <p:blipFill>
          <a:blip r:embed="rId3"/>
          <a:stretch>
            <a:fillRect/>
          </a:stretch>
        </p:blipFill>
        <p:spPr>
          <a:xfrm>
            <a:off x="868680" y="1627632"/>
            <a:ext cx="411480" cy="411480"/>
          </a:xfrm>
          <a:prstGeom prst="rect">
            <a:avLst/>
          </a:prstGeom>
        </p:spPr>
      </p:pic>
      <p:pic>
        <p:nvPicPr>
          <p:cNvPr id="7" name="Image 1" descr="preencoded.png"/>
          <p:cNvPicPr>
            <a:picLocks noChangeAspect="1"/>
          </p:cNvPicPr>
          <p:nvPr/>
        </p:nvPicPr>
        <p:blipFill>
          <a:blip r:embed="rId3"/>
          <a:stretch>
            <a:fillRect/>
          </a:stretch>
        </p:blipFill>
        <p:spPr>
          <a:xfrm>
            <a:off x="868680" y="2148840"/>
            <a:ext cx="411480" cy="411480"/>
          </a:xfrm>
          <a:prstGeom prst="rect">
            <a:avLst/>
          </a:prstGeom>
        </p:spPr>
      </p:pic>
      <p:sp>
        <p:nvSpPr>
          <p:cNvPr id="8" name="Text 4"/>
          <p:cNvSpPr/>
          <p:nvPr/>
        </p:nvSpPr>
        <p:spPr>
          <a:xfrm>
            <a:off x="1417320" y="1572768"/>
            <a:ext cx="2834640" cy="1005840"/>
          </a:xfrm>
          <a:prstGeom prst="rect">
            <a:avLst/>
          </a:prstGeom>
          <a:noFill/>
          <a:ln/>
        </p:spPr>
        <p:txBody>
          <a:bodyPr wrap="square" lIns="0" tIns="0" rIns="0" bIns="0" rtlCol="0" anchor="ctr"/>
          <a:lstStyle/>
          <a:p>
            <a:pPr marL="0" indent="0">
              <a:spcAft>
                <a:spcPts val="1600"/>
              </a:spcAft>
              <a:buNone/>
            </a:pPr>
            <a:r>
              <a:rPr lang="en-US" sz="1100" dirty="0">
                <a:solidFill>
                  <a:srgbClr val="23233F"/>
                </a:solidFill>
                <a:latin typeface="Calibri" pitchFamily="34" charset="0"/>
                <a:ea typeface="Calibri" pitchFamily="34" charset="-122"/>
                <a:cs typeface="Calibri" pitchFamily="34" charset="-120"/>
              </a:rPr>
              <a:t>Shopper A reads stock = 1  → decrements</a:t>
            </a:r>
            <a:endParaRPr lang="en-US" sz="1100" dirty="0"/>
          </a:p>
          <a:p>
            <a:pPr marL="0" indent="0">
              <a:spcAft>
                <a:spcPts val="1600"/>
              </a:spcAft>
              <a:buNone/>
            </a:pPr>
            <a:r>
              <a:rPr lang="en-US" sz="1100" dirty="0">
                <a:solidFill>
                  <a:srgbClr val="23233F"/>
                </a:solidFill>
                <a:latin typeface="Calibri" pitchFamily="34" charset="0"/>
                <a:ea typeface="Calibri" pitchFamily="34" charset="-122"/>
                <a:cs typeface="Calibri" pitchFamily="34" charset="-120"/>
              </a:rPr>
              <a:t>Shopper B reads stock = 1  → decrements</a:t>
            </a:r>
            <a:endParaRPr lang="en-US" sz="1100" dirty="0"/>
          </a:p>
        </p:txBody>
      </p:sp>
      <p:pic>
        <p:nvPicPr>
          <p:cNvPr id="9" name="Image 2" descr="preencoded.png"/>
          <p:cNvPicPr>
            <a:picLocks noChangeAspect="1"/>
          </p:cNvPicPr>
          <p:nvPr/>
        </p:nvPicPr>
        <p:blipFill>
          <a:blip r:embed="rId4"/>
          <a:stretch>
            <a:fillRect/>
          </a:stretch>
        </p:blipFill>
        <p:spPr>
          <a:xfrm>
            <a:off x="868680" y="2761488"/>
            <a:ext cx="365760" cy="365760"/>
          </a:xfrm>
          <a:prstGeom prst="rect">
            <a:avLst/>
          </a:prstGeom>
        </p:spPr>
      </p:pic>
      <p:sp>
        <p:nvSpPr>
          <p:cNvPr id="10" name="Text 5"/>
          <p:cNvSpPr/>
          <p:nvPr/>
        </p:nvSpPr>
        <p:spPr>
          <a:xfrm>
            <a:off x="1371600" y="2724912"/>
            <a:ext cx="2926080" cy="457200"/>
          </a:xfrm>
          <a:prstGeom prst="rect">
            <a:avLst/>
          </a:prstGeom>
          <a:noFill/>
          <a:ln/>
        </p:spPr>
        <p:txBody>
          <a:bodyPr wrap="square" lIns="0" tIns="0" rIns="0" bIns="0" rtlCol="0" anchor="ctr"/>
          <a:lstStyle/>
          <a:p>
            <a:r>
              <a:rPr lang="en-US" sz="1150" b="1">
                <a:solidFill>
                  <a:srgbClr val="D64545"/>
                </a:solidFill>
                <a:latin typeface="Calibri"/>
                <a:ea typeface="Calibri"/>
                <a:cs typeface="Calibri"/>
              </a:rPr>
              <a:t>2 copies sold, 1 existed.  </a:t>
            </a:r>
            <a:r>
              <a:rPr lang="en-US" sz="1050">
                <a:solidFill>
                  <a:srgbClr val="6A6A82"/>
                </a:solidFill>
                <a:latin typeface="Calibri"/>
                <a:ea typeface="Calibri"/>
                <a:cs typeface="Calibri"/>
              </a:rPr>
              <a:t>Check and write are separate steps (TOCTOU </a:t>
            </a:r>
            <a:r>
              <a:rPr lang="en-US" sz="1100">
                <a:solidFill>
                  <a:srgbClr val="6A6A82"/>
                </a:solidFill>
                <a:latin typeface="Calibri"/>
                <a:ea typeface="Calibri"/>
                <a:cs typeface="Calibri"/>
              </a:rPr>
              <a:t>race </a:t>
            </a:r>
            <a:r>
              <a:rPr lang="en-US" sz="1050">
                <a:solidFill>
                  <a:srgbClr val="6A6A82"/>
                </a:solidFill>
                <a:latin typeface="Calibri"/>
                <a:ea typeface="Calibri"/>
                <a:cs typeface="Calibri"/>
              </a:rPr>
              <a:t>"</a:t>
            </a:r>
            <a:r>
              <a:rPr lang="en-US" sz="1050">
                <a:solidFill>
                  <a:srgbClr val="6A6A82"/>
                </a:solidFill>
                <a:ea typeface="+mn-lt"/>
                <a:cs typeface="+mn-lt"/>
              </a:rPr>
              <a:t>Time-of-Check to Time-of-Use</a:t>
            </a:r>
            <a:r>
              <a:rPr lang="en-US" sz="1050">
                <a:solidFill>
                  <a:srgbClr val="6A6A82"/>
                </a:solidFill>
                <a:latin typeface="Calibri"/>
                <a:ea typeface="Calibri"/>
                <a:cs typeface="Calibri"/>
              </a:rPr>
              <a:t>").</a:t>
            </a:r>
            <a:endParaRPr lang="en-US" sz="1150">
              <a:latin typeface="Calibri"/>
              <a:ea typeface="Calibri"/>
              <a:cs typeface="Calibri"/>
            </a:endParaRPr>
          </a:p>
        </p:txBody>
      </p:sp>
      <p:sp>
        <p:nvSpPr>
          <p:cNvPr id="11" name="Shape 6"/>
          <p:cNvSpPr/>
          <p:nvPr/>
        </p:nvSpPr>
        <p:spPr>
          <a:xfrm>
            <a:off x="4752703" y="1008017"/>
            <a:ext cx="3977640" cy="2286000"/>
          </a:xfrm>
          <a:prstGeom prst="roundRect">
            <a:avLst>
              <a:gd name="adj" fmla="val 2800"/>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12" name="Text 7"/>
          <p:cNvSpPr/>
          <p:nvPr/>
        </p:nvSpPr>
        <p:spPr>
          <a:xfrm>
            <a:off x="4937760" y="1188720"/>
            <a:ext cx="3566160" cy="292608"/>
          </a:xfrm>
          <a:prstGeom prst="rect">
            <a:avLst/>
          </a:prstGeom>
          <a:noFill/>
          <a:ln/>
        </p:spPr>
        <p:txBody>
          <a:bodyPr wrap="square" lIns="0" tIns="0" rIns="0" bIns="0" rtlCol="0" anchor="ctr"/>
          <a:lstStyle/>
          <a:p>
            <a:pPr marL="0" indent="0">
              <a:buNone/>
            </a:pPr>
            <a:r>
              <a:rPr lang="en-US" sz="1350" b="1" dirty="0">
                <a:solidFill>
                  <a:srgbClr val="23233F"/>
                </a:solidFill>
                <a:latin typeface="Calibri" pitchFamily="34" charset="0"/>
                <a:ea typeface="Calibri" pitchFamily="34" charset="-122"/>
                <a:cs typeface="Calibri" pitchFamily="34" charset="-120"/>
              </a:rPr>
              <a:t>Our model: reserve, don't sell</a:t>
            </a:r>
            <a:endParaRPr lang="en-US" sz="1350" dirty="0"/>
          </a:p>
        </p:txBody>
      </p:sp>
      <p:sp>
        <p:nvSpPr>
          <p:cNvPr id="13" name="Text 8"/>
          <p:cNvSpPr/>
          <p:nvPr/>
        </p:nvSpPr>
        <p:spPr>
          <a:xfrm>
            <a:off x="4937760" y="1554480"/>
            <a:ext cx="3520440" cy="384048"/>
          </a:xfrm>
          <a:prstGeom prst="rect">
            <a:avLst/>
          </a:prstGeom>
          <a:solidFill>
            <a:srgbClr val="F1EFFB"/>
          </a:solidFill>
          <a:ln/>
        </p:spPr>
        <p:txBody>
          <a:bodyPr wrap="square" lIns="0" tIns="0" rIns="0" bIns="0" rtlCol="0" anchor="ctr"/>
          <a:lstStyle/>
          <a:p>
            <a:pPr marL="0" indent="0" algn="ctr">
              <a:buNone/>
            </a:pPr>
            <a:r>
              <a:rPr lang="en-US" sz="1300" b="1" dirty="0">
                <a:solidFill>
                  <a:srgbClr val="5C4AD6"/>
                </a:solidFill>
                <a:latin typeface="Courier New" pitchFamily="34" charset="0"/>
                <a:ea typeface="Courier New" pitchFamily="34" charset="-122"/>
                <a:cs typeface="Courier New" pitchFamily="34" charset="-120"/>
              </a:rPr>
              <a:t>available = stock − reservedStock</a:t>
            </a:r>
            <a:endParaRPr lang="en-US" sz="1300" dirty="0"/>
          </a:p>
        </p:txBody>
      </p:sp>
      <p:sp>
        <p:nvSpPr>
          <p:cNvPr id="14" name="Shape 9"/>
          <p:cNvSpPr/>
          <p:nvPr/>
        </p:nvSpPr>
        <p:spPr>
          <a:xfrm>
            <a:off x="4983480" y="2148840"/>
            <a:ext cx="1234440" cy="457200"/>
          </a:xfrm>
          <a:prstGeom prst="roundRect">
            <a:avLst>
              <a:gd name="adj" fmla="val 12000"/>
            </a:avLst>
          </a:prstGeom>
          <a:solidFill>
            <a:srgbClr val="5C4AD6"/>
          </a:solidFill>
          <a:ln w="12700">
            <a:solidFill>
              <a:srgbClr val="5C4AD6"/>
            </a:solidFill>
            <a:prstDash val="solid"/>
          </a:ln>
          <a:effectLst>
            <a:outerShdw blurRad="88900" dist="25400" dir="2700000" algn="bl" rotWithShape="0">
              <a:srgbClr val="000000">
                <a:alpha val="13000"/>
              </a:srgbClr>
            </a:outerShdw>
          </a:effectLst>
        </p:spPr>
      </p:sp>
      <p:sp>
        <p:nvSpPr>
          <p:cNvPr id="15" name="Text 10"/>
          <p:cNvSpPr/>
          <p:nvPr/>
        </p:nvSpPr>
        <p:spPr>
          <a:xfrm>
            <a:off x="4983480" y="2148840"/>
            <a:ext cx="1234440" cy="457200"/>
          </a:xfrm>
          <a:prstGeom prst="rect">
            <a:avLst/>
          </a:prstGeom>
          <a:noFill/>
          <a:ln/>
        </p:spPr>
        <p:txBody>
          <a:bodyPr wrap="square" lIns="508" tIns="508" rIns="508" bIns="508"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active</a:t>
            </a:r>
            <a:endParaRPr lang="en-US" sz="1250" dirty="0"/>
          </a:p>
        </p:txBody>
      </p:sp>
      <p:sp>
        <p:nvSpPr>
          <p:cNvPr id="16" name="Shape 11"/>
          <p:cNvSpPr/>
          <p:nvPr/>
        </p:nvSpPr>
        <p:spPr>
          <a:xfrm>
            <a:off x="7269480" y="1938528"/>
            <a:ext cx="1234440" cy="402336"/>
          </a:xfrm>
          <a:prstGeom prst="roundRect">
            <a:avLst>
              <a:gd name="adj" fmla="val 13636"/>
            </a:avLst>
          </a:prstGeom>
          <a:solidFill>
            <a:srgbClr val="2BB673"/>
          </a:solidFill>
          <a:ln w="12700">
            <a:solidFill>
              <a:srgbClr val="2BB673"/>
            </a:solidFill>
            <a:prstDash val="solid"/>
          </a:ln>
          <a:effectLst>
            <a:outerShdw blurRad="88900" dist="25400" dir="2700000" algn="bl" rotWithShape="0">
              <a:srgbClr val="000000">
                <a:alpha val="13000"/>
              </a:srgbClr>
            </a:outerShdw>
          </a:effectLst>
        </p:spPr>
      </p:sp>
      <p:sp>
        <p:nvSpPr>
          <p:cNvPr id="17" name="Text 12"/>
          <p:cNvSpPr/>
          <p:nvPr/>
        </p:nvSpPr>
        <p:spPr>
          <a:xfrm>
            <a:off x="7269480" y="1938528"/>
            <a:ext cx="1234440" cy="402336"/>
          </a:xfrm>
          <a:prstGeom prst="rect">
            <a:avLst/>
          </a:prstGeom>
          <a:noFill/>
          <a:ln/>
        </p:spPr>
        <p:txBody>
          <a:bodyPr wrap="square" lIns="508" tIns="508" rIns="508" bIns="508"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completed</a:t>
            </a:r>
            <a:endParaRPr lang="en-US" sz="1250" dirty="0"/>
          </a:p>
        </p:txBody>
      </p:sp>
      <p:sp>
        <p:nvSpPr>
          <p:cNvPr id="18" name="Shape 13"/>
          <p:cNvSpPr/>
          <p:nvPr/>
        </p:nvSpPr>
        <p:spPr>
          <a:xfrm>
            <a:off x="7269480" y="2670048"/>
            <a:ext cx="1234440" cy="402336"/>
          </a:xfrm>
          <a:prstGeom prst="roundRect">
            <a:avLst>
              <a:gd name="adj" fmla="val 13636"/>
            </a:avLst>
          </a:prstGeom>
          <a:solidFill>
            <a:srgbClr val="8E8AB8"/>
          </a:solidFill>
          <a:ln w="12700">
            <a:solidFill>
              <a:srgbClr val="8E8AB8"/>
            </a:solidFill>
            <a:prstDash val="solid"/>
          </a:ln>
          <a:effectLst>
            <a:outerShdw blurRad="88900" dist="25400" dir="2700000" algn="bl" rotWithShape="0">
              <a:srgbClr val="000000">
                <a:alpha val="13000"/>
              </a:srgbClr>
            </a:outerShdw>
          </a:effectLst>
        </p:spPr>
      </p:sp>
      <p:sp>
        <p:nvSpPr>
          <p:cNvPr id="19" name="Text 14"/>
          <p:cNvSpPr/>
          <p:nvPr/>
        </p:nvSpPr>
        <p:spPr>
          <a:xfrm>
            <a:off x="7269480" y="2670048"/>
            <a:ext cx="1234440" cy="402336"/>
          </a:xfrm>
          <a:prstGeom prst="rect">
            <a:avLst/>
          </a:prstGeom>
          <a:noFill/>
          <a:ln/>
        </p:spPr>
        <p:txBody>
          <a:bodyPr wrap="square" lIns="508" tIns="508" rIns="508" bIns="508"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expired</a:t>
            </a:r>
            <a:endParaRPr lang="en-US" sz="1250" dirty="0"/>
          </a:p>
        </p:txBody>
      </p:sp>
      <p:sp>
        <p:nvSpPr>
          <p:cNvPr id="20" name="Shape 15"/>
          <p:cNvSpPr/>
          <p:nvPr/>
        </p:nvSpPr>
        <p:spPr>
          <a:xfrm>
            <a:off x="6236208" y="2286000"/>
            <a:ext cx="1005840" cy="0"/>
          </a:xfrm>
          <a:prstGeom prst="line">
            <a:avLst/>
          </a:prstGeom>
          <a:noFill/>
          <a:ln w="19050">
            <a:solidFill>
              <a:srgbClr val="23233F"/>
            </a:solidFill>
            <a:prstDash val="solid"/>
            <a:tailEnd type="triangle"/>
          </a:ln>
        </p:spPr>
      </p:sp>
      <p:sp>
        <p:nvSpPr>
          <p:cNvPr id="21" name="Shape 16"/>
          <p:cNvSpPr/>
          <p:nvPr/>
        </p:nvSpPr>
        <p:spPr>
          <a:xfrm>
            <a:off x="6236208" y="2468880"/>
            <a:ext cx="1005840" cy="365760"/>
          </a:xfrm>
          <a:prstGeom prst="line">
            <a:avLst/>
          </a:prstGeom>
          <a:noFill/>
          <a:ln w="19050">
            <a:solidFill>
              <a:srgbClr val="23233F"/>
            </a:solidFill>
            <a:prstDash val="solid"/>
            <a:tailEnd type="triangle"/>
          </a:ln>
        </p:spPr>
      </p:sp>
      <p:sp>
        <p:nvSpPr>
          <p:cNvPr id="22" name="Text 17"/>
          <p:cNvSpPr/>
          <p:nvPr/>
        </p:nvSpPr>
        <p:spPr>
          <a:xfrm>
            <a:off x="6501384" y="2030621"/>
            <a:ext cx="914400" cy="219456"/>
          </a:xfrm>
          <a:prstGeom prst="rect">
            <a:avLst/>
          </a:prstGeom>
          <a:noFill/>
          <a:ln/>
        </p:spPr>
        <p:txBody>
          <a:bodyPr wrap="square" lIns="0" tIns="0" rIns="0" bIns="0" rtlCol="0" anchor="ctr"/>
          <a:lstStyle/>
          <a:p>
            <a:pPr marL="0" indent="0">
              <a:buNone/>
            </a:pPr>
            <a:r>
              <a:rPr lang="en-US" sz="850" dirty="0">
                <a:solidFill>
                  <a:srgbClr val="6A6A82"/>
                </a:solidFill>
                <a:latin typeface="Calibri" pitchFamily="34" charset="0"/>
                <a:ea typeface="Calibri" pitchFamily="34" charset="-122"/>
                <a:cs typeface="Calibri" pitchFamily="34" charset="-120"/>
              </a:rPr>
              <a:t>checkout</a:t>
            </a:r>
            <a:endParaRPr lang="en-US" sz="850" dirty="0"/>
          </a:p>
        </p:txBody>
      </p:sp>
      <p:sp>
        <p:nvSpPr>
          <p:cNvPr id="23" name="Text 18"/>
          <p:cNvSpPr/>
          <p:nvPr/>
        </p:nvSpPr>
        <p:spPr>
          <a:xfrm rot="1380000">
            <a:off x="6434546" y="2734274"/>
            <a:ext cx="822960" cy="219456"/>
          </a:xfrm>
          <a:prstGeom prst="rect">
            <a:avLst/>
          </a:prstGeom>
          <a:noFill/>
          <a:ln/>
        </p:spPr>
        <p:txBody>
          <a:bodyPr wrap="square" lIns="0" tIns="0" rIns="0" bIns="0" rtlCol="0" anchor="ctr"/>
          <a:lstStyle/>
          <a:p>
            <a:pPr marL="0" indent="0">
              <a:buNone/>
            </a:pPr>
            <a:r>
              <a:rPr lang="en-US" sz="850" dirty="0">
                <a:solidFill>
                  <a:srgbClr val="6A6A82"/>
                </a:solidFill>
                <a:latin typeface="Calibri" pitchFamily="34" charset="0"/>
                <a:ea typeface="Calibri" pitchFamily="34" charset="-122"/>
                <a:cs typeface="Calibri" pitchFamily="34" charset="-120"/>
              </a:rPr>
              <a:t>timer</a:t>
            </a:r>
            <a:endParaRPr lang="en-US" sz="850" dirty="0"/>
          </a:p>
        </p:txBody>
      </p:sp>
      <p:sp>
        <p:nvSpPr>
          <p:cNvPr id="24" name="Shape 19"/>
          <p:cNvSpPr/>
          <p:nvPr/>
        </p:nvSpPr>
        <p:spPr>
          <a:xfrm>
            <a:off x="457200" y="3566160"/>
            <a:ext cx="2651760" cy="1188720"/>
          </a:xfrm>
          <a:prstGeom prst="roundRect">
            <a:avLst>
              <a:gd name="adj" fmla="val 5385"/>
            </a:avLst>
          </a:prstGeom>
          <a:solidFill>
            <a:srgbClr val="F1EFFB"/>
          </a:solidFill>
          <a:ln w="9525">
            <a:solidFill>
              <a:srgbClr val="E4E2F0"/>
            </a:solidFill>
            <a:prstDash val="solid"/>
          </a:ln>
          <a:effectLst>
            <a:outerShdw blurRad="88900" dist="25400" dir="2700000" algn="bl" rotWithShape="0">
              <a:srgbClr val="000000">
                <a:alpha val="13000"/>
              </a:srgbClr>
            </a:outerShdw>
          </a:effectLst>
        </p:spPr>
      </p:sp>
      <p:sp>
        <p:nvSpPr>
          <p:cNvPr id="25" name="Text 20"/>
          <p:cNvSpPr/>
          <p:nvPr/>
        </p:nvSpPr>
        <p:spPr>
          <a:xfrm>
            <a:off x="594360" y="3657600"/>
            <a:ext cx="2377440" cy="457200"/>
          </a:xfrm>
          <a:prstGeom prst="rect">
            <a:avLst/>
          </a:prstGeom>
          <a:noFill/>
          <a:ln/>
        </p:spPr>
        <p:txBody>
          <a:bodyPr wrap="square" lIns="0" tIns="0" rIns="0" bIns="0" rtlCol="0" anchor="ctr"/>
          <a:lstStyle/>
          <a:p>
            <a:pPr marL="0" indent="0">
              <a:buNone/>
            </a:pPr>
            <a:r>
              <a:rPr lang="en-US" sz="2600" b="1" dirty="0">
                <a:solidFill>
                  <a:srgbClr val="5C4AD6"/>
                </a:solidFill>
                <a:latin typeface="Cambria" pitchFamily="34" charset="0"/>
                <a:ea typeface="Cambria" pitchFamily="34" charset="-122"/>
                <a:cs typeface="Cambria" pitchFamily="34" charset="-120"/>
              </a:rPr>
              <a:t>10 min</a:t>
            </a:r>
            <a:endParaRPr lang="en-US" sz="2600" dirty="0"/>
          </a:p>
        </p:txBody>
      </p:sp>
      <p:sp>
        <p:nvSpPr>
          <p:cNvPr id="26" name="Text 21"/>
          <p:cNvSpPr/>
          <p:nvPr/>
        </p:nvSpPr>
        <p:spPr>
          <a:xfrm>
            <a:off x="594360" y="4133088"/>
            <a:ext cx="2395728" cy="566928"/>
          </a:xfrm>
          <a:prstGeom prst="rect">
            <a:avLst/>
          </a:prstGeom>
          <a:noFill/>
          <a:ln/>
        </p:spPr>
        <p:txBody>
          <a:bodyPr wrap="square" lIns="0" tIns="0" rIns="0" bIns="0" rtlCol="0" anchor="ctr"/>
          <a:lstStyle/>
          <a:p>
            <a:pPr marL="0" indent="0">
              <a:buNone/>
            </a:pPr>
            <a:r>
              <a:rPr lang="en-US" sz="950" dirty="0">
                <a:solidFill>
                  <a:srgbClr val="6A6A82"/>
                </a:solidFill>
                <a:latin typeface="Calibri" pitchFamily="34" charset="0"/>
                <a:ea typeface="Calibri" pitchFamily="34" charset="-122"/>
                <a:cs typeface="Calibri" pitchFamily="34" charset="-120"/>
              </a:rPr>
              <a:t>reservation hold — long enough to type an address, short enough not to strangle stock</a:t>
            </a:r>
            <a:endParaRPr lang="en-US" sz="950" dirty="0"/>
          </a:p>
        </p:txBody>
      </p:sp>
      <p:sp>
        <p:nvSpPr>
          <p:cNvPr id="27" name="Shape 22"/>
          <p:cNvSpPr/>
          <p:nvPr/>
        </p:nvSpPr>
        <p:spPr>
          <a:xfrm>
            <a:off x="3273552" y="3566160"/>
            <a:ext cx="2651760" cy="1188720"/>
          </a:xfrm>
          <a:prstGeom prst="roundRect">
            <a:avLst>
              <a:gd name="adj" fmla="val 5385"/>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28" name="Text 23"/>
          <p:cNvSpPr/>
          <p:nvPr/>
        </p:nvSpPr>
        <p:spPr>
          <a:xfrm>
            <a:off x="3410712" y="3657600"/>
            <a:ext cx="2377440" cy="457200"/>
          </a:xfrm>
          <a:prstGeom prst="rect">
            <a:avLst/>
          </a:prstGeom>
          <a:noFill/>
          <a:ln/>
        </p:spPr>
        <p:txBody>
          <a:bodyPr wrap="square" lIns="0" tIns="0" rIns="0" bIns="0" rtlCol="0" anchor="ctr"/>
          <a:lstStyle/>
          <a:p>
            <a:pPr marL="0" indent="0">
              <a:buNone/>
            </a:pPr>
            <a:r>
              <a:rPr lang="en-US" sz="2600" b="1" dirty="0">
                <a:solidFill>
                  <a:srgbClr val="5C4AD6"/>
                </a:solidFill>
                <a:latin typeface="Cambria" pitchFamily="34" charset="0"/>
                <a:ea typeface="Cambria" pitchFamily="34" charset="-122"/>
                <a:cs typeface="Cambria" pitchFamily="34" charset="-120"/>
              </a:rPr>
              <a:t>30 s</a:t>
            </a:r>
            <a:endParaRPr lang="en-US" sz="2600" dirty="0"/>
          </a:p>
        </p:txBody>
      </p:sp>
      <p:sp>
        <p:nvSpPr>
          <p:cNvPr id="29" name="Text 24"/>
          <p:cNvSpPr/>
          <p:nvPr/>
        </p:nvSpPr>
        <p:spPr>
          <a:xfrm>
            <a:off x="3410712" y="4133088"/>
            <a:ext cx="2395728" cy="566928"/>
          </a:xfrm>
          <a:prstGeom prst="rect">
            <a:avLst/>
          </a:prstGeom>
          <a:noFill/>
          <a:ln/>
        </p:spPr>
        <p:txBody>
          <a:bodyPr wrap="square" lIns="0" tIns="0" rIns="0" bIns="0" rtlCol="0" anchor="ctr"/>
          <a:lstStyle/>
          <a:p>
            <a:pPr marL="0" indent="0">
              <a:buNone/>
            </a:pPr>
            <a:r>
              <a:rPr lang="en-US" sz="950" dirty="0">
                <a:solidFill>
                  <a:srgbClr val="6A6A82"/>
                </a:solidFill>
                <a:latin typeface="Calibri" pitchFamily="34" charset="0"/>
                <a:ea typeface="Calibri" pitchFamily="34" charset="-122"/>
                <a:cs typeface="Calibri" pitchFamily="34" charset="-120"/>
              </a:rPr>
              <a:t>background cleanup sweep — plus on-demand expiry at every read &amp; checkout</a:t>
            </a:r>
            <a:endParaRPr lang="en-US" sz="950" dirty="0"/>
          </a:p>
        </p:txBody>
      </p:sp>
      <p:sp>
        <p:nvSpPr>
          <p:cNvPr id="30" name="Shape 25"/>
          <p:cNvSpPr/>
          <p:nvPr/>
        </p:nvSpPr>
        <p:spPr>
          <a:xfrm>
            <a:off x="6089904" y="3566160"/>
            <a:ext cx="2651760" cy="1188720"/>
          </a:xfrm>
          <a:prstGeom prst="roundRect">
            <a:avLst>
              <a:gd name="adj" fmla="val 5385"/>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31" name="Text 26"/>
          <p:cNvSpPr/>
          <p:nvPr/>
        </p:nvSpPr>
        <p:spPr>
          <a:xfrm>
            <a:off x="6227064" y="3657600"/>
            <a:ext cx="2377440" cy="457200"/>
          </a:xfrm>
          <a:prstGeom prst="rect">
            <a:avLst/>
          </a:prstGeom>
          <a:noFill/>
          <a:ln/>
        </p:spPr>
        <p:txBody>
          <a:bodyPr wrap="square" lIns="0" tIns="0" rIns="0" bIns="0" rtlCol="0" anchor="ctr"/>
          <a:lstStyle/>
          <a:p>
            <a:pPr marL="0" indent="0">
              <a:buNone/>
            </a:pPr>
            <a:r>
              <a:rPr lang="en-US" sz="2600" b="1" dirty="0">
                <a:solidFill>
                  <a:srgbClr val="5C4AD6"/>
                </a:solidFill>
                <a:latin typeface="Cambria" pitchFamily="34" charset="0"/>
                <a:ea typeface="Cambria" pitchFamily="34" charset="-122"/>
                <a:cs typeface="Cambria" pitchFamily="34" charset="-120"/>
              </a:rPr>
              <a:t>kept</a:t>
            </a:r>
            <a:endParaRPr lang="en-US" sz="2600" dirty="0"/>
          </a:p>
        </p:txBody>
      </p:sp>
      <p:sp>
        <p:nvSpPr>
          <p:cNvPr id="32" name="Text 27"/>
          <p:cNvSpPr/>
          <p:nvPr/>
        </p:nvSpPr>
        <p:spPr>
          <a:xfrm>
            <a:off x="6227064" y="4133088"/>
            <a:ext cx="2395728" cy="566928"/>
          </a:xfrm>
          <a:prstGeom prst="rect">
            <a:avLst/>
          </a:prstGeom>
          <a:noFill/>
          <a:ln/>
        </p:spPr>
        <p:txBody>
          <a:bodyPr wrap="square" lIns="0" tIns="0" rIns="0" bIns="0" rtlCol="0" anchor="ctr"/>
          <a:lstStyle/>
          <a:p>
            <a:pPr marL="0" indent="0">
              <a:buNone/>
            </a:pPr>
            <a:r>
              <a:rPr lang="en-US" sz="950" dirty="0">
                <a:solidFill>
                  <a:srgbClr val="6A6A82"/>
                </a:solidFill>
                <a:latin typeface="Calibri" pitchFamily="34" charset="0"/>
                <a:ea typeface="Calibri" pitchFamily="34" charset="-122"/>
                <a:cs typeface="Calibri" pitchFamily="34" charset="-120"/>
              </a:rPr>
              <a:t>expired &amp; completed reservations stay in the DB as an audit trail</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IMPLEMENTATION · FLAGSHIP</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Atomic Inventory Operations</a:t>
            </a:r>
            <a:endParaRPr lang="en-US" sz="2800" dirty="0"/>
          </a:p>
        </p:txBody>
      </p:sp>
      <p:sp>
        <p:nvSpPr>
          <p:cNvPr id="5" name="Text 3"/>
          <p:cNvSpPr/>
          <p:nvPr/>
        </p:nvSpPr>
        <p:spPr>
          <a:xfrm>
            <a:off x="549728" y="1147136"/>
            <a:ext cx="5080363" cy="3013165"/>
          </a:xfrm>
          <a:prstGeom prst="rect">
            <a:avLst/>
          </a:prstGeom>
          <a:noFill/>
          <a:ln/>
        </p:spPr>
        <p:txBody>
          <a:bodyPr wrap="square" lIns="0" tIns="0" rIns="0" bIns="0" rtlCol="0" anchor="t"/>
          <a:lstStyle/>
          <a:p>
            <a:pPr marL="0" indent="0">
              <a:lnSpc>
                <a:spcPct val="112000"/>
              </a:lnSpc>
              <a:buNone/>
            </a:pPr>
            <a:endParaRPr lang="en-US" sz="1050" dirty="0">
              <a:solidFill>
                <a:srgbClr val="FFFFFF"/>
              </a:solidFill>
              <a:latin typeface="Courier New"/>
              <a:cs typeface="Courier New"/>
            </a:endParaRPr>
          </a:p>
        </p:txBody>
      </p:sp>
      <p:sp>
        <p:nvSpPr>
          <p:cNvPr id="6" name="Text 4"/>
          <p:cNvSpPr/>
          <p:nvPr/>
        </p:nvSpPr>
        <p:spPr>
          <a:xfrm>
            <a:off x="457200" y="4343400"/>
            <a:ext cx="5257800" cy="274320"/>
          </a:xfrm>
          <a:prstGeom prst="rect">
            <a:avLst/>
          </a:prstGeom>
          <a:noFill/>
          <a:ln/>
        </p:spPr>
        <p:txBody>
          <a:bodyPr wrap="square" lIns="0" tIns="0" rIns="0" bIns="0" rtlCol="0" anchor="ctr"/>
          <a:lstStyle/>
          <a:p>
            <a:pPr marL="0" indent="0">
              <a:buNone/>
            </a:pPr>
            <a:r>
              <a:rPr lang="en-US" sz="900" dirty="0">
                <a:solidFill>
                  <a:srgbClr val="6A6A82"/>
                </a:solidFill>
                <a:latin typeface="Courier New" pitchFamily="34" charset="0"/>
                <a:ea typeface="Courier New" pitchFamily="34" charset="-122"/>
                <a:cs typeface="Courier New" pitchFamily="34" charset="-120"/>
              </a:rPr>
              <a:t>apps/server/src/modules/reservations/reservation.service.ts</a:t>
            </a:r>
            <a:endParaRPr lang="en-US" sz="900" dirty="0"/>
          </a:p>
        </p:txBody>
      </p:sp>
      <p:sp>
        <p:nvSpPr>
          <p:cNvPr id="7" name="Shape 5"/>
          <p:cNvSpPr/>
          <p:nvPr/>
        </p:nvSpPr>
        <p:spPr>
          <a:xfrm>
            <a:off x="5989320" y="1124712"/>
            <a:ext cx="402336" cy="402336"/>
          </a:xfrm>
          <a:prstGeom prst="ellipse">
            <a:avLst/>
          </a:prstGeom>
          <a:solidFill>
            <a:srgbClr val="5C4AD6"/>
          </a:solidFill>
          <a:ln/>
        </p:spPr>
      </p:sp>
      <p:pic>
        <p:nvPicPr>
          <p:cNvPr id="8" name="Image 0" descr="preencoded.png"/>
          <p:cNvPicPr>
            <a:picLocks noChangeAspect="1"/>
          </p:cNvPicPr>
          <p:nvPr/>
        </p:nvPicPr>
        <p:blipFill>
          <a:blip r:embed="rId3"/>
          <a:stretch>
            <a:fillRect/>
          </a:stretch>
        </p:blipFill>
        <p:spPr>
          <a:xfrm>
            <a:off x="6093927" y="1229319"/>
            <a:ext cx="193121" cy="193121"/>
          </a:xfrm>
          <a:prstGeom prst="rect">
            <a:avLst/>
          </a:prstGeom>
        </p:spPr>
      </p:pic>
      <p:sp>
        <p:nvSpPr>
          <p:cNvPr id="9" name="Text 6"/>
          <p:cNvSpPr/>
          <p:nvPr/>
        </p:nvSpPr>
        <p:spPr>
          <a:xfrm>
            <a:off x="6510528" y="1005840"/>
            <a:ext cx="2212848" cy="868680"/>
          </a:xfrm>
          <a:prstGeom prst="rect">
            <a:avLst/>
          </a:prstGeom>
          <a:noFill/>
          <a:ln/>
        </p:spPr>
        <p:txBody>
          <a:bodyPr wrap="square" lIns="254" tIns="254" rIns="254" bIns="254" rtlCol="0" anchor="ctr"/>
          <a:lstStyle/>
          <a:p>
            <a:pPr marL="0" indent="0">
              <a:spcAft>
                <a:spcPts val="200"/>
              </a:spcAft>
              <a:buNone/>
            </a:pPr>
            <a:r>
              <a:rPr lang="en-US" sz="1150" b="1" dirty="0">
                <a:solidFill>
                  <a:srgbClr val="23233F"/>
                </a:solidFill>
                <a:latin typeface="Calibri" pitchFamily="34" charset="0"/>
                <a:ea typeface="Calibri" pitchFamily="34" charset="-122"/>
                <a:cs typeface="Calibri" pitchFamily="34" charset="-120"/>
              </a:rPr>
              <a:t>The business rule IS the query</a:t>
            </a:r>
            <a:endParaRPr lang="en-US" sz="1150" dirty="0"/>
          </a:p>
          <a:p>
            <a:pPr marL="0" indent="0">
              <a:spcAft>
                <a:spcPts val="200"/>
              </a:spcAft>
              <a:buNone/>
            </a:pPr>
            <a:r>
              <a:rPr lang="en-US" sz="950" dirty="0">
                <a:solidFill>
                  <a:srgbClr val="6A6A82"/>
                </a:solidFill>
                <a:latin typeface="Calibri" pitchFamily="34" charset="0"/>
                <a:ea typeface="Calibri" pitchFamily="34" charset="-122"/>
                <a:cs typeface="Calibri" pitchFamily="34" charset="-120"/>
              </a:rPr>
              <a:t>check + update in ONE atomic op — no gap for a race; MongoDB serializes writers</a:t>
            </a:r>
            <a:endParaRPr lang="en-US" sz="1150" dirty="0"/>
          </a:p>
        </p:txBody>
      </p:sp>
      <p:sp>
        <p:nvSpPr>
          <p:cNvPr id="10" name="Shape 7"/>
          <p:cNvSpPr/>
          <p:nvPr/>
        </p:nvSpPr>
        <p:spPr>
          <a:xfrm>
            <a:off x="5989320" y="2029968"/>
            <a:ext cx="402336" cy="402336"/>
          </a:xfrm>
          <a:prstGeom prst="ellipse">
            <a:avLst/>
          </a:prstGeom>
          <a:solidFill>
            <a:srgbClr val="23233F"/>
          </a:solidFill>
          <a:ln/>
        </p:spPr>
      </p:sp>
      <p:pic>
        <p:nvPicPr>
          <p:cNvPr id="11" name="Image 1" descr="preencoded.png"/>
          <p:cNvPicPr>
            <a:picLocks noChangeAspect="1"/>
          </p:cNvPicPr>
          <p:nvPr/>
        </p:nvPicPr>
        <p:blipFill>
          <a:blip r:embed="rId4"/>
          <a:stretch>
            <a:fillRect/>
          </a:stretch>
        </p:blipFill>
        <p:spPr>
          <a:xfrm>
            <a:off x="6093927" y="2134575"/>
            <a:ext cx="193121" cy="193121"/>
          </a:xfrm>
          <a:prstGeom prst="rect">
            <a:avLst/>
          </a:prstGeom>
        </p:spPr>
      </p:pic>
      <p:sp>
        <p:nvSpPr>
          <p:cNvPr id="12" name="Text 8"/>
          <p:cNvSpPr/>
          <p:nvPr/>
        </p:nvSpPr>
        <p:spPr>
          <a:xfrm>
            <a:off x="6510528" y="1911096"/>
            <a:ext cx="2212848" cy="868680"/>
          </a:xfrm>
          <a:prstGeom prst="rect">
            <a:avLst/>
          </a:prstGeom>
          <a:noFill/>
          <a:ln/>
        </p:spPr>
        <p:txBody>
          <a:bodyPr wrap="square" lIns="254" tIns="254" rIns="254" bIns="254" rtlCol="0" anchor="ctr"/>
          <a:lstStyle/>
          <a:p>
            <a:pPr marL="0" indent="0">
              <a:spcAft>
                <a:spcPts val="200"/>
              </a:spcAft>
              <a:buNone/>
            </a:pPr>
            <a:r>
              <a:rPr lang="en-US" sz="1150" b="1" dirty="0">
                <a:solidFill>
                  <a:srgbClr val="23233F"/>
                </a:solidFill>
                <a:latin typeface="Calibri" pitchFamily="34" charset="0"/>
                <a:ea typeface="Calibri" pitchFamily="34" charset="-122"/>
                <a:cs typeface="Calibri" pitchFamily="34" charset="-120"/>
              </a:rPr>
              <a:t>Partial failure → full rollback</a:t>
            </a:r>
            <a:endParaRPr lang="en-US" sz="1150" dirty="0"/>
          </a:p>
          <a:p>
            <a:pPr marL="0" indent="0">
              <a:spcAft>
                <a:spcPts val="200"/>
              </a:spcAft>
              <a:buNone/>
            </a:pPr>
            <a:r>
              <a:rPr lang="en-US" sz="950" dirty="0">
                <a:solidFill>
                  <a:srgbClr val="6A6A82"/>
                </a:solidFill>
                <a:latin typeface="Calibri" pitchFamily="34" charset="0"/>
                <a:ea typeface="Calibri" pitchFamily="34" charset="-122"/>
                <a:cs typeface="Calibri" pitchFamily="34" charset="-120"/>
              </a:rPr>
              <a:t>multi-item carts: any failed hold releases every hold already placed</a:t>
            </a:r>
            <a:endParaRPr lang="en-US" sz="1150" dirty="0"/>
          </a:p>
        </p:txBody>
      </p:sp>
      <p:sp>
        <p:nvSpPr>
          <p:cNvPr id="13" name="Shape 9"/>
          <p:cNvSpPr/>
          <p:nvPr/>
        </p:nvSpPr>
        <p:spPr>
          <a:xfrm>
            <a:off x="5989320" y="2935224"/>
            <a:ext cx="402336" cy="402336"/>
          </a:xfrm>
          <a:prstGeom prst="ellipse">
            <a:avLst/>
          </a:prstGeom>
          <a:solidFill>
            <a:srgbClr val="2BB673"/>
          </a:solidFill>
          <a:ln/>
        </p:spPr>
      </p:sp>
      <p:pic>
        <p:nvPicPr>
          <p:cNvPr id="14" name="Image 2" descr="preencoded.png"/>
          <p:cNvPicPr>
            <a:picLocks noChangeAspect="1"/>
          </p:cNvPicPr>
          <p:nvPr/>
        </p:nvPicPr>
        <p:blipFill>
          <a:blip r:embed="rId5"/>
          <a:stretch>
            <a:fillRect/>
          </a:stretch>
        </p:blipFill>
        <p:spPr>
          <a:xfrm>
            <a:off x="6093927" y="3039831"/>
            <a:ext cx="193121" cy="193121"/>
          </a:xfrm>
          <a:prstGeom prst="rect">
            <a:avLst/>
          </a:prstGeom>
        </p:spPr>
      </p:pic>
      <p:sp>
        <p:nvSpPr>
          <p:cNvPr id="15" name="Text 10"/>
          <p:cNvSpPr/>
          <p:nvPr/>
        </p:nvSpPr>
        <p:spPr>
          <a:xfrm>
            <a:off x="6510528" y="2816352"/>
            <a:ext cx="2212848" cy="868680"/>
          </a:xfrm>
          <a:prstGeom prst="rect">
            <a:avLst/>
          </a:prstGeom>
          <a:noFill/>
          <a:ln/>
        </p:spPr>
        <p:txBody>
          <a:bodyPr wrap="square" lIns="254" tIns="254" rIns="254" bIns="254" rtlCol="0" anchor="ctr"/>
          <a:lstStyle/>
          <a:p>
            <a:pPr marL="0" indent="0">
              <a:spcAft>
                <a:spcPts val="200"/>
              </a:spcAft>
              <a:buNone/>
            </a:pPr>
            <a:r>
              <a:rPr lang="en-US" sz="1150" b="1" dirty="0">
                <a:solidFill>
                  <a:srgbClr val="23233F"/>
                </a:solidFill>
                <a:latin typeface="Calibri" pitchFamily="34" charset="0"/>
                <a:ea typeface="Calibri" pitchFamily="34" charset="-122"/>
                <a:cs typeface="Calibri" pitchFamily="34" charset="-120"/>
              </a:rPr>
              <a:t>Release clamps at zero</a:t>
            </a:r>
            <a:endParaRPr lang="en-US" sz="1150" dirty="0"/>
          </a:p>
          <a:p>
            <a:pPr marL="0" indent="0">
              <a:spcAft>
                <a:spcPts val="200"/>
              </a:spcAft>
              <a:buNone/>
            </a:pPr>
            <a:r>
              <a:rPr lang="en-US" sz="950" dirty="0">
                <a:solidFill>
                  <a:srgbClr val="6A6A82"/>
                </a:solidFill>
                <a:latin typeface="Calibri" pitchFamily="34" charset="0"/>
                <a:ea typeface="Calibri" pitchFamily="34" charset="-122"/>
                <a:cs typeface="Calibri" pitchFamily="34" charset="-120"/>
              </a:rPr>
              <a:t>reservedStock = max(0, current − qty) — a double release can't corrupt counters</a:t>
            </a:r>
            <a:endParaRPr lang="en-US" sz="1150" dirty="0"/>
          </a:p>
        </p:txBody>
      </p:sp>
      <p:sp>
        <p:nvSpPr>
          <p:cNvPr id="16" name="Shape 11"/>
          <p:cNvSpPr/>
          <p:nvPr/>
        </p:nvSpPr>
        <p:spPr>
          <a:xfrm>
            <a:off x="5989320" y="3840480"/>
            <a:ext cx="402336" cy="402336"/>
          </a:xfrm>
          <a:prstGeom prst="ellipse">
            <a:avLst/>
          </a:prstGeom>
          <a:solidFill>
            <a:srgbClr val="5C4AD6"/>
          </a:solidFill>
          <a:ln/>
        </p:spPr>
      </p:sp>
      <p:pic>
        <p:nvPicPr>
          <p:cNvPr id="17" name="Image 3" descr="preencoded.png"/>
          <p:cNvPicPr>
            <a:picLocks noChangeAspect="1"/>
          </p:cNvPicPr>
          <p:nvPr/>
        </p:nvPicPr>
        <p:blipFill>
          <a:blip r:embed="rId6"/>
          <a:stretch>
            <a:fillRect/>
          </a:stretch>
        </p:blipFill>
        <p:spPr>
          <a:xfrm>
            <a:off x="6093927" y="3945087"/>
            <a:ext cx="193121" cy="193121"/>
          </a:xfrm>
          <a:prstGeom prst="rect">
            <a:avLst/>
          </a:prstGeom>
        </p:spPr>
      </p:pic>
      <p:sp>
        <p:nvSpPr>
          <p:cNvPr id="18" name="Text 12"/>
          <p:cNvSpPr/>
          <p:nvPr/>
        </p:nvSpPr>
        <p:spPr>
          <a:xfrm>
            <a:off x="6510528" y="3721608"/>
            <a:ext cx="2212848" cy="868680"/>
          </a:xfrm>
          <a:prstGeom prst="rect">
            <a:avLst/>
          </a:prstGeom>
          <a:noFill/>
          <a:ln/>
        </p:spPr>
        <p:txBody>
          <a:bodyPr wrap="square" lIns="254" tIns="254" rIns="254" bIns="254" rtlCol="0" anchor="ctr"/>
          <a:lstStyle/>
          <a:p>
            <a:pPr marL="0" indent="0">
              <a:spcAft>
                <a:spcPts val="200"/>
              </a:spcAft>
              <a:buNone/>
            </a:pPr>
            <a:r>
              <a:rPr lang="en-US" sz="1150" b="1" dirty="0">
                <a:solidFill>
                  <a:srgbClr val="23233F"/>
                </a:solidFill>
                <a:latin typeface="Calibri" pitchFamily="34" charset="0"/>
                <a:ea typeface="Calibri" pitchFamily="34" charset="-122"/>
                <a:cs typeface="Calibri" pitchFamily="34" charset="-120"/>
              </a:rPr>
              <a:t>Expire exactly once</a:t>
            </a:r>
            <a:endParaRPr lang="en-US" sz="1150" dirty="0"/>
          </a:p>
          <a:p>
            <a:pPr marL="0" indent="0">
              <a:spcAft>
                <a:spcPts val="200"/>
              </a:spcAft>
              <a:buNone/>
            </a:pPr>
            <a:r>
              <a:rPr lang="en-US" sz="950" dirty="0">
                <a:solidFill>
                  <a:srgbClr val="6A6A82"/>
                </a:solidFill>
                <a:latin typeface="Calibri" pitchFamily="34" charset="0"/>
                <a:ea typeface="Calibri" pitchFamily="34" charset="-122"/>
                <a:cs typeface="Calibri" pitchFamily="34" charset="-120"/>
              </a:rPr>
              <a:t>status-guarded update + modifiedCount check — stock is never released twice</a:t>
            </a:r>
            <a:endParaRPr lang="en-US" sz="1150" dirty="0"/>
          </a:p>
        </p:txBody>
      </p:sp>
      <p:pic>
        <p:nvPicPr>
          <p:cNvPr id="19" name="Picture 18">
            <a:extLst>
              <a:ext uri="{FF2B5EF4-FFF2-40B4-BE49-F238E27FC236}">
                <a16:creationId xmlns:a16="http://schemas.microsoft.com/office/drawing/2014/main" id="{41BEAE3B-675F-F7F3-8826-E6B3302A2E39}"/>
              </a:ext>
            </a:extLst>
          </p:cNvPr>
          <p:cNvPicPr>
            <a:picLocks noChangeAspect="1"/>
          </p:cNvPicPr>
          <p:nvPr/>
        </p:nvPicPr>
        <p:blipFill>
          <a:blip r:embed="rId7"/>
          <a:stretch>
            <a:fillRect/>
          </a:stretch>
        </p:blipFill>
        <p:spPr>
          <a:xfrm>
            <a:off x="455675" y="876300"/>
            <a:ext cx="4792764" cy="346710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IMPLEMENTATION</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Checkout Pipeline &amp; Transactions</a:t>
            </a:r>
            <a:endParaRPr lang="en-US" sz="2800" dirty="0"/>
          </a:p>
        </p:txBody>
      </p:sp>
      <p:sp>
        <p:nvSpPr>
          <p:cNvPr id="4" name="Shape 2"/>
          <p:cNvSpPr/>
          <p:nvPr/>
        </p:nvSpPr>
        <p:spPr>
          <a:xfrm>
            <a:off x="1481328" y="1298448"/>
            <a:ext cx="1243584" cy="0"/>
          </a:xfrm>
          <a:prstGeom prst="line">
            <a:avLst/>
          </a:prstGeom>
          <a:noFill/>
          <a:ln w="19050">
            <a:solidFill>
              <a:srgbClr val="C9C4E8"/>
            </a:solidFill>
            <a:prstDash val="solid"/>
          </a:ln>
        </p:spPr>
      </p:sp>
      <p:sp>
        <p:nvSpPr>
          <p:cNvPr id="5" name="Shape 3"/>
          <p:cNvSpPr/>
          <p:nvPr/>
        </p:nvSpPr>
        <p:spPr>
          <a:xfrm>
            <a:off x="1088136" y="1106424"/>
            <a:ext cx="384048" cy="384048"/>
          </a:xfrm>
          <a:prstGeom prst="ellipse">
            <a:avLst/>
          </a:prstGeom>
          <a:solidFill>
            <a:srgbClr val="23233F"/>
          </a:solidFill>
          <a:ln/>
        </p:spPr>
      </p:sp>
      <p:sp>
        <p:nvSpPr>
          <p:cNvPr id="6" name="Text 4"/>
          <p:cNvSpPr/>
          <p:nvPr/>
        </p:nvSpPr>
        <p:spPr>
          <a:xfrm>
            <a:off x="1088136" y="11064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457200" y="1536192"/>
            <a:ext cx="1645920" cy="256032"/>
          </a:xfrm>
          <a:prstGeom prst="rect">
            <a:avLst/>
          </a:prstGeom>
          <a:noFill/>
          <a:ln/>
        </p:spPr>
        <p:txBody>
          <a:bodyPr wrap="square" lIns="0" tIns="0" rIns="0" bIns="0" rtlCol="0" anchor="ctr"/>
          <a:lstStyle/>
          <a:p>
            <a:pPr marL="0" indent="0" algn="ctr">
              <a:buNone/>
            </a:pPr>
            <a:r>
              <a:rPr lang="en-US" sz="1050" dirty="0">
                <a:solidFill>
                  <a:srgbClr val="6A6A82"/>
                </a:solidFill>
                <a:latin typeface="Calibri" pitchFamily="34" charset="0"/>
                <a:ea typeface="Calibri" pitchFamily="34" charset="-122"/>
                <a:cs typeface="Calibri" pitchFamily="34" charset="-120"/>
              </a:rPr>
              <a:t>Cart Review</a:t>
            </a:r>
            <a:endParaRPr lang="en-US" sz="1050" dirty="0"/>
          </a:p>
        </p:txBody>
      </p:sp>
      <p:sp>
        <p:nvSpPr>
          <p:cNvPr id="8" name="Text 6"/>
          <p:cNvSpPr/>
          <p:nvPr/>
        </p:nvSpPr>
        <p:spPr>
          <a:xfrm>
            <a:off x="365760" y="1783080"/>
            <a:ext cx="1828800" cy="219456"/>
          </a:xfrm>
          <a:prstGeom prst="rect">
            <a:avLst/>
          </a:prstGeom>
          <a:noFill/>
          <a:ln/>
        </p:spPr>
        <p:txBody>
          <a:bodyPr wrap="square" lIns="0" tIns="0" rIns="0" bIns="0" rtlCol="0" anchor="ctr"/>
          <a:lstStyle/>
          <a:p>
            <a:pPr marL="0" indent="0" algn="ctr">
              <a:buNone/>
            </a:pPr>
            <a:r>
              <a:rPr lang="en-US" sz="850" i="1" dirty="0">
                <a:solidFill>
                  <a:srgbClr val="5C4AD6"/>
                </a:solidFill>
                <a:latin typeface="Calibri" pitchFamily="34" charset="0"/>
                <a:ea typeface="Calibri" pitchFamily="34" charset="-122"/>
                <a:cs typeface="Calibri" pitchFamily="34" charset="-120"/>
              </a:rPr>
              <a:t>reservation starts (timer)</a:t>
            </a:r>
            <a:endParaRPr lang="en-US" sz="850" dirty="0"/>
          </a:p>
        </p:txBody>
      </p:sp>
      <p:sp>
        <p:nvSpPr>
          <p:cNvPr id="9" name="Shape 7"/>
          <p:cNvSpPr/>
          <p:nvPr/>
        </p:nvSpPr>
        <p:spPr>
          <a:xfrm>
            <a:off x="3127248" y="1298448"/>
            <a:ext cx="1243584" cy="0"/>
          </a:xfrm>
          <a:prstGeom prst="line">
            <a:avLst/>
          </a:prstGeom>
          <a:noFill/>
          <a:ln w="19050">
            <a:solidFill>
              <a:srgbClr val="C9C4E8"/>
            </a:solidFill>
            <a:prstDash val="solid"/>
          </a:ln>
        </p:spPr>
      </p:sp>
      <p:sp>
        <p:nvSpPr>
          <p:cNvPr id="10" name="Shape 8"/>
          <p:cNvSpPr/>
          <p:nvPr/>
        </p:nvSpPr>
        <p:spPr>
          <a:xfrm>
            <a:off x="2734056" y="1106424"/>
            <a:ext cx="384048" cy="384048"/>
          </a:xfrm>
          <a:prstGeom prst="ellipse">
            <a:avLst/>
          </a:prstGeom>
          <a:solidFill>
            <a:srgbClr val="23233F"/>
          </a:solidFill>
          <a:ln/>
        </p:spPr>
      </p:sp>
      <p:sp>
        <p:nvSpPr>
          <p:cNvPr id="11" name="Text 9"/>
          <p:cNvSpPr/>
          <p:nvPr/>
        </p:nvSpPr>
        <p:spPr>
          <a:xfrm>
            <a:off x="2734056" y="11064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2103120" y="1536192"/>
            <a:ext cx="1645920" cy="256032"/>
          </a:xfrm>
          <a:prstGeom prst="rect">
            <a:avLst/>
          </a:prstGeom>
          <a:noFill/>
          <a:ln/>
        </p:spPr>
        <p:txBody>
          <a:bodyPr wrap="square" lIns="0" tIns="0" rIns="0" bIns="0" rtlCol="0" anchor="ctr"/>
          <a:lstStyle/>
          <a:p>
            <a:pPr marL="0" indent="0" algn="ctr">
              <a:buNone/>
            </a:pPr>
            <a:r>
              <a:rPr lang="en-US" sz="1050" dirty="0">
                <a:solidFill>
                  <a:srgbClr val="6A6A82"/>
                </a:solidFill>
                <a:latin typeface="Calibri" pitchFamily="34" charset="0"/>
                <a:ea typeface="Calibri" pitchFamily="34" charset="-122"/>
                <a:cs typeface="Calibri" pitchFamily="34" charset="-120"/>
              </a:rPr>
              <a:t>Shipping</a:t>
            </a:r>
            <a:endParaRPr lang="en-US" sz="1050" dirty="0"/>
          </a:p>
        </p:txBody>
      </p:sp>
      <p:sp>
        <p:nvSpPr>
          <p:cNvPr id="13" name="Shape 11"/>
          <p:cNvSpPr/>
          <p:nvPr/>
        </p:nvSpPr>
        <p:spPr>
          <a:xfrm>
            <a:off x="4773168" y="1298448"/>
            <a:ext cx="1243584" cy="0"/>
          </a:xfrm>
          <a:prstGeom prst="line">
            <a:avLst/>
          </a:prstGeom>
          <a:noFill/>
          <a:ln w="19050">
            <a:solidFill>
              <a:srgbClr val="C9C4E8"/>
            </a:solidFill>
            <a:prstDash val="solid"/>
          </a:ln>
        </p:spPr>
      </p:sp>
      <p:sp>
        <p:nvSpPr>
          <p:cNvPr id="14" name="Shape 12"/>
          <p:cNvSpPr/>
          <p:nvPr/>
        </p:nvSpPr>
        <p:spPr>
          <a:xfrm>
            <a:off x="4379976" y="1106424"/>
            <a:ext cx="384048" cy="384048"/>
          </a:xfrm>
          <a:prstGeom prst="ellipse">
            <a:avLst/>
          </a:prstGeom>
          <a:solidFill>
            <a:srgbClr val="23233F"/>
          </a:solidFill>
          <a:ln/>
        </p:spPr>
      </p:sp>
      <p:sp>
        <p:nvSpPr>
          <p:cNvPr id="15" name="Text 13"/>
          <p:cNvSpPr/>
          <p:nvPr/>
        </p:nvSpPr>
        <p:spPr>
          <a:xfrm>
            <a:off x="4379976" y="11064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3749040" y="1536192"/>
            <a:ext cx="1645920" cy="256032"/>
          </a:xfrm>
          <a:prstGeom prst="rect">
            <a:avLst/>
          </a:prstGeom>
          <a:noFill/>
          <a:ln/>
        </p:spPr>
        <p:txBody>
          <a:bodyPr wrap="square" lIns="0" tIns="0" rIns="0" bIns="0" rtlCol="0" anchor="ctr"/>
          <a:lstStyle/>
          <a:p>
            <a:pPr marL="0" indent="0" algn="ctr">
              <a:buNone/>
            </a:pPr>
            <a:r>
              <a:rPr lang="en-US" sz="1050" dirty="0">
                <a:solidFill>
                  <a:srgbClr val="6A6A82"/>
                </a:solidFill>
                <a:latin typeface="Calibri" pitchFamily="34" charset="0"/>
                <a:ea typeface="Calibri" pitchFamily="34" charset="-122"/>
                <a:cs typeface="Calibri" pitchFamily="34" charset="-120"/>
              </a:rPr>
              <a:t>Delivery</a:t>
            </a:r>
            <a:endParaRPr lang="en-US" sz="1050" dirty="0"/>
          </a:p>
        </p:txBody>
      </p:sp>
      <p:sp>
        <p:nvSpPr>
          <p:cNvPr id="17" name="Shape 15"/>
          <p:cNvSpPr/>
          <p:nvPr/>
        </p:nvSpPr>
        <p:spPr>
          <a:xfrm>
            <a:off x="6419088" y="1298448"/>
            <a:ext cx="1243584" cy="0"/>
          </a:xfrm>
          <a:prstGeom prst="line">
            <a:avLst/>
          </a:prstGeom>
          <a:noFill/>
          <a:ln w="19050">
            <a:solidFill>
              <a:srgbClr val="C9C4E8"/>
            </a:solidFill>
            <a:prstDash val="solid"/>
          </a:ln>
        </p:spPr>
      </p:sp>
      <p:sp>
        <p:nvSpPr>
          <p:cNvPr id="18" name="Shape 16"/>
          <p:cNvSpPr/>
          <p:nvPr/>
        </p:nvSpPr>
        <p:spPr>
          <a:xfrm>
            <a:off x="6025896" y="1106424"/>
            <a:ext cx="384048" cy="384048"/>
          </a:xfrm>
          <a:prstGeom prst="ellipse">
            <a:avLst/>
          </a:prstGeom>
          <a:solidFill>
            <a:srgbClr val="5C4AD6"/>
          </a:solidFill>
          <a:ln/>
        </p:spPr>
      </p:sp>
      <p:sp>
        <p:nvSpPr>
          <p:cNvPr id="19" name="Text 17"/>
          <p:cNvSpPr/>
          <p:nvPr/>
        </p:nvSpPr>
        <p:spPr>
          <a:xfrm>
            <a:off x="6025896" y="11064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5394960" y="1536192"/>
            <a:ext cx="1645920" cy="256032"/>
          </a:xfrm>
          <a:prstGeom prst="rect">
            <a:avLst/>
          </a:prstGeom>
          <a:noFill/>
          <a:ln/>
        </p:spPr>
        <p:txBody>
          <a:bodyPr wrap="square" lIns="0" tIns="0" rIns="0" bIns="0" rtlCol="0" anchor="ctr"/>
          <a:lstStyle/>
          <a:p>
            <a:pPr marL="0" indent="0" algn="ctr">
              <a:buNone/>
            </a:pPr>
            <a:r>
              <a:rPr lang="en-US" sz="1050" b="1" dirty="0">
                <a:solidFill>
                  <a:srgbClr val="5C4AD6"/>
                </a:solidFill>
                <a:latin typeface="Calibri" pitchFamily="34" charset="0"/>
                <a:ea typeface="Calibri" pitchFamily="34" charset="-122"/>
                <a:cs typeface="Calibri" pitchFamily="34" charset="-120"/>
              </a:rPr>
              <a:t>Payment</a:t>
            </a:r>
            <a:endParaRPr lang="en-US" sz="1050" dirty="0"/>
          </a:p>
        </p:txBody>
      </p:sp>
      <p:sp>
        <p:nvSpPr>
          <p:cNvPr id="21" name="Shape 19"/>
          <p:cNvSpPr/>
          <p:nvPr/>
        </p:nvSpPr>
        <p:spPr>
          <a:xfrm>
            <a:off x="7671816" y="1106424"/>
            <a:ext cx="384048" cy="384048"/>
          </a:xfrm>
          <a:prstGeom prst="ellipse">
            <a:avLst/>
          </a:prstGeom>
          <a:solidFill>
            <a:srgbClr val="2BB673"/>
          </a:solidFill>
          <a:ln/>
        </p:spPr>
      </p:sp>
      <p:sp>
        <p:nvSpPr>
          <p:cNvPr id="22" name="Text 20"/>
          <p:cNvSpPr/>
          <p:nvPr/>
        </p:nvSpPr>
        <p:spPr>
          <a:xfrm>
            <a:off x="7671816" y="11064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7040880" y="1536192"/>
            <a:ext cx="1645920" cy="256032"/>
          </a:xfrm>
          <a:prstGeom prst="rect">
            <a:avLst/>
          </a:prstGeom>
          <a:noFill/>
          <a:ln/>
        </p:spPr>
        <p:txBody>
          <a:bodyPr wrap="square" lIns="0" tIns="0" rIns="0" bIns="0" rtlCol="0" anchor="ctr"/>
          <a:lstStyle/>
          <a:p>
            <a:pPr marL="0" indent="0" algn="ctr">
              <a:buNone/>
            </a:pPr>
            <a:r>
              <a:rPr lang="en-US" sz="1050" dirty="0">
                <a:solidFill>
                  <a:srgbClr val="6A6A82"/>
                </a:solidFill>
                <a:latin typeface="Calibri" pitchFamily="34" charset="0"/>
                <a:ea typeface="Calibri" pitchFamily="34" charset="-122"/>
                <a:cs typeface="Calibri" pitchFamily="34" charset="-120"/>
              </a:rPr>
              <a:t>Confirmation</a:t>
            </a:r>
            <a:endParaRPr lang="en-US" sz="1050" dirty="0"/>
          </a:p>
        </p:txBody>
      </p:sp>
      <p:sp>
        <p:nvSpPr>
          <p:cNvPr id="24" name="Shape 22"/>
          <p:cNvSpPr/>
          <p:nvPr/>
        </p:nvSpPr>
        <p:spPr>
          <a:xfrm>
            <a:off x="457200" y="2194560"/>
            <a:ext cx="5212080" cy="2514600"/>
          </a:xfrm>
          <a:prstGeom prst="roundRect">
            <a:avLst>
              <a:gd name="adj" fmla="val 2545"/>
            </a:avLst>
          </a:prstGeom>
          <a:solidFill>
            <a:srgbClr val="F1EFFB"/>
          </a:solidFill>
          <a:ln w="9525">
            <a:solidFill>
              <a:srgbClr val="E4E2F0"/>
            </a:solidFill>
            <a:prstDash val="solid"/>
          </a:ln>
          <a:effectLst>
            <a:outerShdw blurRad="88900" dist="25400" dir="2700000" algn="bl" rotWithShape="0">
              <a:srgbClr val="000000">
                <a:alpha val="13000"/>
              </a:srgbClr>
            </a:outerShdw>
          </a:effectLst>
        </p:spPr>
      </p:sp>
      <p:sp>
        <p:nvSpPr>
          <p:cNvPr id="25" name="Text 23"/>
          <p:cNvSpPr/>
          <p:nvPr/>
        </p:nvSpPr>
        <p:spPr>
          <a:xfrm>
            <a:off x="685800" y="2313432"/>
            <a:ext cx="4754880" cy="292608"/>
          </a:xfrm>
          <a:prstGeom prst="rect">
            <a:avLst/>
          </a:prstGeom>
          <a:noFill/>
          <a:ln/>
        </p:spPr>
        <p:txBody>
          <a:bodyPr wrap="square" lIns="0" tIns="0" rIns="0" bIns="0" rtlCol="0" anchor="ctr"/>
          <a:lstStyle/>
          <a:p>
            <a:pPr marL="0" indent="0">
              <a:buNone/>
            </a:pPr>
            <a:r>
              <a:rPr lang="en-US" sz="1300" b="1" dirty="0">
                <a:solidFill>
                  <a:srgbClr val="23233F"/>
                </a:solidFill>
                <a:latin typeface="Calibri" pitchFamily="34" charset="0"/>
                <a:ea typeface="Calibri" pitchFamily="34" charset="-122"/>
                <a:cs typeface="Calibri" pitchFamily="34" charset="-120"/>
              </a:rPr>
              <a:t>Step 4, server-side — ONE transaction</a:t>
            </a:r>
            <a:endParaRPr lang="en-US" sz="1300" dirty="0"/>
          </a:p>
        </p:txBody>
      </p:sp>
      <p:sp>
        <p:nvSpPr>
          <p:cNvPr id="26" name="Shape 24"/>
          <p:cNvSpPr/>
          <p:nvPr/>
        </p:nvSpPr>
        <p:spPr>
          <a:xfrm>
            <a:off x="731520" y="2761488"/>
            <a:ext cx="292608" cy="292608"/>
          </a:xfrm>
          <a:prstGeom prst="ellipse">
            <a:avLst/>
          </a:prstGeom>
          <a:solidFill>
            <a:srgbClr val="5C4AD6"/>
          </a:solidFill>
          <a:ln/>
        </p:spPr>
      </p:sp>
      <p:sp>
        <p:nvSpPr>
          <p:cNvPr id="27" name="Text 25"/>
          <p:cNvSpPr/>
          <p:nvPr/>
        </p:nvSpPr>
        <p:spPr>
          <a:xfrm>
            <a:off x="731520" y="276148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8" name="Text 26"/>
          <p:cNvSpPr/>
          <p:nvPr/>
        </p:nvSpPr>
        <p:spPr>
          <a:xfrm>
            <a:off x="1143000" y="2724912"/>
            <a:ext cx="4434840" cy="384048"/>
          </a:xfrm>
          <a:prstGeom prst="rect">
            <a:avLst/>
          </a:prstGeom>
          <a:noFill/>
          <a:ln/>
        </p:spPr>
        <p:txBody>
          <a:bodyPr wrap="square" lIns="254" tIns="254" rIns="254" bIns="254" rtlCol="0" anchor="ctr"/>
          <a:lstStyle/>
          <a:p>
            <a:pPr marL="0" indent="0">
              <a:buNone/>
            </a:pPr>
            <a:r>
              <a:rPr lang="en-US" sz="1100" dirty="0">
                <a:solidFill>
                  <a:srgbClr val="23233F"/>
                </a:solidFill>
                <a:latin typeface="Calibri" pitchFamily="34" charset="0"/>
                <a:ea typeface="Calibri" pitchFamily="34" charset="-122"/>
                <a:cs typeface="Calibri" pitchFamily="34" charset="-120"/>
              </a:rPr>
              <a:t>Claim reservation atomically — active → completed (else 409)</a:t>
            </a:r>
            <a:endParaRPr lang="en-US" sz="1100" dirty="0"/>
          </a:p>
        </p:txBody>
      </p:sp>
      <p:sp>
        <p:nvSpPr>
          <p:cNvPr id="29" name="Shape 27"/>
          <p:cNvSpPr/>
          <p:nvPr/>
        </p:nvSpPr>
        <p:spPr>
          <a:xfrm>
            <a:off x="731520" y="3236976"/>
            <a:ext cx="292608" cy="292608"/>
          </a:xfrm>
          <a:prstGeom prst="ellipse">
            <a:avLst/>
          </a:prstGeom>
          <a:solidFill>
            <a:srgbClr val="5C4AD6"/>
          </a:solidFill>
          <a:ln/>
        </p:spPr>
      </p:sp>
      <p:sp>
        <p:nvSpPr>
          <p:cNvPr id="30" name="Text 28"/>
          <p:cNvSpPr/>
          <p:nvPr/>
        </p:nvSpPr>
        <p:spPr>
          <a:xfrm>
            <a:off x="731520" y="323697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9"/>
          <p:cNvSpPr/>
          <p:nvPr/>
        </p:nvSpPr>
        <p:spPr>
          <a:xfrm>
            <a:off x="1143000" y="3200400"/>
            <a:ext cx="4434840" cy="384048"/>
          </a:xfrm>
          <a:prstGeom prst="rect">
            <a:avLst/>
          </a:prstGeom>
          <a:noFill/>
          <a:ln/>
        </p:spPr>
        <p:txBody>
          <a:bodyPr wrap="square" lIns="254" tIns="254" rIns="254" bIns="254" rtlCol="0" anchor="ctr"/>
          <a:lstStyle/>
          <a:p>
            <a:pPr marL="0" indent="0">
              <a:buNone/>
            </a:pPr>
            <a:r>
              <a:rPr lang="en-US" sz="1100" dirty="0">
                <a:solidFill>
                  <a:srgbClr val="23233F"/>
                </a:solidFill>
                <a:latin typeface="Calibri" pitchFamily="34" charset="0"/>
                <a:ea typeface="Calibri" pitchFamily="34" charset="-122"/>
                <a:cs typeface="Calibri" pitchFamily="34" charset="-120"/>
              </a:rPr>
              <a:t>Mock payment — MOCK-… receipt; no real card data, ever</a:t>
            </a:r>
            <a:endParaRPr lang="en-US" sz="1100" dirty="0"/>
          </a:p>
        </p:txBody>
      </p:sp>
      <p:sp>
        <p:nvSpPr>
          <p:cNvPr id="32" name="Shape 30"/>
          <p:cNvSpPr/>
          <p:nvPr/>
        </p:nvSpPr>
        <p:spPr>
          <a:xfrm>
            <a:off x="731520" y="3712464"/>
            <a:ext cx="292608" cy="292608"/>
          </a:xfrm>
          <a:prstGeom prst="ellipse">
            <a:avLst/>
          </a:prstGeom>
          <a:solidFill>
            <a:srgbClr val="5C4AD6"/>
          </a:solidFill>
          <a:ln/>
        </p:spPr>
      </p:sp>
      <p:sp>
        <p:nvSpPr>
          <p:cNvPr id="33" name="Text 31"/>
          <p:cNvSpPr/>
          <p:nvPr/>
        </p:nvSpPr>
        <p:spPr>
          <a:xfrm>
            <a:off x="731520" y="371246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4" name="Text 32"/>
          <p:cNvSpPr/>
          <p:nvPr/>
        </p:nvSpPr>
        <p:spPr>
          <a:xfrm>
            <a:off x="1143000" y="3675888"/>
            <a:ext cx="4434840" cy="384048"/>
          </a:xfrm>
          <a:prstGeom prst="rect">
            <a:avLst/>
          </a:prstGeom>
          <a:noFill/>
          <a:ln/>
        </p:spPr>
        <p:txBody>
          <a:bodyPr wrap="square" lIns="254" tIns="254" rIns="254" bIns="254" rtlCol="0" anchor="ctr"/>
          <a:lstStyle/>
          <a:p>
            <a:pPr marL="0" indent="0">
              <a:buNone/>
            </a:pPr>
            <a:r>
              <a:rPr lang="en-US" sz="1100" dirty="0">
                <a:solidFill>
                  <a:srgbClr val="23233F"/>
                </a:solidFill>
                <a:latin typeface="Calibri" pitchFamily="34" charset="0"/>
                <a:ea typeface="Calibri" pitchFamily="34" charset="-122"/>
                <a:cs typeface="Calibri" pitchFamily="34" charset="-120"/>
              </a:rPr>
              <a:t>Guarded stock decrement per item (both counters ≥ qty)</a:t>
            </a:r>
            <a:endParaRPr lang="en-US" sz="1100" dirty="0"/>
          </a:p>
        </p:txBody>
      </p:sp>
      <p:sp>
        <p:nvSpPr>
          <p:cNvPr id="35" name="Shape 33"/>
          <p:cNvSpPr/>
          <p:nvPr/>
        </p:nvSpPr>
        <p:spPr>
          <a:xfrm>
            <a:off x="731520" y="4187952"/>
            <a:ext cx="292608" cy="292608"/>
          </a:xfrm>
          <a:prstGeom prst="ellipse">
            <a:avLst/>
          </a:prstGeom>
          <a:solidFill>
            <a:srgbClr val="5C4AD6"/>
          </a:solidFill>
          <a:ln/>
        </p:spPr>
      </p:sp>
      <p:sp>
        <p:nvSpPr>
          <p:cNvPr id="36" name="Text 34"/>
          <p:cNvSpPr/>
          <p:nvPr/>
        </p:nvSpPr>
        <p:spPr>
          <a:xfrm>
            <a:off x="731520" y="418795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7" name="Text 35"/>
          <p:cNvSpPr/>
          <p:nvPr/>
        </p:nvSpPr>
        <p:spPr>
          <a:xfrm>
            <a:off x="1143000" y="4151376"/>
            <a:ext cx="4434840" cy="384048"/>
          </a:xfrm>
          <a:prstGeom prst="rect">
            <a:avLst/>
          </a:prstGeom>
          <a:noFill/>
          <a:ln/>
        </p:spPr>
        <p:txBody>
          <a:bodyPr wrap="square" lIns="254" tIns="254" rIns="254" bIns="254" rtlCol="0" anchor="ctr"/>
          <a:lstStyle/>
          <a:p>
            <a:pPr marL="0" indent="0">
              <a:buNone/>
            </a:pPr>
            <a:r>
              <a:rPr lang="en-US" sz="1100" dirty="0">
                <a:solidFill>
                  <a:srgbClr val="23233F"/>
                </a:solidFill>
                <a:latin typeface="Calibri" pitchFamily="34" charset="0"/>
                <a:ea typeface="Calibri" pitchFamily="34" charset="-122"/>
                <a:cs typeface="Calibri" pitchFamily="34" charset="-120"/>
              </a:rPr>
              <a:t>Create the Order — totals, delivery estimate, paid status</a:t>
            </a:r>
            <a:endParaRPr lang="en-US" sz="1100" dirty="0"/>
          </a:p>
        </p:txBody>
      </p:sp>
      <p:sp>
        <p:nvSpPr>
          <p:cNvPr id="38" name="Shape 36"/>
          <p:cNvSpPr/>
          <p:nvPr/>
        </p:nvSpPr>
        <p:spPr>
          <a:xfrm>
            <a:off x="5897880" y="2194560"/>
            <a:ext cx="2788920" cy="1463040"/>
          </a:xfrm>
          <a:prstGeom prst="roundRect">
            <a:avLst>
              <a:gd name="adj" fmla="val 4375"/>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39" name="Text 37"/>
          <p:cNvSpPr/>
          <p:nvPr/>
        </p:nvSpPr>
        <p:spPr>
          <a:xfrm>
            <a:off x="6053328" y="2286000"/>
            <a:ext cx="2487168" cy="1280160"/>
          </a:xfrm>
          <a:prstGeom prst="rect">
            <a:avLst/>
          </a:prstGeom>
          <a:noFill/>
          <a:ln/>
        </p:spPr>
        <p:txBody>
          <a:bodyPr wrap="square" lIns="254" tIns="254" rIns="254" bIns="254" rtlCol="0" anchor="ctr"/>
          <a:lstStyle/>
          <a:p>
            <a:pPr marL="0" indent="0">
              <a:spcAft>
                <a:spcPts val="400"/>
              </a:spcAft>
              <a:buNone/>
            </a:pPr>
            <a:r>
              <a:rPr lang="en-US" sz="1100" b="1" dirty="0">
                <a:solidFill>
                  <a:srgbClr val="5C4AD6"/>
                </a:solidFill>
                <a:latin typeface="Courier New" pitchFamily="34" charset="0"/>
                <a:ea typeface="Courier New" pitchFamily="34" charset="-122"/>
                <a:cs typeface="Courier New" pitchFamily="34" charset="-120"/>
              </a:rPr>
              <a:t>withOptionalTransaction</a:t>
            </a:r>
            <a:endParaRPr lang="en-US" sz="1100" dirty="0"/>
          </a:p>
          <a:p>
            <a:pPr marL="0" indent="0">
              <a:spcAft>
                <a:spcPts val="400"/>
              </a:spcAft>
              <a:buNone/>
            </a:pPr>
            <a:r>
              <a:rPr lang="en-US" sz="1000" dirty="0">
                <a:solidFill>
                  <a:srgbClr val="6A6A82"/>
                </a:solidFill>
                <a:latin typeface="Calibri" pitchFamily="34" charset="0"/>
                <a:ea typeface="Calibri" pitchFamily="34" charset="-122"/>
                <a:cs typeface="Calibri" pitchFamily="34" charset="-120"/>
              </a:rPr>
              <a:t>replica set → real transaction; single node → same logic, no session. Detected once, cached.</a:t>
            </a:r>
            <a:endParaRPr lang="en-US" sz="1100" dirty="0"/>
          </a:p>
        </p:txBody>
      </p:sp>
      <p:sp>
        <p:nvSpPr>
          <p:cNvPr id="40" name="Shape 38"/>
          <p:cNvSpPr/>
          <p:nvPr/>
        </p:nvSpPr>
        <p:spPr>
          <a:xfrm>
            <a:off x="5897880" y="3794760"/>
            <a:ext cx="2788920" cy="914400"/>
          </a:xfrm>
          <a:prstGeom prst="roundRect">
            <a:avLst>
              <a:gd name="adj" fmla="val 7000"/>
            </a:avLst>
          </a:prstGeom>
          <a:solidFill>
            <a:srgbClr val="EAF7F0"/>
          </a:solidFill>
          <a:ln w="9525">
            <a:solidFill>
              <a:srgbClr val="E4E2F0"/>
            </a:solidFill>
            <a:prstDash val="solid"/>
          </a:ln>
          <a:effectLst>
            <a:outerShdw blurRad="88900" dist="25400" dir="2700000" algn="bl" rotWithShape="0">
              <a:srgbClr val="000000">
                <a:alpha val="13000"/>
              </a:srgbClr>
            </a:outerShdw>
          </a:effectLst>
        </p:spPr>
      </p:sp>
      <p:sp>
        <p:nvSpPr>
          <p:cNvPr id="41" name="Text 39"/>
          <p:cNvSpPr/>
          <p:nvPr/>
        </p:nvSpPr>
        <p:spPr>
          <a:xfrm>
            <a:off x="6053328" y="3867912"/>
            <a:ext cx="2487168" cy="768096"/>
          </a:xfrm>
          <a:prstGeom prst="rect">
            <a:avLst/>
          </a:prstGeom>
          <a:noFill/>
          <a:ln/>
        </p:spPr>
        <p:txBody>
          <a:bodyPr wrap="square" lIns="254" tIns="254" rIns="254" bIns="254" rtlCol="0" anchor="ctr"/>
          <a:lstStyle/>
          <a:p>
            <a:pPr marL="0" indent="0">
              <a:spcAft>
                <a:spcPts val="300"/>
              </a:spcAft>
              <a:buNone/>
            </a:pPr>
            <a:r>
              <a:rPr lang="en-US" sz="1100" b="1" dirty="0">
                <a:solidFill>
                  <a:srgbClr val="23233F"/>
                </a:solidFill>
                <a:latin typeface="Calibri" pitchFamily="34" charset="0"/>
                <a:ea typeface="Calibri" pitchFamily="34" charset="-122"/>
                <a:cs typeface="Calibri" pitchFamily="34" charset="-120"/>
              </a:rPr>
              <a:t>Expired mid-checkout?</a:t>
            </a:r>
            <a:endParaRPr lang="en-US" sz="1100" dirty="0"/>
          </a:p>
          <a:p>
            <a:pPr marL="0" indent="0">
              <a:spcAft>
                <a:spcPts val="300"/>
              </a:spcAft>
              <a:buNone/>
            </a:pPr>
            <a:r>
              <a:rPr lang="en-US" sz="1000" dirty="0">
                <a:solidFill>
                  <a:srgbClr val="6A6A82"/>
                </a:solidFill>
                <a:latin typeface="Calibri" pitchFamily="34" charset="0"/>
                <a:ea typeface="Calibri" pitchFamily="34" charset="-122"/>
                <a:cs typeface="Calibri" pitchFamily="34" charset="-120"/>
              </a:rPr>
              <a:t>server replies 410 Gone → UI returns the user to the cart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IMPLEMENTATION</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Real-Time Reviews (Socket.IO)</a:t>
            </a:r>
            <a:endParaRPr lang="en-US" sz="2800" dirty="0"/>
          </a:p>
        </p:txBody>
      </p:sp>
      <p:sp>
        <p:nvSpPr>
          <p:cNvPr id="4" name="Shape 2"/>
          <p:cNvSpPr/>
          <p:nvPr/>
        </p:nvSpPr>
        <p:spPr>
          <a:xfrm>
            <a:off x="457200" y="1170432"/>
            <a:ext cx="420624" cy="420624"/>
          </a:xfrm>
          <a:prstGeom prst="ellipse">
            <a:avLst/>
          </a:prstGeom>
          <a:solidFill>
            <a:srgbClr val="5C4AD6"/>
          </a:solidFill>
          <a:ln/>
        </p:spPr>
      </p:sp>
      <p:pic>
        <p:nvPicPr>
          <p:cNvPr id="5" name="Image 0" descr="preencoded.png"/>
          <p:cNvPicPr>
            <a:picLocks noChangeAspect="1"/>
          </p:cNvPicPr>
          <p:nvPr/>
        </p:nvPicPr>
        <p:blipFill>
          <a:blip r:embed="rId3"/>
          <a:stretch>
            <a:fillRect/>
          </a:stretch>
        </p:blipFill>
        <p:spPr>
          <a:xfrm>
            <a:off x="566562" y="1279794"/>
            <a:ext cx="201900" cy="201900"/>
          </a:xfrm>
          <a:prstGeom prst="rect">
            <a:avLst/>
          </a:prstGeom>
        </p:spPr>
      </p:pic>
      <p:sp>
        <p:nvSpPr>
          <p:cNvPr id="6" name="Text 3"/>
          <p:cNvSpPr/>
          <p:nvPr/>
        </p:nvSpPr>
        <p:spPr>
          <a:xfrm>
            <a:off x="1024128" y="1051560"/>
            <a:ext cx="3794760" cy="896112"/>
          </a:xfrm>
          <a:prstGeom prst="rect">
            <a:avLst/>
          </a:prstGeom>
          <a:noFill/>
          <a:ln/>
        </p:spPr>
        <p:txBody>
          <a:bodyPr wrap="square" lIns="254" tIns="254" rIns="254" bIns="254" rtlCol="0" anchor="ctr"/>
          <a:lstStyle/>
          <a:p>
            <a:pPr marL="0" indent="0">
              <a:spcAft>
                <a:spcPts val="300"/>
              </a:spcAft>
              <a:buNone/>
            </a:pPr>
            <a:r>
              <a:rPr lang="en-US" sz="1250" b="1" dirty="0">
                <a:solidFill>
                  <a:srgbClr val="23233F"/>
                </a:solidFill>
                <a:latin typeface="Calibri" pitchFamily="34" charset="0"/>
                <a:ea typeface="Calibri" pitchFamily="34" charset="-122"/>
                <a:cs typeface="Calibri" pitchFamily="34" charset="-120"/>
              </a:rPr>
              <a:t>One review per user per book</a:t>
            </a:r>
            <a:endParaRPr lang="en-US" sz="1250" dirty="0"/>
          </a:p>
          <a:p>
            <a:pPr marL="0" indent="0">
              <a:spcAft>
                <a:spcPts val="300"/>
              </a:spcAft>
              <a:buNone/>
            </a:pPr>
            <a:r>
              <a:rPr lang="en-US" sz="1000" dirty="0">
                <a:solidFill>
                  <a:srgbClr val="6A6A82"/>
                </a:solidFill>
                <a:latin typeface="Calibri" pitchFamily="34" charset="0"/>
                <a:ea typeface="Calibri" pitchFamily="34" charset="-122"/>
                <a:cs typeface="Calibri" pitchFamily="34" charset="-120"/>
              </a:rPr>
              <a:t>unique compound index {book, user} + upsert — the database enforces it, resubmit = update</a:t>
            </a:r>
            <a:endParaRPr lang="en-US" sz="1250" dirty="0"/>
          </a:p>
        </p:txBody>
      </p:sp>
      <p:sp>
        <p:nvSpPr>
          <p:cNvPr id="7" name="Shape 4"/>
          <p:cNvSpPr/>
          <p:nvPr/>
        </p:nvSpPr>
        <p:spPr>
          <a:xfrm>
            <a:off x="457200" y="2103120"/>
            <a:ext cx="420624" cy="420624"/>
          </a:xfrm>
          <a:prstGeom prst="ellipse">
            <a:avLst/>
          </a:prstGeom>
          <a:solidFill>
            <a:srgbClr val="2BB673"/>
          </a:solidFill>
          <a:ln/>
        </p:spPr>
      </p:sp>
      <p:pic>
        <p:nvPicPr>
          <p:cNvPr id="8" name="Image 1" descr="preencoded.png"/>
          <p:cNvPicPr>
            <a:picLocks noChangeAspect="1"/>
          </p:cNvPicPr>
          <p:nvPr/>
        </p:nvPicPr>
        <p:blipFill>
          <a:blip r:embed="rId4"/>
          <a:stretch>
            <a:fillRect/>
          </a:stretch>
        </p:blipFill>
        <p:spPr>
          <a:xfrm>
            <a:off x="566562" y="2212482"/>
            <a:ext cx="201900" cy="201900"/>
          </a:xfrm>
          <a:prstGeom prst="rect">
            <a:avLst/>
          </a:prstGeom>
        </p:spPr>
      </p:pic>
      <p:sp>
        <p:nvSpPr>
          <p:cNvPr id="9" name="Text 5"/>
          <p:cNvSpPr/>
          <p:nvPr/>
        </p:nvSpPr>
        <p:spPr>
          <a:xfrm>
            <a:off x="1024128" y="1984248"/>
            <a:ext cx="3794760" cy="896112"/>
          </a:xfrm>
          <a:prstGeom prst="rect">
            <a:avLst/>
          </a:prstGeom>
          <a:noFill/>
          <a:ln/>
        </p:spPr>
        <p:txBody>
          <a:bodyPr wrap="square" lIns="254" tIns="254" rIns="254" bIns="254" rtlCol="0" anchor="ctr"/>
          <a:lstStyle/>
          <a:p>
            <a:pPr marL="0" indent="0">
              <a:spcAft>
                <a:spcPts val="300"/>
              </a:spcAft>
              <a:buNone/>
            </a:pPr>
            <a:r>
              <a:rPr lang="en-US" sz="1250" b="1" dirty="0">
                <a:solidFill>
                  <a:srgbClr val="23233F"/>
                </a:solidFill>
                <a:latin typeface="Calibri" pitchFamily="34" charset="0"/>
                <a:ea typeface="Calibri" pitchFamily="34" charset="-122"/>
                <a:cs typeface="Calibri" pitchFamily="34" charset="-120"/>
              </a:rPr>
              <a:t>Ratings can't drift</a:t>
            </a:r>
            <a:endParaRPr lang="en-US" sz="1250" dirty="0"/>
          </a:p>
          <a:p>
            <a:pPr marL="0" indent="0">
              <a:spcAft>
                <a:spcPts val="300"/>
              </a:spcAft>
              <a:buNone/>
            </a:pPr>
            <a:r>
              <a:rPr lang="en-US" sz="1000" dirty="0">
                <a:solidFill>
                  <a:srgbClr val="6A6A82"/>
                </a:solidFill>
                <a:latin typeface="Calibri" pitchFamily="34" charset="0"/>
                <a:ea typeface="Calibri" pitchFamily="34" charset="-122"/>
                <a:cs typeface="Calibri" pitchFamily="34" charset="-120"/>
              </a:rPr>
              <a:t>average recomputed from real Review documents, inside the same transaction as the write</a:t>
            </a:r>
            <a:endParaRPr lang="en-US" sz="1250" dirty="0"/>
          </a:p>
        </p:txBody>
      </p:sp>
      <p:sp>
        <p:nvSpPr>
          <p:cNvPr id="10" name="Shape 6"/>
          <p:cNvSpPr/>
          <p:nvPr/>
        </p:nvSpPr>
        <p:spPr>
          <a:xfrm>
            <a:off x="457200" y="3035808"/>
            <a:ext cx="420624" cy="420624"/>
          </a:xfrm>
          <a:prstGeom prst="ellipse">
            <a:avLst/>
          </a:prstGeom>
          <a:solidFill>
            <a:srgbClr val="23233F"/>
          </a:solidFill>
          <a:ln/>
        </p:spPr>
      </p:sp>
      <p:pic>
        <p:nvPicPr>
          <p:cNvPr id="11" name="Image 2" descr="preencoded.png"/>
          <p:cNvPicPr>
            <a:picLocks noChangeAspect="1"/>
          </p:cNvPicPr>
          <p:nvPr/>
        </p:nvPicPr>
        <p:blipFill>
          <a:blip r:embed="rId5"/>
          <a:stretch>
            <a:fillRect/>
          </a:stretch>
        </p:blipFill>
        <p:spPr>
          <a:xfrm>
            <a:off x="566562" y="3145170"/>
            <a:ext cx="201900" cy="201900"/>
          </a:xfrm>
          <a:prstGeom prst="rect">
            <a:avLst/>
          </a:prstGeom>
        </p:spPr>
      </p:pic>
      <p:sp>
        <p:nvSpPr>
          <p:cNvPr id="12" name="Text 7"/>
          <p:cNvSpPr/>
          <p:nvPr/>
        </p:nvSpPr>
        <p:spPr>
          <a:xfrm>
            <a:off x="1024128" y="2916936"/>
            <a:ext cx="3794760" cy="896112"/>
          </a:xfrm>
          <a:prstGeom prst="rect">
            <a:avLst/>
          </a:prstGeom>
          <a:noFill/>
          <a:ln/>
        </p:spPr>
        <p:txBody>
          <a:bodyPr wrap="square" lIns="254" tIns="254" rIns="254" bIns="254" rtlCol="0" anchor="ctr"/>
          <a:lstStyle/>
          <a:p>
            <a:pPr marL="0" indent="0">
              <a:spcAft>
                <a:spcPts val="300"/>
              </a:spcAft>
              <a:buNone/>
            </a:pPr>
            <a:r>
              <a:rPr lang="en-US" sz="1250" b="1" dirty="0">
                <a:solidFill>
                  <a:srgbClr val="23233F"/>
                </a:solidFill>
                <a:latin typeface="Calibri" pitchFamily="34" charset="0"/>
                <a:ea typeface="Calibri" pitchFamily="34" charset="-122"/>
                <a:cs typeface="Calibri" pitchFamily="34" charset="-120"/>
              </a:rPr>
              <a:t>Emit to the room, not the world</a:t>
            </a:r>
            <a:endParaRPr lang="en-US" sz="1250" dirty="0"/>
          </a:p>
          <a:p>
            <a:pPr marL="0" indent="0">
              <a:spcAft>
                <a:spcPts val="300"/>
              </a:spcAft>
              <a:buNone/>
            </a:pPr>
            <a:r>
              <a:rPr lang="en-US" sz="1000" dirty="0">
                <a:solidFill>
                  <a:srgbClr val="6A6A82"/>
                </a:solidFill>
                <a:latin typeface="Calibri" pitchFamily="34" charset="0"/>
                <a:ea typeface="Calibri" pitchFamily="34" charset="-122"/>
                <a:cs typeface="Calibri" pitchFamily="34" charset="-120"/>
              </a:rPr>
              <a:t>review:updated goes only to viewers of that book — delivery is O(viewers), not O(connections)</a:t>
            </a:r>
            <a:endParaRPr lang="en-US" sz="1250" dirty="0"/>
          </a:p>
        </p:txBody>
      </p:sp>
      <p:sp>
        <p:nvSpPr>
          <p:cNvPr id="13" name="Shape 8"/>
          <p:cNvSpPr/>
          <p:nvPr/>
        </p:nvSpPr>
        <p:spPr>
          <a:xfrm>
            <a:off x="457200" y="3968496"/>
            <a:ext cx="420624" cy="420624"/>
          </a:xfrm>
          <a:prstGeom prst="ellipse">
            <a:avLst/>
          </a:prstGeom>
          <a:solidFill>
            <a:srgbClr val="5C4AD6"/>
          </a:solidFill>
          <a:ln/>
        </p:spPr>
      </p:sp>
      <p:pic>
        <p:nvPicPr>
          <p:cNvPr id="14" name="Image 3" descr="preencoded.png"/>
          <p:cNvPicPr>
            <a:picLocks noChangeAspect="1"/>
          </p:cNvPicPr>
          <p:nvPr/>
        </p:nvPicPr>
        <p:blipFill>
          <a:blip r:embed="rId6"/>
          <a:stretch>
            <a:fillRect/>
          </a:stretch>
        </p:blipFill>
        <p:spPr>
          <a:xfrm>
            <a:off x="566562" y="4077858"/>
            <a:ext cx="201900" cy="201900"/>
          </a:xfrm>
          <a:prstGeom prst="rect">
            <a:avLst/>
          </a:prstGeom>
        </p:spPr>
      </p:pic>
      <p:sp>
        <p:nvSpPr>
          <p:cNvPr id="15" name="Text 9"/>
          <p:cNvSpPr/>
          <p:nvPr/>
        </p:nvSpPr>
        <p:spPr>
          <a:xfrm>
            <a:off x="1024128" y="3849624"/>
            <a:ext cx="3794760" cy="896112"/>
          </a:xfrm>
          <a:prstGeom prst="rect">
            <a:avLst/>
          </a:prstGeom>
          <a:noFill/>
          <a:ln/>
        </p:spPr>
        <p:txBody>
          <a:bodyPr wrap="square" lIns="254" tIns="254" rIns="254" bIns="254" rtlCol="0" anchor="ctr"/>
          <a:lstStyle/>
          <a:p>
            <a:pPr marL="0" indent="0">
              <a:spcAft>
                <a:spcPts val="300"/>
              </a:spcAft>
              <a:buNone/>
            </a:pPr>
            <a:r>
              <a:rPr lang="en-US" sz="1250" b="1" dirty="0">
                <a:solidFill>
                  <a:srgbClr val="23233F"/>
                </a:solidFill>
                <a:latin typeface="Calibri" pitchFamily="34" charset="0"/>
                <a:ea typeface="Calibri" pitchFamily="34" charset="-122"/>
                <a:cs typeface="Calibri" pitchFamily="34" charset="-120"/>
              </a:rPr>
              <a:t>Survives reconnects</a:t>
            </a:r>
            <a:endParaRPr lang="en-US" sz="1250" dirty="0"/>
          </a:p>
          <a:p>
            <a:pPr marL="0" indent="0">
              <a:spcAft>
                <a:spcPts val="300"/>
              </a:spcAft>
              <a:buNone/>
            </a:pPr>
            <a:r>
              <a:rPr lang="en-US" sz="1000" dirty="0">
                <a:solidFill>
                  <a:srgbClr val="6A6A82"/>
                </a:solidFill>
                <a:latin typeface="Calibri" pitchFamily="34" charset="0"/>
                <a:ea typeface="Calibri" pitchFamily="34" charset="-122"/>
                <a:cs typeface="Calibri" pitchFamily="34" charset="-120"/>
              </a:rPr>
              <a:t>room membership dies with the socket — the client re-joins on every reconnect</a:t>
            </a:r>
            <a:endParaRPr lang="en-US" sz="1250" dirty="0"/>
          </a:p>
        </p:txBody>
      </p:sp>
      <p:sp>
        <p:nvSpPr>
          <p:cNvPr id="16" name="Shape 10"/>
          <p:cNvSpPr/>
          <p:nvPr/>
        </p:nvSpPr>
        <p:spPr>
          <a:xfrm>
            <a:off x="5120640" y="1143000"/>
            <a:ext cx="3566160" cy="3566160"/>
          </a:xfrm>
          <a:prstGeom prst="roundRect">
            <a:avLst>
              <a:gd name="adj" fmla="val 1795"/>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17" name="Text 11"/>
          <p:cNvSpPr/>
          <p:nvPr/>
        </p:nvSpPr>
        <p:spPr>
          <a:xfrm>
            <a:off x="5303520" y="1261872"/>
            <a:ext cx="3200400" cy="274320"/>
          </a:xfrm>
          <a:prstGeom prst="rect">
            <a:avLst/>
          </a:prstGeom>
          <a:noFill/>
          <a:ln/>
        </p:spPr>
        <p:txBody>
          <a:bodyPr wrap="square" lIns="0" tIns="0" rIns="0" bIns="0" rtlCol="0" anchor="ctr"/>
          <a:lstStyle/>
          <a:p>
            <a:pPr marL="0" indent="0" algn="ctr">
              <a:buNone/>
            </a:pPr>
            <a:r>
              <a:rPr lang="en-US" sz="1150" b="1" dirty="0">
                <a:solidFill>
                  <a:srgbClr val="23233F"/>
                </a:solidFill>
                <a:latin typeface="Calibri" pitchFamily="34" charset="0"/>
                <a:ea typeface="Calibri" pitchFamily="34" charset="-122"/>
                <a:cs typeface="Calibri" pitchFamily="34" charset="-120"/>
              </a:rPr>
              <a:t>server emits into one room</a:t>
            </a:r>
            <a:endParaRPr lang="en-US" sz="1150" dirty="0"/>
          </a:p>
        </p:txBody>
      </p:sp>
      <p:sp>
        <p:nvSpPr>
          <p:cNvPr id="18" name="Shape 12"/>
          <p:cNvSpPr/>
          <p:nvPr/>
        </p:nvSpPr>
        <p:spPr>
          <a:xfrm>
            <a:off x="6629400" y="1627632"/>
            <a:ext cx="548640" cy="548640"/>
          </a:xfrm>
          <a:prstGeom prst="ellipse">
            <a:avLst/>
          </a:prstGeom>
          <a:solidFill>
            <a:srgbClr val="23233F"/>
          </a:solidFill>
          <a:ln/>
        </p:spPr>
      </p:sp>
      <p:pic>
        <p:nvPicPr>
          <p:cNvPr id="19" name="Image 4" descr="preencoded.png"/>
          <p:cNvPicPr>
            <a:picLocks noChangeAspect="1"/>
          </p:cNvPicPr>
          <p:nvPr/>
        </p:nvPicPr>
        <p:blipFill>
          <a:blip r:embed="rId7"/>
          <a:stretch>
            <a:fillRect/>
          </a:stretch>
        </p:blipFill>
        <p:spPr>
          <a:xfrm>
            <a:off x="6772046" y="1770278"/>
            <a:ext cx="263347" cy="263347"/>
          </a:xfrm>
          <a:prstGeom prst="rect">
            <a:avLst/>
          </a:prstGeom>
        </p:spPr>
      </p:pic>
      <p:sp>
        <p:nvSpPr>
          <p:cNvPr id="20" name="Shape 13"/>
          <p:cNvSpPr/>
          <p:nvPr/>
        </p:nvSpPr>
        <p:spPr>
          <a:xfrm>
            <a:off x="5349240" y="2743200"/>
            <a:ext cx="2103120" cy="1691640"/>
          </a:xfrm>
          <a:prstGeom prst="roundRect">
            <a:avLst>
              <a:gd name="adj" fmla="val 4324"/>
            </a:avLst>
          </a:prstGeom>
          <a:solidFill>
            <a:srgbClr val="F1EFFB"/>
          </a:solidFill>
          <a:ln w="15875">
            <a:solidFill>
              <a:srgbClr val="5C4AD6"/>
            </a:solidFill>
            <a:prstDash val="dash"/>
          </a:ln>
        </p:spPr>
      </p:sp>
      <p:sp>
        <p:nvSpPr>
          <p:cNvPr id="21" name="Text 14"/>
          <p:cNvSpPr/>
          <p:nvPr/>
        </p:nvSpPr>
        <p:spPr>
          <a:xfrm>
            <a:off x="5349240" y="2816352"/>
            <a:ext cx="2103120" cy="256032"/>
          </a:xfrm>
          <a:prstGeom prst="rect">
            <a:avLst/>
          </a:prstGeom>
          <a:noFill/>
          <a:ln/>
        </p:spPr>
        <p:txBody>
          <a:bodyPr wrap="square" lIns="0" tIns="0" rIns="0" bIns="0" rtlCol="0" anchor="ctr"/>
          <a:lstStyle/>
          <a:p>
            <a:pPr marL="0" indent="0" algn="ctr">
              <a:buNone/>
            </a:pPr>
            <a:r>
              <a:rPr lang="en-US" sz="950" b="1" dirty="0">
                <a:solidFill>
                  <a:srgbClr val="5C4AD6"/>
                </a:solidFill>
                <a:latin typeface="Courier New" pitchFamily="34" charset="0"/>
                <a:ea typeface="Courier New" pitchFamily="34" charset="-122"/>
                <a:cs typeface="Courier New" pitchFamily="34" charset="-120"/>
              </a:rPr>
              <a:t>room  book:42</a:t>
            </a:r>
            <a:endParaRPr lang="en-US" sz="950" dirty="0"/>
          </a:p>
        </p:txBody>
      </p:sp>
      <p:pic>
        <p:nvPicPr>
          <p:cNvPr id="22" name="Image 5" descr="preencoded.png"/>
          <p:cNvPicPr>
            <a:picLocks noChangeAspect="1"/>
          </p:cNvPicPr>
          <p:nvPr/>
        </p:nvPicPr>
        <p:blipFill>
          <a:blip r:embed="rId8"/>
          <a:stretch>
            <a:fillRect/>
          </a:stretch>
        </p:blipFill>
        <p:spPr>
          <a:xfrm>
            <a:off x="5669280" y="3246120"/>
            <a:ext cx="502920" cy="502920"/>
          </a:xfrm>
          <a:prstGeom prst="rect">
            <a:avLst/>
          </a:prstGeom>
        </p:spPr>
      </p:pic>
      <p:pic>
        <p:nvPicPr>
          <p:cNvPr id="23" name="Image 6" descr="preencoded.png"/>
          <p:cNvPicPr>
            <a:picLocks noChangeAspect="1"/>
          </p:cNvPicPr>
          <p:nvPr/>
        </p:nvPicPr>
        <p:blipFill>
          <a:blip r:embed="rId8"/>
          <a:stretch>
            <a:fillRect/>
          </a:stretch>
        </p:blipFill>
        <p:spPr>
          <a:xfrm>
            <a:off x="6629400" y="3246120"/>
            <a:ext cx="502920" cy="502920"/>
          </a:xfrm>
          <a:prstGeom prst="rect">
            <a:avLst/>
          </a:prstGeom>
        </p:spPr>
      </p:pic>
      <p:sp>
        <p:nvSpPr>
          <p:cNvPr id="24" name="Text 15"/>
          <p:cNvSpPr/>
          <p:nvPr/>
        </p:nvSpPr>
        <p:spPr>
          <a:xfrm>
            <a:off x="5394960" y="3977640"/>
            <a:ext cx="2011680" cy="274320"/>
          </a:xfrm>
          <a:prstGeom prst="rect">
            <a:avLst/>
          </a:prstGeom>
          <a:noFill/>
          <a:ln/>
        </p:spPr>
        <p:txBody>
          <a:bodyPr wrap="square" lIns="0" tIns="0" rIns="0" bIns="0" rtlCol="0" anchor="ctr"/>
          <a:lstStyle/>
          <a:p>
            <a:pPr marL="0" indent="0" algn="ctr">
              <a:buNone/>
            </a:pPr>
            <a:r>
              <a:rPr lang="en-US" sz="900" dirty="0">
                <a:solidFill>
                  <a:srgbClr val="6A6A82"/>
                </a:solidFill>
                <a:latin typeface="Calibri" pitchFamily="34" charset="0"/>
                <a:ea typeface="Calibri" pitchFamily="34" charset="-122"/>
                <a:cs typeface="Calibri" pitchFamily="34" charset="-120"/>
              </a:rPr>
              <a:t>both update instantly</a:t>
            </a:r>
            <a:endParaRPr lang="en-US" sz="900" dirty="0"/>
          </a:p>
        </p:txBody>
      </p:sp>
      <p:sp>
        <p:nvSpPr>
          <p:cNvPr id="25" name="Shape 16"/>
          <p:cNvSpPr/>
          <p:nvPr/>
        </p:nvSpPr>
        <p:spPr>
          <a:xfrm>
            <a:off x="6812280" y="2231136"/>
            <a:ext cx="0" cy="484632"/>
          </a:xfrm>
          <a:prstGeom prst="line">
            <a:avLst/>
          </a:prstGeom>
          <a:noFill/>
          <a:ln w="25400">
            <a:solidFill>
              <a:srgbClr val="5C4AD6"/>
            </a:solidFill>
            <a:prstDash val="solid"/>
            <a:tailEnd type="triangle"/>
          </a:ln>
        </p:spPr>
      </p:sp>
      <p:sp>
        <p:nvSpPr>
          <p:cNvPr id="26" name="Text 17"/>
          <p:cNvSpPr/>
          <p:nvPr/>
        </p:nvSpPr>
        <p:spPr>
          <a:xfrm>
            <a:off x="6880860" y="2312126"/>
            <a:ext cx="1737360" cy="237744"/>
          </a:xfrm>
          <a:prstGeom prst="rect">
            <a:avLst/>
          </a:prstGeom>
          <a:noFill/>
          <a:ln/>
        </p:spPr>
        <p:txBody>
          <a:bodyPr wrap="square" lIns="0" tIns="0" rIns="0" bIns="0" rtlCol="0" anchor="ctr"/>
          <a:lstStyle/>
          <a:p>
            <a:pPr marL="0" indent="0">
              <a:buNone/>
            </a:pPr>
            <a:r>
              <a:rPr lang="en-US" sz="900" dirty="0">
                <a:solidFill>
                  <a:srgbClr val="5C4AD6"/>
                </a:solidFill>
                <a:latin typeface="Courier New" pitchFamily="34" charset="0"/>
                <a:ea typeface="Courier New" pitchFamily="34" charset="-122"/>
                <a:cs typeface="Courier New" pitchFamily="34" charset="-120"/>
              </a:rPr>
              <a:t>review:updated</a:t>
            </a:r>
            <a:endParaRPr lang="en-US" sz="900" dirty="0"/>
          </a:p>
        </p:txBody>
      </p:sp>
      <p:pic>
        <p:nvPicPr>
          <p:cNvPr id="27" name="Image 7" descr="preencoded.png"/>
          <p:cNvPicPr>
            <a:picLocks noChangeAspect="1"/>
          </p:cNvPicPr>
          <p:nvPr/>
        </p:nvPicPr>
        <p:blipFill>
          <a:blip r:embed="rId9"/>
          <a:stretch>
            <a:fillRect/>
          </a:stretch>
        </p:blipFill>
        <p:spPr>
          <a:xfrm>
            <a:off x="7863840" y="3310128"/>
            <a:ext cx="457200" cy="457200"/>
          </a:xfrm>
          <a:prstGeom prst="rect">
            <a:avLst/>
          </a:prstGeom>
        </p:spPr>
      </p:pic>
      <p:sp>
        <p:nvSpPr>
          <p:cNvPr id="28" name="Text 18"/>
          <p:cNvSpPr/>
          <p:nvPr/>
        </p:nvSpPr>
        <p:spPr>
          <a:xfrm>
            <a:off x="7607808" y="3840480"/>
            <a:ext cx="1051560" cy="384048"/>
          </a:xfrm>
          <a:prstGeom prst="rect">
            <a:avLst/>
          </a:prstGeom>
          <a:noFill/>
          <a:ln/>
        </p:spPr>
        <p:txBody>
          <a:bodyPr wrap="square" lIns="0" tIns="0" rIns="0" bIns="0" rtlCol="0" anchor="ctr"/>
          <a:lstStyle/>
          <a:p>
            <a:pPr marL="0" indent="0" algn="ctr">
              <a:buNone/>
            </a:pPr>
            <a:r>
              <a:rPr lang="en-US" sz="850" dirty="0">
                <a:solidFill>
                  <a:srgbClr val="6A6A82"/>
                </a:solidFill>
                <a:latin typeface="Calibri" pitchFamily="34" charset="0"/>
                <a:ea typeface="Calibri" pitchFamily="34" charset="-122"/>
                <a:cs typeface="Calibri" pitchFamily="34" charset="-120"/>
              </a:rPr>
              <a:t>book:7 — no traffic</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IMPLEMENTATION</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Book Requests &amp; Admin Analytics</a:t>
            </a:r>
            <a:endParaRPr lang="en-US" sz="2800" dirty="0"/>
          </a:p>
        </p:txBody>
      </p:sp>
      <p:sp>
        <p:nvSpPr>
          <p:cNvPr id="4" name="Shape 2"/>
          <p:cNvSpPr/>
          <p:nvPr/>
        </p:nvSpPr>
        <p:spPr>
          <a:xfrm>
            <a:off x="457200" y="1051560"/>
            <a:ext cx="8229600" cy="1783080"/>
          </a:xfrm>
          <a:prstGeom prst="roundRect">
            <a:avLst>
              <a:gd name="adj" fmla="val 3590"/>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5" name="Text 3"/>
          <p:cNvSpPr/>
          <p:nvPr/>
        </p:nvSpPr>
        <p:spPr>
          <a:xfrm>
            <a:off x="685800" y="1170432"/>
            <a:ext cx="7772400" cy="274320"/>
          </a:xfrm>
          <a:prstGeom prst="rect">
            <a:avLst/>
          </a:prstGeom>
          <a:noFill/>
          <a:ln/>
        </p:spPr>
        <p:txBody>
          <a:bodyPr wrap="square" lIns="0" tIns="0" rIns="0" bIns="0" rtlCol="0" anchor="ctr"/>
          <a:lstStyle/>
          <a:p>
            <a:pPr marL="0" indent="0">
              <a:buNone/>
            </a:pPr>
            <a:r>
              <a:rPr lang="en-US" sz="1250" b="1" dirty="0">
                <a:solidFill>
                  <a:srgbClr val="23233F"/>
                </a:solidFill>
                <a:latin typeface="Calibri" pitchFamily="34" charset="0"/>
                <a:ea typeface="Calibri" pitchFamily="34" charset="-122"/>
                <a:cs typeface="Calibri" pitchFamily="34" charset="-120"/>
              </a:rPr>
              <a:t>Demand pipeline — customers signal, admins act</a:t>
            </a:r>
            <a:endParaRPr lang="en-US" sz="1250" dirty="0"/>
          </a:p>
        </p:txBody>
      </p:sp>
      <p:sp>
        <p:nvSpPr>
          <p:cNvPr id="6" name="Shape 4"/>
          <p:cNvSpPr/>
          <p:nvPr/>
        </p:nvSpPr>
        <p:spPr>
          <a:xfrm>
            <a:off x="1078992" y="1536192"/>
            <a:ext cx="457200" cy="457200"/>
          </a:xfrm>
          <a:prstGeom prst="ellipse">
            <a:avLst/>
          </a:prstGeom>
          <a:solidFill>
            <a:srgbClr val="5C4AD6"/>
          </a:solidFill>
          <a:ln/>
        </p:spPr>
      </p:sp>
      <p:pic>
        <p:nvPicPr>
          <p:cNvPr id="7" name="Image 0" descr="preencoded.png"/>
          <p:cNvPicPr>
            <a:picLocks noChangeAspect="1"/>
          </p:cNvPicPr>
          <p:nvPr/>
        </p:nvPicPr>
        <p:blipFill>
          <a:blip r:embed="rId3"/>
          <a:stretch>
            <a:fillRect/>
          </a:stretch>
        </p:blipFill>
        <p:spPr>
          <a:xfrm>
            <a:off x="1197864" y="1655064"/>
            <a:ext cx="219456" cy="219456"/>
          </a:xfrm>
          <a:prstGeom prst="rect">
            <a:avLst/>
          </a:prstGeom>
        </p:spPr>
      </p:pic>
      <p:sp>
        <p:nvSpPr>
          <p:cNvPr id="8" name="Text 5"/>
          <p:cNvSpPr/>
          <p:nvPr/>
        </p:nvSpPr>
        <p:spPr>
          <a:xfrm>
            <a:off x="548640" y="2048256"/>
            <a:ext cx="1517904" cy="502920"/>
          </a:xfrm>
          <a:prstGeom prst="rect">
            <a:avLst/>
          </a:prstGeom>
          <a:noFill/>
          <a:ln/>
        </p:spPr>
        <p:txBody>
          <a:bodyPr wrap="square" lIns="0" tIns="0" rIns="0" bIns="0" rtlCol="0" anchor="ctr"/>
          <a:lstStyle/>
          <a:p>
            <a:pPr marL="0" indent="0" algn="ctr">
              <a:spcAft>
                <a:spcPts val="100"/>
              </a:spcAft>
              <a:buNone/>
            </a:pPr>
            <a:r>
              <a:rPr lang="en-US" sz="950" b="1" dirty="0">
                <a:solidFill>
                  <a:srgbClr val="23233F"/>
                </a:solidFill>
                <a:latin typeface="Calibri" pitchFamily="34" charset="0"/>
                <a:ea typeface="Calibri" pitchFamily="34" charset="-122"/>
                <a:cs typeface="Calibri" pitchFamily="34" charset="-120"/>
              </a:rPr>
              <a:t>Request</a:t>
            </a:r>
            <a:endParaRPr lang="en-US" sz="950" dirty="0"/>
          </a:p>
          <a:p>
            <a:pPr marL="0" indent="0" algn="ctr">
              <a:spcAft>
                <a:spcPts val="100"/>
              </a:spcAft>
              <a:buNone/>
            </a:pPr>
            <a:r>
              <a:rPr lang="en-US" sz="850" dirty="0">
                <a:solidFill>
                  <a:srgbClr val="6A6A82"/>
                </a:solidFill>
                <a:latin typeface="Calibri" pitchFamily="34" charset="0"/>
                <a:ea typeface="Calibri" pitchFamily="34" charset="-122"/>
                <a:cs typeface="Calibri" pitchFamily="34" charset="-120"/>
              </a:rPr>
              <a:t>title + author</a:t>
            </a:r>
            <a:endParaRPr lang="en-US" sz="950" dirty="0"/>
          </a:p>
        </p:txBody>
      </p:sp>
      <p:sp>
        <p:nvSpPr>
          <p:cNvPr id="9" name="Shape 6"/>
          <p:cNvSpPr/>
          <p:nvPr/>
        </p:nvSpPr>
        <p:spPr>
          <a:xfrm>
            <a:off x="1618488" y="1764792"/>
            <a:ext cx="320040" cy="0"/>
          </a:xfrm>
          <a:prstGeom prst="line">
            <a:avLst/>
          </a:prstGeom>
          <a:noFill/>
          <a:ln w="19050">
            <a:solidFill>
              <a:srgbClr val="6A6A82"/>
            </a:solidFill>
            <a:prstDash val="solid"/>
            <a:tailEnd type="triangle"/>
          </a:ln>
        </p:spPr>
      </p:sp>
      <p:sp>
        <p:nvSpPr>
          <p:cNvPr id="10" name="Shape 7"/>
          <p:cNvSpPr/>
          <p:nvPr/>
        </p:nvSpPr>
        <p:spPr>
          <a:xfrm>
            <a:off x="2715768" y="1536192"/>
            <a:ext cx="457200" cy="457200"/>
          </a:xfrm>
          <a:prstGeom prst="ellipse">
            <a:avLst/>
          </a:prstGeom>
          <a:solidFill>
            <a:srgbClr val="23233F"/>
          </a:solidFill>
          <a:ln/>
        </p:spPr>
      </p:sp>
      <p:pic>
        <p:nvPicPr>
          <p:cNvPr id="11" name="Image 1" descr="preencoded.png"/>
          <p:cNvPicPr>
            <a:picLocks noChangeAspect="1"/>
          </p:cNvPicPr>
          <p:nvPr/>
        </p:nvPicPr>
        <p:blipFill>
          <a:blip r:embed="rId4"/>
          <a:stretch>
            <a:fillRect/>
          </a:stretch>
        </p:blipFill>
        <p:spPr>
          <a:xfrm>
            <a:off x="2834640" y="1655064"/>
            <a:ext cx="219456" cy="219456"/>
          </a:xfrm>
          <a:prstGeom prst="rect">
            <a:avLst/>
          </a:prstGeom>
        </p:spPr>
      </p:pic>
      <p:sp>
        <p:nvSpPr>
          <p:cNvPr id="12" name="Text 8"/>
          <p:cNvSpPr/>
          <p:nvPr/>
        </p:nvSpPr>
        <p:spPr>
          <a:xfrm>
            <a:off x="2185416" y="2048256"/>
            <a:ext cx="1517904" cy="502920"/>
          </a:xfrm>
          <a:prstGeom prst="rect">
            <a:avLst/>
          </a:prstGeom>
          <a:noFill/>
          <a:ln/>
        </p:spPr>
        <p:txBody>
          <a:bodyPr wrap="square" lIns="0" tIns="0" rIns="0" bIns="0" rtlCol="0" anchor="ctr"/>
          <a:lstStyle/>
          <a:p>
            <a:pPr marL="0" indent="0" algn="ctr">
              <a:spcAft>
                <a:spcPts val="100"/>
              </a:spcAft>
              <a:buNone/>
            </a:pPr>
            <a:r>
              <a:rPr lang="en-US" sz="950" b="1" dirty="0">
                <a:solidFill>
                  <a:srgbClr val="23233F"/>
                </a:solidFill>
                <a:latin typeface="Calibri" pitchFamily="34" charset="0"/>
                <a:ea typeface="Calibri" pitchFamily="34" charset="-122"/>
                <a:cs typeface="Calibri" pitchFamily="34" charset="-120"/>
              </a:rPr>
              <a:t>Normalize &amp; dedupe</a:t>
            </a:r>
            <a:endParaRPr lang="en-US" sz="950" dirty="0"/>
          </a:p>
          <a:p>
            <a:pPr marL="0" indent="0" algn="ctr">
              <a:spcAft>
                <a:spcPts val="100"/>
              </a:spcAft>
              <a:buNone/>
            </a:pPr>
            <a:r>
              <a:rPr lang="en-US" sz="850" dirty="0">
                <a:solidFill>
                  <a:srgbClr val="6A6A82"/>
                </a:solidFill>
                <a:latin typeface="Calibri" pitchFamily="34" charset="0"/>
                <a:ea typeface="Calibri" pitchFamily="34" charset="-122"/>
                <a:cs typeface="Calibri" pitchFamily="34" charset="-120"/>
              </a:rPr>
              <a:t>repeats become votes</a:t>
            </a:r>
            <a:endParaRPr lang="en-US" sz="950" dirty="0"/>
          </a:p>
        </p:txBody>
      </p:sp>
      <p:sp>
        <p:nvSpPr>
          <p:cNvPr id="13" name="Shape 9"/>
          <p:cNvSpPr/>
          <p:nvPr/>
        </p:nvSpPr>
        <p:spPr>
          <a:xfrm>
            <a:off x="3255264" y="1764792"/>
            <a:ext cx="320040" cy="0"/>
          </a:xfrm>
          <a:prstGeom prst="line">
            <a:avLst/>
          </a:prstGeom>
          <a:noFill/>
          <a:ln w="19050">
            <a:solidFill>
              <a:srgbClr val="6A6A82"/>
            </a:solidFill>
            <a:prstDash val="solid"/>
            <a:tailEnd type="triangle"/>
          </a:ln>
        </p:spPr>
      </p:sp>
      <p:sp>
        <p:nvSpPr>
          <p:cNvPr id="14" name="Shape 10"/>
          <p:cNvSpPr/>
          <p:nvPr/>
        </p:nvSpPr>
        <p:spPr>
          <a:xfrm>
            <a:off x="4352544" y="1536192"/>
            <a:ext cx="457200" cy="457200"/>
          </a:xfrm>
          <a:prstGeom prst="ellipse">
            <a:avLst/>
          </a:prstGeom>
          <a:solidFill>
            <a:srgbClr val="2BB673"/>
          </a:solidFill>
          <a:ln/>
        </p:spPr>
      </p:sp>
      <p:pic>
        <p:nvPicPr>
          <p:cNvPr id="15" name="Image 2" descr="preencoded.png"/>
          <p:cNvPicPr>
            <a:picLocks noChangeAspect="1"/>
          </p:cNvPicPr>
          <p:nvPr/>
        </p:nvPicPr>
        <p:blipFill>
          <a:blip r:embed="rId5"/>
          <a:stretch>
            <a:fillRect/>
          </a:stretch>
        </p:blipFill>
        <p:spPr>
          <a:xfrm>
            <a:off x="4471416" y="1655064"/>
            <a:ext cx="219456" cy="219456"/>
          </a:xfrm>
          <a:prstGeom prst="rect">
            <a:avLst/>
          </a:prstGeom>
        </p:spPr>
      </p:pic>
      <p:sp>
        <p:nvSpPr>
          <p:cNvPr id="16" name="Text 11"/>
          <p:cNvSpPr/>
          <p:nvPr/>
        </p:nvSpPr>
        <p:spPr>
          <a:xfrm>
            <a:off x="3822192" y="2048256"/>
            <a:ext cx="1517904" cy="502920"/>
          </a:xfrm>
          <a:prstGeom prst="rect">
            <a:avLst/>
          </a:prstGeom>
          <a:noFill/>
          <a:ln/>
        </p:spPr>
        <p:txBody>
          <a:bodyPr wrap="square" lIns="0" tIns="0" rIns="0" bIns="0" rtlCol="0" anchor="ctr"/>
          <a:lstStyle/>
          <a:p>
            <a:pPr marL="0" indent="0" algn="ctr">
              <a:spcAft>
                <a:spcPts val="100"/>
              </a:spcAft>
              <a:buNone/>
            </a:pPr>
            <a:r>
              <a:rPr lang="en-US" sz="950" b="1" dirty="0">
                <a:solidFill>
                  <a:srgbClr val="23233F"/>
                </a:solidFill>
                <a:latin typeface="Calibri" pitchFamily="34" charset="0"/>
                <a:ea typeface="Calibri" pitchFamily="34" charset="-122"/>
                <a:cs typeface="Calibri" pitchFamily="34" charset="-120"/>
              </a:rPr>
              <a:t>Priority score</a:t>
            </a:r>
            <a:endParaRPr lang="en-US" sz="950" dirty="0"/>
          </a:p>
          <a:p>
            <a:pPr marL="0" indent="0" algn="ctr">
              <a:spcAft>
                <a:spcPts val="100"/>
              </a:spcAft>
              <a:buNone/>
            </a:pPr>
            <a:r>
              <a:rPr lang="en-US" sz="850" dirty="0">
                <a:solidFill>
                  <a:srgbClr val="6A6A82"/>
                </a:solidFill>
                <a:latin typeface="Calibri" pitchFamily="34" charset="0"/>
                <a:ea typeface="Calibri" pitchFamily="34" charset="-122"/>
                <a:cs typeface="Calibri" pitchFamily="34" charset="-120"/>
              </a:rPr>
              <a:t>demand-ranked queue</a:t>
            </a:r>
            <a:endParaRPr lang="en-US" sz="950" dirty="0"/>
          </a:p>
        </p:txBody>
      </p:sp>
      <p:sp>
        <p:nvSpPr>
          <p:cNvPr id="17" name="Shape 12"/>
          <p:cNvSpPr/>
          <p:nvPr/>
        </p:nvSpPr>
        <p:spPr>
          <a:xfrm>
            <a:off x="4892040" y="1764792"/>
            <a:ext cx="320040" cy="0"/>
          </a:xfrm>
          <a:prstGeom prst="line">
            <a:avLst/>
          </a:prstGeom>
          <a:noFill/>
          <a:ln w="19050">
            <a:solidFill>
              <a:srgbClr val="6A6A82"/>
            </a:solidFill>
            <a:prstDash val="solid"/>
            <a:tailEnd type="triangle"/>
          </a:ln>
        </p:spPr>
      </p:sp>
      <p:sp>
        <p:nvSpPr>
          <p:cNvPr id="18" name="Shape 13"/>
          <p:cNvSpPr/>
          <p:nvPr/>
        </p:nvSpPr>
        <p:spPr>
          <a:xfrm>
            <a:off x="5989320" y="1536192"/>
            <a:ext cx="457200" cy="457200"/>
          </a:xfrm>
          <a:prstGeom prst="ellipse">
            <a:avLst/>
          </a:prstGeom>
          <a:solidFill>
            <a:srgbClr val="5C4AD6"/>
          </a:solidFill>
          <a:ln/>
        </p:spPr>
      </p:sp>
      <p:pic>
        <p:nvPicPr>
          <p:cNvPr id="19" name="Image 3" descr="preencoded.png"/>
          <p:cNvPicPr>
            <a:picLocks noChangeAspect="1"/>
          </p:cNvPicPr>
          <p:nvPr/>
        </p:nvPicPr>
        <p:blipFill>
          <a:blip r:embed="rId6"/>
          <a:stretch>
            <a:fillRect/>
          </a:stretch>
        </p:blipFill>
        <p:spPr>
          <a:xfrm>
            <a:off x="6108192" y="1655064"/>
            <a:ext cx="219456" cy="219456"/>
          </a:xfrm>
          <a:prstGeom prst="rect">
            <a:avLst/>
          </a:prstGeom>
        </p:spPr>
      </p:pic>
      <p:sp>
        <p:nvSpPr>
          <p:cNvPr id="20" name="Text 14"/>
          <p:cNvSpPr/>
          <p:nvPr/>
        </p:nvSpPr>
        <p:spPr>
          <a:xfrm>
            <a:off x="5458968" y="2048256"/>
            <a:ext cx="1517904" cy="502920"/>
          </a:xfrm>
          <a:prstGeom prst="rect">
            <a:avLst/>
          </a:prstGeom>
          <a:noFill/>
          <a:ln/>
        </p:spPr>
        <p:txBody>
          <a:bodyPr wrap="square" lIns="0" tIns="0" rIns="0" bIns="0" rtlCol="0" anchor="ctr"/>
          <a:lstStyle/>
          <a:p>
            <a:pPr marL="0" indent="0" algn="ctr">
              <a:spcAft>
                <a:spcPts val="100"/>
              </a:spcAft>
              <a:buNone/>
            </a:pPr>
            <a:r>
              <a:rPr lang="en-US" sz="950" b="1" dirty="0">
                <a:solidFill>
                  <a:srgbClr val="23233F"/>
                </a:solidFill>
                <a:latin typeface="Calibri" pitchFamily="34" charset="0"/>
                <a:ea typeface="Calibri" pitchFamily="34" charset="-122"/>
                <a:cs typeface="Calibri" pitchFamily="34" charset="-120"/>
              </a:rPr>
              <a:t>Approve w/ candidates</a:t>
            </a:r>
            <a:endParaRPr lang="en-US" sz="950" dirty="0"/>
          </a:p>
          <a:p>
            <a:pPr marL="0" indent="0" algn="ctr">
              <a:spcAft>
                <a:spcPts val="100"/>
              </a:spcAft>
              <a:buNone/>
            </a:pPr>
            <a:r>
              <a:rPr lang="en-US" sz="850" dirty="0">
                <a:solidFill>
                  <a:srgbClr val="6A6A82"/>
                </a:solidFill>
                <a:latin typeface="Calibri" pitchFamily="34" charset="0"/>
                <a:ea typeface="Calibri" pitchFamily="34" charset="-122"/>
                <a:cs typeface="Calibri" pitchFamily="34" charset="-120"/>
              </a:rPr>
              <a:t>Google Books prefill</a:t>
            </a:r>
            <a:endParaRPr lang="en-US" sz="950" dirty="0"/>
          </a:p>
        </p:txBody>
      </p:sp>
      <p:sp>
        <p:nvSpPr>
          <p:cNvPr id="21" name="Shape 15"/>
          <p:cNvSpPr/>
          <p:nvPr/>
        </p:nvSpPr>
        <p:spPr>
          <a:xfrm>
            <a:off x="6528816" y="1764792"/>
            <a:ext cx="320040" cy="0"/>
          </a:xfrm>
          <a:prstGeom prst="line">
            <a:avLst/>
          </a:prstGeom>
          <a:noFill/>
          <a:ln w="19050">
            <a:solidFill>
              <a:srgbClr val="6A6A82"/>
            </a:solidFill>
            <a:prstDash val="solid"/>
            <a:tailEnd type="triangle"/>
          </a:ln>
        </p:spPr>
      </p:sp>
      <p:sp>
        <p:nvSpPr>
          <p:cNvPr id="22" name="Shape 16"/>
          <p:cNvSpPr/>
          <p:nvPr/>
        </p:nvSpPr>
        <p:spPr>
          <a:xfrm>
            <a:off x="7626096" y="1536192"/>
            <a:ext cx="457200" cy="457200"/>
          </a:xfrm>
          <a:prstGeom prst="ellipse">
            <a:avLst/>
          </a:prstGeom>
          <a:solidFill>
            <a:srgbClr val="23233F"/>
          </a:solidFill>
          <a:ln/>
        </p:spPr>
      </p:sp>
      <p:pic>
        <p:nvPicPr>
          <p:cNvPr id="23" name="Image 4" descr="preencoded.png"/>
          <p:cNvPicPr>
            <a:picLocks noChangeAspect="1"/>
          </p:cNvPicPr>
          <p:nvPr/>
        </p:nvPicPr>
        <p:blipFill>
          <a:blip r:embed="rId7"/>
          <a:stretch>
            <a:fillRect/>
          </a:stretch>
        </p:blipFill>
        <p:spPr>
          <a:xfrm>
            <a:off x="7744968" y="1655064"/>
            <a:ext cx="219456" cy="219456"/>
          </a:xfrm>
          <a:prstGeom prst="rect">
            <a:avLst/>
          </a:prstGeom>
        </p:spPr>
      </p:pic>
      <p:sp>
        <p:nvSpPr>
          <p:cNvPr id="24" name="Text 17"/>
          <p:cNvSpPr/>
          <p:nvPr/>
        </p:nvSpPr>
        <p:spPr>
          <a:xfrm>
            <a:off x="7095744" y="2048256"/>
            <a:ext cx="1517904" cy="502920"/>
          </a:xfrm>
          <a:prstGeom prst="rect">
            <a:avLst/>
          </a:prstGeom>
          <a:noFill/>
          <a:ln/>
        </p:spPr>
        <p:txBody>
          <a:bodyPr wrap="square" lIns="0" tIns="0" rIns="0" bIns="0" rtlCol="0" anchor="ctr"/>
          <a:lstStyle/>
          <a:p>
            <a:pPr marL="0" indent="0" algn="ctr">
              <a:spcAft>
                <a:spcPts val="100"/>
              </a:spcAft>
              <a:buNone/>
            </a:pPr>
            <a:r>
              <a:rPr lang="en-US" sz="950" b="1" dirty="0">
                <a:solidFill>
                  <a:srgbClr val="23233F"/>
                </a:solidFill>
                <a:latin typeface="Calibri" pitchFamily="34" charset="0"/>
                <a:ea typeface="Calibri" pitchFamily="34" charset="-122"/>
                <a:cs typeface="Calibri" pitchFamily="34" charset="-120"/>
              </a:rPr>
              <a:t>In the catalog</a:t>
            </a:r>
            <a:endParaRPr lang="en-US" sz="950" dirty="0"/>
          </a:p>
          <a:p>
            <a:pPr marL="0" indent="0" algn="ctr">
              <a:spcAft>
                <a:spcPts val="100"/>
              </a:spcAft>
              <a:buNone/>
            </a:pPr>
            <a:r>
              <a:rPr lang="en-US" sz="850" dirty="0">
                <a:solidFill>
                  <a:srgbClr val="6A6A82"/>
                </a:solidFill>
                <a:latin typeface="Calibri" pitchFamily="34" charset="0"/>
                <a:ea typeface="Calibri" pitchFamily="34" charset="-122"/>
                <a:cs typeface="Calibri" pitchFamily="34" charset="-120"/>
              </a:rPr>
              <a:t>purchasable</a:t>
            </a:r>
            <a:endParaRPr lang="en-US" sz="950" dirty="0"/>
          </a:p>
        </p:txBody>
      </p:sp>
      <p:sp>
        <p:nvSpPr>
          <p:cNvPr id="25" name="Text 18"/>
          <p:cNvSpPr/>
          <p:nvPr/>
        </p:nvSpPr>
        <p:spPr>
          <a:xfrm>
            <a:off x="685800" y="2542032"/>
            <a:ext cx="7772400" cy="237744"/>
          </a:xfrm>
          <a:prstGeom prst="rect">
            <a:avLst/>
          </a:prstGeom>
          <a:noFill/>
          <a:ln/>
        </p:spPr>
        <p:txBody>
          <a:bodyPr wrap="square" lIns="0" tIns="0" rIns="0" bIns="0" rtlCol="0" anchor="ctr"/>
          <a:lstStyle/>
          <a:p>
            <a:pPr marL="0" indent="0">
              <a:buNone/>
            </a:pPr>
            <a:r>
              <a:rPr lang="en-US" sz="950" i="1" dirty="0">
                <a:solidFill>
                  <a:srgbClr val="2BB673"/>
                </a:solidFill>
                <a:latin typeface="Calibri" pitchFamily="34" charset="0"/>
                <a:ea typeface="Calibri" pitchFamily="34" charset="-122"/>
                <a:cs typeface="Calibri" pitchFamily="34" charset="-120"/>
              </a:rPr>
              <a:t>Google Books down? Graceful — empty candidates + notice; manual entry always works.</a:t>
            </a:r>
            <a:endParaRPr lang="en-US" sz="950" dirty="0"/>
          </a:p>
        </p:txBody>
      </p:sp>
      <p:sp>
        <p:nvSpPr>
          <p:cNvPr id="26" name="Shape 19"/>
          <p:cNvSpPr/>
          <p:nvPr/>
        </p:nvSpPr>
        <p:spPr>
          <a:xfrm>
            <a:off x="457200" y="3063240"/>
            <a:ext cx="8229600" cy="1645920"/>
          </a:xfrm>
          <a:prstGeom prst="roundRect">
            <a:avLst>
              <a:gd name="adj" fmla="val 3889"/>
            </a:avLst>
          </a:prstGeom>
          <a:solidFill>
            <a:srgbClr val="F1EFFB"/>
          </a:solidFill>
          <a:ln w="9525">
            <a:solidFill>
              <a:srgbClr val="E4E2F0"/>
            </a:solidFill>
            <a:prstDash val="solid"/>
          </a:ln>
          <a:effectLst>
            <a:outerShdw blurRad="88900" dist="25400" dir="2700000" algn="bl" rotWithShape="0">
              <a:srgbClr val="000000">
                <a:alpha val="13000"/>
              </a:srgbClr>
            </a:outerShdw>
          </a:effectLst>
        </p:spPr>
      </p:sp>
      <p:sp>
        <p:nvSpPr>
          <p:cNvPr id="27" name="Shape 20"/>
          <p:cNvSpPr/>
          <p:nvPr/>
        </p:nvSpPr>
        <p:spPr>
          <a:xfrm>
            <a:off x="713232" y="3310128"/>
            <a:ext cx="502920" cy="502920"/>
          </a:xfrm>
          <a:prstGeom prst="ellipse">
            <a:avLst/>
          </a:prstGeom>
          <a:solidFill>
            <a:srgbClr val="5C4AD6"/>
          </a:solidFill>
          <a:ln/>
        </p:spPr>
      </p:sp>
      <p:pic>
        <p:nvPicPr>
          <p:cNvPr id="28" name="Image 5" descr="preencoded.png"/>
          <p:cNvPicPr>
            <a:picLocks noChangeAspect="1"/>
          </p:cNvPicPr>
          <p:nvPr/>
        </p:nvPicPr>
        <p:blipFill>
          <a:blip r:embed="rId8"/>
          <a:stretch>
            <a:fillRect/>
          </a:stretch>
        </p:blipFill>
        <p:spPr>
          <a:xfrm>
            <a:off x="843991" y="3440887"/>
            <a:ext cx="241402" cy="241402"/>
          </a:xfrm>
          <a:prstGeom prst="rect">
            <a:avLst/>
          </a:prstGeom>
        </p:spPr>
      </p:pic>
      <p:sp>
        <p:nvSpPr>
          <p:cNvPr id="29" name="Text 21"/>
          <p:cNvSpPr/>
          <p:nvPr/>
        </p:nvSpPr>
        <p:spPr>
          <a:xfrm>
            <a:off x="1417320" y="3218688"/>
            <a:ext cx="7132320" cy="274320"/>
          </a:xfrm>
          <a:prstGeom prst="rect">
            <a:avLst/>
          </a:prstGeom>
          <a:noFill/>
          <a:ln/>
        </p:spPr>
        <p:txBody>
          <a:bodyPr wrap="square" lIns="0" tIns="0" rIns="0" bIns="0" rtlCol="0" anchor="ctr"/>
          <a:lstStyle/>
          <a:p>
            <a:pPr marL="0" indent="0">
              <a:buNone/>
            </a:pPr>
            <a:r>
              <a:rPr lang="en-US" sz="1250" b="1" dirty="0">
                <a:solidFill>
                  <a:srgbClr val="23233F"/>
                </a:solidFill>
                <a:latin typeface="Calibri" pitchFamily="34" charset="0"/>
                <a:ea typeface="Calibri" pitchFamily="34" charset="-122"/>
                <a:cs typeface="Calibri" pitchFamily="34" charset="-120"/>
              </a:rPr>
              <a:t>Analytics = MongoDB aggregation pipelines + Recharts</a:t>
            </a:r>
            <a:endParaRPr lang="en-US" sz="1250" dirty="0"/>
          </a:p>
        </p:txBody>
      </p:sp>
      <p:sp>
        <p:nvSpPr>
          <p:cNvPr id="30" name="Shape 22"/>
          <p:cNvSpPr/>
          <p:nvPr/>
        </p:nvSpPr>
        <p:spPr>
          <a:xfrm>
            <a:off x="1417320" y="3584448"/>
            <a:ext cx="738835" cy="329184"/>
          </a:xfrm>
          <a:prstGeom prst="roundRect">
            <a:avLst>
              <a:gd name="adj" fmla="val 50000"/>
            </a:avLst>
          </a:prstGeom>
          <a:solidFill>
            <a:srgbClr val="23233F"/>
          </a:solidFill>
          <a:ln/>
        </p:spPr>
      </p:sp>
      <p:sp>
        <p:nvSpPr>
          <p:cNvPr id="31" name="Text 23"/>
          <p:cNvSpPr/>
          <p:nvPr/>
        </p:nvSpPr>
        <p:spPr>
          <a:xfrm>
            <a:off x="1417320" y="3584448"/>
            <a:ext cx="738835"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Orders</a:t>
            </a:r>
            <a:endParaRPr lang="en-US" sz="950" dirty="0"/>
          </a:p>
        </p:txBody>
      </p:sp>
      <p:sp>
        <p:nvSpPr>
          <p:cNvPr id="32" name="Shape 24"/>
          <p:cNvSpPr/>
          <p:nvPr/>
        </p:nvSpPr>
        <p:spPr>
          <a:xfrm>
            <a:off x="2174443" y="3749040"/>
            <a:ext cx="164592" cy="0"/>
          </a:xfrm>
          <a:prstGeom prst="line">
            <a:avLst/>
          </a:prstGeom>
          <a:noFill/>
          <a:ln w="15875">
            <a:solidFill>
              <a:srgbClr val="6A6A82"/>
            </a:solidFill>
            <a:prstDash val="solid"/>
            <a:tailEnd type="triangle"/>
          </a:ln>
        </p:spPr>
      </p:sp>
      <p:sp>
        <p:nvSpPr>
          <p:cNvPr id="33" name="Shape 25"/>
          <p:cNvSpPr/>
          <p:nvPr/>
        </p:nvSpPr>
        <p:spPr>
          <a:xfrm>
            <a:off x="2375611" y="3584448"/>
            <a:ext cx="819302" cy="329184"/>
          </a:xfrm>
          <a:prstGeom prst="roundRect">
            <a:avLst>
              <a:gd name="adj" fmla="val 50000"/>
            </a:avLst>
          </a:prstGeom>
          <a:solidFill>
            <a:srgbClr val="5C4AD6"/>
          </a:solidFill>
          <a:ln/>
        </p:spPr>
      </p:sp>
      <p:sp>
        <p:nvSpPr>
          <p:cNvPr id="34" name="Text 26"/>
          <p:cNvSpPr/>
          <p:nvPr/>
        </p:nvSpPr>
        <p:spPr>
          <a:xfrm>
            <a:off x="2375611" y="3584448"/>
            <a:ext cx="819302"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$unwind</a:t>
            </a:r>
            <a:endParaRPr lang="en-US" sz="950" dirty="0"/>
          </a:p>
        </p:txBody>
      </p:sp>
      <p:sp>
        <p:nvSpPr>
          <p:cNvPr id="35" name="Shape 27"/>
          <p:cNvSpPr/>
          <p:nvPr/>
        </p:nvSpPr>
        <p:spPr>
          <a:xfrm>
            <a:off x="3213202" y="3749040"/>
            <a:ext cx="164592" cy="0"/>
          </a:xfrm>
          <a:prstGeom prst="line">
            <a:avLst/>
          </a:prstGeom>
          <a:noFill/>
          <a:ln w="15875">
            <a:solidFill>
              <a:srgbClr val="6A6A82"/>
            </a:solidFill>
            <a:prstDash val="solid"/>
            <a:tailEnd type="triangle"/>
          </a:ln>
        </p:spPr>
      </p:sp>
      <p:sp>
        <p:nvSpPr>
          <p:cNvPr id="36" name="Shape 28"/>
          <p:cNvSpPr/>
          <p:nvPr/>
        </p:nvSpPr>
        <p:spPr>
          <a:xfrm>
            <a:off x="3414370" y="3584448"/>
            <a:ext cx="738835" cy="329184"/>
          </a:xfrm>
          <a:prstGeom prst="roundRect">
            <a:avLst>
              <a:gd name="adj" fmla="val 50000"/>
            </a:avLst>
          </a:prstGeom>
          <a:solidFill>
            <a:srgbClr val="5C4AD6"/>
          </a:solidFill>
          <a:ln/>
        </p:spPr>
      </p:sp>
      <p:sp>
        <p:nvSpPr>
          <p:cNvPr id="37" name="Text 29"/>
          <p:cNvSpPr/>
          <p:nvPr/>
        </p:nvSpPr>
        <p:spPr>
          <a:xfrm>
            <a:off x="3414370" y="3584448"/>
            <a:ext cx="738835"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$group</a:t>
            </a:r>
            <a:endParaRPr lang="en-US" sz="950" dirty="0"/>
          </a:p>
        </p:txBody>
      </p:sp>
      <p:sp>
        <p:nvSpPr>
          <p:cNvPr id="38" name="Shape 30"/>
          <p:cNvSpPr/>
          <p:nvPr/>
        </p:nvSpPr>
        <p:spPr>
          <a:xfrm>
            <a:off x="4171493" y="3749040"/>
            <a:ext cx="164592" cy="0"/>
          </a:xfrm>
          <a:prstGeom prst="line">
            <a:avLst/>
          </a:prstGeom>
          <a:noFill/>
          <a:ln w="15875">
            <a:solidFill>
              <a:srgbClr val="6A6A82"/>
            </a:solidFill>
            <a:prstDash val="solid"/>
            <a:tailEnd type="triangle"/>
          </a:ln>
        </p:spPr>
      </p:sp>
      <p:sp>
        <p:nvSpPr>
          <p:cNvPr id="39" name="Shape 31"/>
          <p:cNvSpPr/>
          <p:nvPr/>
        </p:nvSpPr>
        <p:spPr>
          <a:xfrm>
            <a:off x="4372661" y="3584448"/>
            <a:ext cx="658368" cy="329184"/>
          </a:xfrm>
          <a:prstGeom prst="roundRect">
            <a:avLst>
              <a:gd name="adj" fmla="val 50000"/>
            </a:avLst>
          </a:prstGeom>
          <a:solidFill>
            <a:srgbClr val="5C4AD6"/>
          </a:solidFill>
          <a:ln/>
        </p:spPr>
      </p:sp>
      <p:sp>
        <p:nvSpPr>
          <p:cNvPr id="40" name="Text 32"/>
          <p:cNvSpPr/>
          <p:nvPr/>
        </p:nvSpPr>
        <p:spPr>
          <a:xfrm>
            <a:off x="4372661" y="3584448"/>
            <a:ext cx="658368"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$sort</a:t>
            </a:r>
            <a:endParaRPr lang="en-US" sz="950" dirty="0"/>
          </a:p>
        </p:txBody>
      </p:sp>
      <p:sp>
        <p:nvSpPr>
          <p:cNvPr id="41" name="Shape 33"/>
          <p:cNvSpPr/>
          <p:nvPr/>
        </p:nvSpPr>
        <p:spPr>
          <a:xfrm>
            <a:off x="5049317" y="3749040"/>
            <a:ext cx="164592" cy="0"/>
          </a:xfrm>
          <a:prstGeom prst="line">
            <a:avLst/>
          </a:prstGeom>
          <a:noFill/>
          <a:ln w="15875">
            <a:solidFill>
              <a:srgbClr val="6A6A82"/>
            </a:solidFill>
            <a:prstDash val="solid"/>
            <a:tailEnd type="triangle"/>
          </a:ln>
        </p:spPr>
      </p:sp>
      <p:sp>
        <p:nvSpPr>
          <p:cNvPr id="42" name="Shape 34"/>
          <p:cNvSpPr/>
          <p:nvPr/>
        </p:nvSpPr>
        <p:spPr>
          <a:xfrm>
            <a:off x="5250485" y="3584448"/>
            <a:ext cx="1543507" cy="329184"/>
          </a:xfrm>
          <a:prstGeom prst="roundRect">
            <a:avLst>
              <a:gd name="adj" fmla="val 50000"/>
            </a:avLst>
          </a:prstGeom>
          <a:solidFill>
            <a:srgbClr val="23233F"/>
          </a:solidFill>
          <a:ln/>
        </p:spPr>
      </p:sp>
      <p:sp>
        <p:nvSpPr>
          <p:cNvPr id="43" name="Text 35"/>
          <p:cNvSpPr/>
          <p:nvPr/>
        </p:nvSpPr>
        <p:spPr>
          <a:xfrm>
            <a:off x="5250485" y="3584448"/>
            <a:ext cx="1543507"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ourier New" pitchFamily="34" charset="0"/>
                <a:ea typeface="Courier New" pitchFamily="34" charset="-122"/>
                <a:cs typeface="Courier New" pitchFamily="34" charset="-120"/>
              </a:rPr>
              <a:t>chart-ready JSON</a:t>
            </a:r>
            <a:endParaRPr lang="en-US" sz="950" dirty="0"/>
          </a:p>
        </p:txBody>
      </p:sp>
      <p:sp>
        <p:nvSpPr>
          <p:cNvPr id="44" name="Text 36"/>
          <p:cNvSpPr/>
          <p:nvPr/>
        </p:nvSpPr>
        <p:spPr>
          <a:xfrm>
            <a:off x="1417320" y="4041648"/>
            <a:ext cx="7086600" cy="548640"/>
          </a:xfrm>
          <a:prstGeom prst="rect">
            <a:avLst/>
          </a:prstGeom>
          <a:noFill/>
          <a:ln/>
        </p:spPr>
        <p:txBody>
          <a:bodyPr wrap="square" lIns="0" tIns="0" rIns="0" bIns="0" rtlCol="0" anchor="ctr"/>
          <a:lstStyle/>
          <a:p>
            <a:pPr marL="0" indent="0">
              <a:buNone/>
            </a:pPr>
            <a:r>
              <a:rPr lang="en-US" sz="1050" dirty="0">
                <a:solidFill>
                  <a:srgbClr val="23233F"/>
                </a:solidFill>
                <a:latin typeface="Calibri" pitchFamily="34" charset="0"/>
                <a:ea typeface="Calibri" pitchFamily="34" charset="-122"/>
                <a:cs typeface="Calibri" pitchFamily="34" charset="-120"/>
              </a:rPr>
              <a:t>Sales over time · top searches · most-requested · top-purchased.   </a:t>
            </a:r>
            <a:r>
              <a:rPr lang="en-US" sz="1050" i="1" dirty="0">
                <a:solidFill>
                  <a:srgbClr val="6A6A82"/>
                </a:solidFill>
                <a:latin typeface="Calibri" pitchFamily="34" charset="0"/>
                <a:ea typeface="Calibri" pitchFamily="34" charset="-122"/>
                <a:cs typeface="Calibri" pitchFamily="34" charset="-120"/>
              </a:rPr>
              <a:t>Search logging is fire-and-forget — analytics never slows a customer's request.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233F"/>
        </a:solidFill>
        <a:effectLst/>
      </p:bgPr>
    </p:bg>
    <p:spTree>
      <p:nvGrpSpPr>
        <p:cNvPr id="1" name=""/>
        <p:cNvGrpSpPr/>
        <p:nvPr/>
      </p:nvGrpSpPr>
      <p:grpSpPr>
        <a:xfrm>
          <a:off x="0" y="0"/>
          <a:ext cx="0" cy="0"/>
          <a:chOff x="0" y="0"/>
          <a:chExt cx="0" cy="0"/>
        </a:xfrm>
      </p:grpSpPr>
      <p:sp>
        <p:nvSpPr>
          <p:cNvPr id="2" name="Shape 0"/>
          <p:cNvSpPr/>
          <p:nvPr/>
        </p:nvSpPr>
        <p:spPr>
          <a:xfrm>
            <a:off x="502920" y="420624"/>
            <a:ext cx="146304" cy="146304"/>
          </a:xfrm>
          <a:prstGeom prst="ellipse">
            <a:avLst/>
          </a:prstGeom>
          <a:solidFill>
            <a:srgbClr val="D64545"/>
          </a:solidFill>
          <a:ln/>
        </p:spPr>
      </p:sp>
      <p:sp>
        <p:nvSpPr>
          <p:cNvPr id="3" name="Text 1"/>
          <p:cNvSpPr/>
          <p:nvPr/>
        </p:nvSpPr>
        <p:spPr>
          <a:xfrm>
            <a:off x="777240" y="201168"/>
            <a:ext cx="7772400" cy="56692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LIVE DEMO</a:t>
            </a:r>
            <a:endParaRPr lang="en-US" sz="3200" dirty="0"/>
          </a:p>
        </p:txBody>
      </p:sp>
      <p:sp>
        <p:nvSpPr>
          <p:cNvPr id="4" name="Shape 2"/>
          <p:cNvSpPr/>
          <p:nvPr/>
        </p:nvSpPr>
        <p:spPr>
          <a:xfrm>
            <a:off x="457200" y="1051560"/>
            <a:ext cx="8229600" cy="786384"/>
          </a:xfrm>
          <a:prstGeom prst="roundRect">
            <a:avLst>
              <a:gd name="adj" fmla="val 8140"/>
            </a:avLst>
          </a:prstGeom>
          <a:solidFill>
            <a:srgbClr val="2C2C52"/>
          </a:solidFill>
          <a:ln w="9525">
            <a:solidFill>
              <a:srgbClr val="E4E2F0"/>
            </a:solidFill>
            <a:prstDash val="solid"/>
          </a:ln>
        </p:spPr>
      </p:sp>
      <p:sp>
        <p:nvSpPr>
          <p:cNvPr id="5" name="Shape 3"/>
          <p:cNvSpPr/>
          <p:nvPr/>
        </p:nvSpPr>
        <p:spPr>
          <a:xfrm>
            <a:off x="658368" y="1225296"/>
            <a:ext cx="438912" cy="438912"/>
          </a:xfrm>
          <a:prstGeom prst="ellipse">
            <a:avLst/>
          </a:prstGeom>
          <a:solidFill>
            <a:srgbClr val="5C4AD6"/>
          </a:solidFill>
          <a:ln/>
        </p:spPr>
      </p:sp>
      <p:pic>
        <p:nvPicPr>
          <p:cNvPr id="6" name="Image 0" descr="preencoded.png"/>
          <p:cNvPicPr>
            <a:picLocks noChangeAspect="1"/>
          </p:cNvPicPr>
          <p:nvPr/>
        </p:nvPicPr>
        <p:blipFill>
          <a:blip r:embed="rId3"/>
          <a:stretch>
            <a:fillRect/>
          </a:stretch>
        </p:blipFill>
        <p:spPr>
          <a:xfrm>
            <a:off x="772485" y="1339413"/>
            <a:ext cx="210678" cy="210678"/>
          </a:xfrm>
          <a:prstGeom prst="rect">
            <a:avLst/>
          </a:prstGeom>
        </p:spPr>
      </p:pic>
      <p:sp>
        <p:nvSpPr>
          <p:cNvPr id="7" name="Text 4"/>
          <p:cNvSpPr/>
          <p:nvPr/>
        </p:nvSpPr>
        <p:spPr>
          <a:xfrm>
            <a:off x="1298448" y="1051560"/>
            <a:ext cx="7269480" cy="786384"/>
          </a:xfrm>
          <a:prstGeom prst="rect">
            <a:avLst/>
          </a:prstGeom>
          <a:noFill/>
          <a:ln/>
        </p:spPr>
        <p:txBody>
          <a:bodyPr wrap="square" lIns="508" tIns="508" rIns="508" bIns="508"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Customer journey   </a:t>
            </a:r>
            <a:r>
              <a:rPr lang="en-US" sz="1100" dirty="0">
                <a:solidFill>
                  <a:srgbClr val="C9C4F2"/>
                </a:solidFill>
                <a:latin typeface="Calibri" pitchFamily="34" charset="0"/>
                <a:ea typeface="Calibri" pitchFamily="34" charset="-122"/>
                <a:cs typeface="Calibri" pitchFamily="34" charset="-120"/>
              </a:rPr>
              <a:t>search (logged for analytics) → book details: reviews + store map → cart → 5-step checkout with a live reservation timer</a:t>
            </a:r>
            <a:endParaRPr lang="en-US" sz="1300" dirty="0"/>
          </a:p>
        </p:txBody>
      </p:sp>
      <p:sp>
        <p:nvSpPr>
          <p:cNvPr id="8" name="Shape 5"/>
          <p:cNvSpPr/>
          <p:nvPr/>
        </p:nvSpPr>
        <p:spPr>
          <a:xfrm>
            <a:off x="457200" y="1947672"/>
            <a:ext cx="8229600" cy="786384"/>
          </a:xfrm>
          <a:prstGeom prst="roundRect">
            <a:avLst>
              <a:gd name="adj" fmla="val 8140"/>
            </a:avLst>
          </a:prstGeom>
          <a:solidFill>
            <a:srgbClr val="2C2C52"/>
          </a:solidFill>
          <a:ln w="9525">
            <a:solidFill>
              <a:srgbClr val="E4E2F0"/>
            </a:solidFill>
            <a:prstDash val="solid"/>
          </a:ln>
        </p:spPr>
      </p:sp>
      <p:sp>
        <p:nvSpPr>
          <p:cNvPr id="9" name="Shape 6"/>
          <p:cNvSpPr/>
          <p:nvPr/>
        </p:nvSpPr>
        <p:spPr>
          <a:xfrm>
            <a:off x="658368" y="2121408"/>
            <a:ext cx="438912" cy="438912"/>
          </a:xfrm>
          <a:prstGeom prst="ellipse">
            <a:avLst/>
          </a:prstGeom>
          <a:solidFill>
            <a:srgbClr val="D64545"/>
          </a:solidFill>
          <a:ln/>
        </p:spPr>
      </p:sp>
      <p:pic>
        <p:nvPicPr>
          <p:cNvPr id="10" name="Image 1" descr="preencoded.png"/>
          <p:cNvPicPr>
            <a:picLocks noChangeAspect="1"/>
          </p:cNvPicPr>
          <p:nvPr/>
        </p:nvPicPr>
        <p:blipFill>
          <a:blip r:embed="rId4"/>
          <a:stretch>
            <a:fillRect/>
          </a:stretch>
        </p:blipFill>
        <p:spPr>
          <a:xfrm>
            <a:off x="772485" y="2235525"/>
            <a:ext cx="210678" cy="210678"/>
          </a:xfrm>
          <a:prstGeom prst="rect">
            <a:avLst/>
          </a:prstGeom>
        </p:spPr>
      </p:pic>
      <p:sp>
        <p:nvSpPr>
          <p:cNvPr id="11" name="Text 7"/>
          <p:cNvSpPr/>
          <p:nvPr/>
        </p:nvSpPr>
        <p:spPr>
          <a:xfrm>
            <a:off x="1298448" y="1947672"/>
            <a:ext cx="7269480" cy="786384"/>
          </a:xfrm>
          <a:prstGeom prst="rect">
            <a:avLst/>
          </a:prstGeom>
          <a:noFill/>
          <a:ln/>
        </p:spPr>
        <p:txBody>
          <a:bodyPr wrap="square" lIns="508" tIns="508" rIns="508" bIns="508"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race, live   </a:t>
            </a:r>
            <a:r>
              <a:rPr lang="en-US" sz="1100" dirty="0">
                <a:solidFill>
                  <a:srgbClr val="C9C4F2"/>
                </a:solidFill>
                <a:latin typeface="Calibri" pitchFamily="34" charset="0"/>
                <a:ea typeface="Calibri" pitchFamily="34" charset="-122"/>
                <a:cs typeface="Calibri" pitchFamily="34" charset="-120"/>
              </a:rPr>
              <a:t>two browsers fight for the last copy — one reserves, one gets a clean 409. Slide 12's query, working.</a:t>
            </a:r>
            <a:endParaRPr lang="en-US" sz="1300" dirty="0"/>
          </a:p>
        </p:txBody>
      </p:sp>
      <p:sp>
        <p:nvSpPr>
          <p:cNvPr id="12" name="Shape 8"/>
          <p:cNvSpPr/>
          <p:nvPr/>
        </p:nvSpPr>
        <p:spPr>
          <a:xfrm>
            <a:off x="457200" y="2843784"/>
            <a:ext cx="8229600" cy="786384"/>
          </a:xfrm>
          <a:prstGeom prst="roundRect">
            <a:avLst>
              <a:gd name="adj" fmla="val 8140"/>
            </a:avLst>
          </a:prstGeom>
          <a:solidFill>
            <a:srgbClr val="2C2C52"/>
          </a:solidFill>
          <a:ln w="9525">
            <a:solidFill>
              <a:srgbClr val="E4E2F0"/>
            </a:solidFill>
            <a:prstDash val="solid"/>
          </a:ln>
        </p:spPr>
      </p:sp>
      <p:sp>
        <p:nvSpPr>
          <p:cNvPr id="13" name="Shape 9"/>
          <p:cNvSpPr/>
          <p:nvPr/>
        </p:nvSpPr>
        <p:spPr>
          <a:xfrm>
            <a:off x="658368" y="3017520"/>
            <a:ext cx="438912" cy="438912"/>
          </a:xfrm>
          <a:prstGeom prst="ellipse">
            <a:avLst/>
          </a:prstGeom>
          <a:solidFill>
            <a:srgbClr val="2BB673"/>
          </a:solidFill>
          <a:ln/>
        </p:spPr>
      </p:sp>
      <p:pic>
        <p:nvPicPr>
          <p:cNvPr id="14" name="Image 2" descr="preencoded.png"/>
          <p:cNvPicPr>
            <a:picLocks noChangeAspect="1"/>
          </p:cNvPicPr>
          <p:nvPr/>
        </p:nvPicPr>
        <p:blipFill>
          <a:blip r:embed="rId5"/>
          <a:stretch>
            <a:fillRect/>
          </a:stretch>
        </p:blipFill>
        <p:spPr>
          <a:xfrm>
            <a:off x="772485" y="3131637"/>
            <a:ext cx="210678" cy="210678"/>
          </a:xfrm>
          <a:prstGeom prst="rect">
            <a:avLst/>
          </a:prstGeom>
        </p:spPr>
      </p:pic>
      <p:sp>
        <p:nvSpPr>
          <p:cNvPr id="15" name="Text 10"/>
          <p:cNvSpPr/>
          <p:nvPr/>
        </p:nvSpPr>
        <p:spPr>
          <a:xfrm>
            <a:off x="1298448" y="2843784"/>
            <a:ext cx="7269480" cy="786384"/>
          </a:xfrm>
          <a:prstGeom prst="rect">
            <a:avLst/>
          </a:prstGeom>
          <a:noFill/>
          <a:ln/>
        </p:spPr>
        <p:txBody>
          <a:bodyPr wrap="square" lIns="508" tIns="508" rIns="508" bIns="508"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Real-time, live   </a:t>
            </a:r>
            <a:r>
              <a:rPr lang="en-US" sz="1100" dirty="0">
                <a:solidFill>
                  <a:srgbClr val="C9C4F2"/>
                </a:solidFill>
                <a:latin typeface="Calibri" pitchFamily="34" charset="0"/>
                <a:ea typeface="Calibri" pitchFamily="34" charset="-122"/>
                <a:cs typeface="Calibri" pitchFamily="34" charset="-120"/>
              </a:rPr>
              <a:t>a review submitted in one browser appears in the other — no refresh</a:t>
            </a:r>
            <a:endParaRPr lang="en-US" sz="1300" dirty="0"/>
          </a:p>
        </p:txBody>
      </p:sp>
      <p:sp>
        <p:nvSpPr>
          <p:cNvPr id="16" name="Shape 11"/>
          <p:cNvSpPr/>
          <p:nvPr/>
        </p:nvSpPr>
        <p:spPr>
          <a:xfrm>
            <a:off x="457200" y="3739896"/>
            <a:ext cx="8229600" cy="786384"/>
          </a:xfrm>
          <a:prstGeom prst="roundRect">
            <a:avLst>
              <a:gd name="adj" fmla="val 8140"/>
            </a:avLst>
          </a:prstGeom>
          <a:solidFill>
            <a:srgbClr val="2C2C52"/>
          </a:solidFill>
          <a:ln w="9525">
            <a:solidFill>
              <a:srgbClr val="E4E2F0"/>
            </a:solidFill>
            <a:prstDash val="solid"/>
          </a:ln>
        </p:spPr>
      </p:sp>
      <p:sp>
        <p:nvSpPr>
          <p:cNvPr id="17" name="Shape 12"/>
          <p:cNvSpPr/>
          <p:nvPr/>
        </p:nvSpPr>
        <p:spPr>
          <a:xfrm>
            <a:off x="658368" y="3913632"/>
            <a:ext cx="438912" cy="438912"/>
          </a:xfrm>
          <a:prstGeom prst="ellipse">
            <a:avLst/>
          </a:prstGeom>
          <a:solidFill>
            <a:srgbClr val="5C4AD6"/>
          </a:solidFill>
          <a:ln/>
        </p:spPr>
      </p:sp>
      <p:pic>
        <p:nvPicPr>
          <p:cNvPr id="18" name="Image 3" descr="preencoded.png"/>
          <p:cNvPicPr>
            <a:picLocks noChangeAspect="1"/>
          </p:cNvPicPr>
          <p:nvPr/>
        </p:nvPicPr>
        <p:blipFill>
          <a:blip r:embed="rId6"/>
          <a:stretch>
            <a:fillRect/>
          </a:stretch>
        </p:blipFill>
        <p:spPr>
          <a:xfrm>
            <a:off x="772485" y="4027749"/>
            <a:ext cx="210678" cy="210678"/>
          </a:xfrm>
          <a:prstGeom prst="rect">
            <a:avLst/>
          </a:prstGeom>
        </p:spPr>
      </p:pic>
      <p:sp>
        <p:nvSpPr>
          <p:cNvPr id="19" name="Text 13"/>
          <p:cNvSpPr/>
          <p:nvPr/>
        </p:nvSpPr>
        <p:spPr>
          <a:xfrm>
            <a:off x="1298448" y="3739896"/>
            <a:ext cx="7269480" cy="786384"/>
          </a:xfrm>
          <a:prstGeom prst="rect">
            <a:avLst/>
          </a:prstGeom>
          <a:noFill/>
          <a:ln/>
        </p:spPr>
        <p:txBody>
          <a:bodyPr wrap="square" lIns="508" tIns="508" rIns="508" bIns="508"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Admin closes the loop   </a:t>
            </a:r>
            <a:r>
              <a:rPr lang="en-US" sz="1100" dirty="0">
                <a:solidFill>
                  <a:srgbClr val="C9C4F2"/>
                </a:solidFill>
                <a:latin typeface="Calibri" pitchFamily="34" charset="0"/>
                <a:ea typeface="Calibri" pitchFamily="34" charset="-122"/>
                <a:cs typeface="Calibri" pitchFamily="34" charset="-120"/>
              </a:rPr>
              <a:t>approve a request via Google Books candidates → book lands in the catalog → analytics already shows tonight's search &amp; order</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256032"/>
          </a:xfrm>
          <a:prstGeom prst="rect">
            <a:avLst/>
          </a:prstGeom>
          <a:noFill/>
          <a:ln/>
        </p:spPr>
        <p:txBody>
          <a:bodyPr wrap="square" lIns="0" tIns="0" rIns="0" bIns="0" rtlCol="0" anchor="ctr"/>
          <a:lstStyle/>
          <a:p>
            <a:pPr marL="0" indent="0">
              <a:buNone/>
            </a:pPr>
            <a:r>
              <a:rPr lang="en-US" sz="1050" b="1" kern="0" spc="300" dirty="0">
                <a:solidFill>
                  <a:srgbClr val="5C4AD6"/>
                </a:solidFill>
                <a:latin typeface="Calibri" pitchFamily="34" charset="0"/>
                <a:ea typeface="Calibri" pitchFamily="34" charset="-122"/>
                <a:cs typeface="Calibri" pitchFamily="34" charset="-120"/>
              </a:rPr>
              <a:t>ROADMAP</a:t>
            </a:r>
            <a:endParaRPr lang="en-US" sz="1050" dirty="0"/>
          </a:p>
        </p:txBody>
      </p:sp>
      <p:sp>
        <p:nvSpPr>
          <p:cNvPr id="3" name="Text 1"/>
          <p:cNvSpPr/>
          <p:nvPr/>
        </p:nvSpPr>
        <p:spPr>
          <a:xfrm>
            <a:off x="457200" y="384048"/>
            <a:ext cx="8229600" cy="502920"/>
          </a:xfrm>
          <a:prstGeom prst="rect">
            <a:avLst/>
          </a:prstGeom>
          <a:noFill/>
          <a:ln/>
        </p:spPr>
        <p:txBody>
          <a:bodyPr wrap="square" lIns="0" tIns="0" rIns="0" bIns="0" rtlCol="0" anchor="ctr"/>
          <a:lstStyle/>
          <a:p>
            <a:pPr marL="0" indent="0">
              <a:buNone/>
            </a:pPr>
            <a:r>
              <a:rPr lang="en-US" sz="2800" b="1" dirty="0">
                <a:solidFill>
                  <a:srgbClr val="23233F"/>
                </a:solidFill>
                <a:latin typeface="Cambria" pitchFamily="34" charset="0"/>
                <a:ea typeface="Cambria" pitchFamily="34" charset="-122"/>
                <a:cs typeface="Cambria" pitchFamily="34" charset="-120"/>
              </a:rPr>
              <a:t>Future Improvements</a:t>
            </a:r>
            <a:endParaRPr lang="en-US" sz="2800" dirty="0"/>
          </a:p>
        </p:txBody>
      </p:sp>
      <p:sp>
        <p:nvSpPr>
          <p:cNvPr id="4" name="Text 2"/>
          <p:cNvSpPr/>
          <p:nvPr/>
        </p:nvSpPr>
        <p:spPr>
          <a:xfrm>
            <a:off x="457200" y="841248"/>
            <a:ext cx="8229600" cy="274320"/>
          </a:xfrm>
          <a:prstGeom prst="rect">
            <a:avLst/>
          </a:prstGeom>
          <a:noFill/>
          <a:ln/>
        </p:spPr>
        <p:txBody>
          <a:bodyPr wrap="square" lIns="0" tIns="0" rIns="0" bIns="0" rtlCol="0" anchor="ctr"/>
          <a:lstStyle/>
          <a:p>
            <a:pPr marL="0" indent="0">
              <a:buNone/>
            </a:pPr>
            <a:r>
              <a:rPr lang="en-US" sz="1200" i="1" dirty="0">
                <a:solidFill>
                  <a:srgbClr val="6A6A82"/>
                </a:solidFill>
                <a:latin typeface="Calibri" pitchFamily="34" charset="0"/>
                <a:ea typeface="Calibri" pitchFamily="34" charset="-122"/>
                <a:cs typeface="Calibri" pitchFamily="34" charset="-120"/>
              </a:rPr>
              <a:t>Each one slots into an existing seam — no rewrites.</a:t>
            </a:r>
            <a:endParaRPr lang="en-US" sz="1200" dirty="0"/>
          </a:p>
        </p:txBody>
      </p:sp>
      <p:sp>
        <p:nvSpPr>
          <p:cNvPr id="5" name="Shape 3"/>
          <p:cNvSpPr/>
          <p:nvPr/>
        </p:nvSpPr>
        <p:spPr>
          <a:xfrm>
            <a:off x="457200" y="1234440"/>
            <a:ext cx="2651760" cy="1627632"/>
          </a:xfrm>
          <a:prstGeom prst="roundRect">
            <a:avLst>
              <a:gd name="adj" fmla="val 3933"/>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6" name="Shape 4"/>
          <p:cNvSpPr/>
          <p:nvPr/>
        </p:nvSpPr>
        <p:spPr>
          <a:xfrm>
            <a:off x="640080" y="1399032"/>
            <a:ext cx="457200" cy="457200"/>
          </a:xfrm>
          <a:prstGeom prst="ellipse">
            <a:avLst/>
          </a:prstGeom>
          <a:solidFill>
            <a:srgbClr val="5C4AD6"/>
          </a:solidFill>
          <a:ln/>
        </p:spPr>
      </p:sp>
      <p:pic>
        <p:nvPicPr>
          <p:cNvPr id="7" name="Image 0" descr="preencoded.png"/>
          <p:cNvPicPr>
            <a:picLocks noChangeAspect="1"/>
          </p:cNvPicPr>
          <p:nvPr/>
        </p:nvPicPr>
        <p:blipFill>
          <a:blip r:embed="rId3"/>
          <a:stretch>
            <a:fillRect/>
          </a:stretch>
        </p:blipFill>
        <p:spPr>
          <a:xfrm>
            <a:off x="758952" y="1517904"/>
            <a:ext cx="219456" cy="219456"/>
          </a:xfrm>
          <a:prstGeom prst="rect">
            <a:avLst/>
          </a:prstGeom>
        </p:spPr>
      </p:pic>
      <p:sp>
        <p:nvSpPr>
          <p:cNvPr id="8" name="Text 5"/>
          <p:cNvSpPr/>
          <p:nvPr/>
        </p:nvSpPr>
        <p:spPr>
          <a:xfrm>
            <a:off x="1207008" y="1399032"/>
            <a:ext cx="1828800" cy="457200"/>
          </a:xfrm>
          <a:prstGeom prst="rect">
            <a:avLst/>
          </a:prstGeom>
          <a:noFill/>
          <a:ln/>
        </p:spPr>
        <p:txBody>
          <a:bodyPr wrap="square" lIns="0" tIns="0" rIns="0" bIns="0" rtlCol="0" anchor="ctr"/>
          <a:lstStyle/>
          <a:p>
            <a:pPr marL="0" indent="0">
              <a:buNone/>
            </a:pPr>
            <a:r>
              <a:rPr lang="en-US" sz="1300" b="1" dirty="0">
                <a:solidFill>
                  <a:srgbClr val="23233F"/>
                </a:solidFill>
                <a:latin typeface="Calibri" pitchFamily="34" charset="0"/>
                <a:ea typeface="Calibri" pitchFamily="34" charset="-122"/>
                <a:cs typeface="Calibri" pitchFamily="34" charset="-120"/>
              </a:rPr>
              <a:t>Stripe payments</a:t>
            </a:r>
            <a:endParaRPr lang="en-US" sz="1300" dirty="0"/>
          </a:p>
        </p:txBody>
      </p:sp>
      <p:sp>
        <p:nvSpPr>
          <p:cNvPr id="9" name="Text 6"/>
          <p:cNvSpPr/>
          <p:nvPr/>
        </p:nvSpPr>
        <p:spPr>
          <a:xfrm>
            <a:off x="640080" y="1947672"/>
            <a:ext cx="2304288" cy="822960"/>
          </a:xfrm>
          <a:prstGeom prst="rect">
            <a:avLst/>
          </a:prstGeom>
          <a:noFill/>
          <a:ln/>
        </p:spPr>
        <p:txBody>
          <a:bodyPr wrap="square" lIns="0" tIns="0" rIns="0" bIns="0" rtlCol="0" anchor="ctr"/>
          <a:lstStyle/>
          <a:p>
            <a:pPr marL="0" indent="0">
              <a:buNone/>
            </a:pPr>
            <a:r>
              <a:rPr lang="en-US" sz="1000" dirty="0">
                <a:solidFill>
                  <a:srgbClr val="6A6A82"/>
                </a:solidFill>
                <a:latin typeface="Calibri" pitchFamily="34" charset="0"/>
                <a:ea typeface="Calibri" pitchFamily="34" charset="-122"/>
                <a:cs typeface="Calibri" pitchFamily="34" charset="-120"/>
              </a:rPr>
              <a:t>replaces the one mock function inside the existing checkout transaction</a:t>
            </a:r>
            <a:endParaRPr lang="en-US" sz="1000" dirty="0"/>
          </a:p>
        </p:txBody>
      </p:sp>
      <p:sp>
        <p:nvSpPr>
          <p:cNvPr id="10" name="Shape 7"/>
          <p:cNvSpPr/>
          <p:nvPr/>
        </p:nvSpPr>
        <p:spPr>
          <a:xfrm>
            <a:off x="3273552" y="1234440"/>
            <a:ext cx="2651760" cy="1627632"/>
          </a:xfrm>
          <a:prstGeom prst="roundRect">
            <a:avLst>
              <a:gd name="adj" fmla="val 3933"/>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11" name="Shape 8"/>
          <p:cNvSpPr/>
          <p:nvPr/>
        </p:nvSpPr>
        <p:spPr>
          <a:xfrm>
            <a:off x="3456432" y="1399032"/>
            <a:ext cx="457200" cy="457200"/>
          </a:xfrm>
          <a:prstGeom prst="ellipse">
            <a:avLst/>
          </a:prstGeom>
          <a:solidFill>
            <a:srgbClr val="5C4AD6"/>
          </a:solidFill>
          <a:ln/>
        </p:spPr>
      </p:sp>
      <p:pic>
        <p:nvPicPr>
          <p:cNvPr id="12" name="Image 1" descr="preencoded.png"/>
          <p:cNvPicPr>
            <a:picLocks noChangeAspect="1"/>
          </p:cNvPicPr>
          <p:nvPr/>
        </p:nvPicPr>
        <p:blipFill>
          <a:blip r:embed="rId4"/>
          <a:stretch>
            <a:fillRect/>
          </a:stretch>
        </p:blipFill>
        <p:spPr>
          <a:xfrm>
            <a:off x="3575304" y="1517904"/>
            <a:ext cx="219456" cy="219456"/>
          </a:xfrm>
          <a:prstGeom prst="rect">
            <a:avLst/>
          </a:prstGeom>
        </p:spPr>
      </p:pic>
      <p:sp>
        <p:nvSpPr>
          <p:cNvPr id="13" name="Text 9"/>
          <p:cNvSpPr/>
          <p:nvPr/>
        </p:nvSpPr>
        <p:spPr>
          <a:xfrm>
            <a:off x="4023360" y="1399032"/>
            <a:ext cx="1828800" cy="457200"/>
          </a:xfrm>
          <a:prstGeom prst="rect">
            <a:avLst/>
          </a:prstGeom>
          <a:noFill/>
          <a:ln/>
        </p:spPr>
        <p:txBody>
          <a:bodyPr wrap="square" lIns="0" tIns="0" rIns="0" bIns="0" rtlCol="0" anchor="ctr"/>
          <a:lstStyle/>
          <a:p>
            <a:pPr marL="0" indent="0">
              <a:buNone/>
            </a:pPr>
            <a:r>
              <a:rPr lang="en-US" sz="1300" b="1" dirty="0">
                <a:solidFill>
                  <a:srgbClr val="23233F"/>
                </a:solidFill>
                <a:latin typeface="Calibri" pitchFamily="34" charset="0"/>
                <a:ea typeface="Calibri" pitchFamily="34" charset="-122"/>
                <a:cs typeface="Calibri" pitchFamily="34" charset="-120"/>
              </a:rPr>
              <a:t>AI recommendations</a:t>
            </a:r>
            <a:endParaRPr lang="en-US" sz="1300" dirty="0"/>
          </a:p>
        </p:txBody>
      </p:sp>
      <p:sp>
        <p:nvSpPr>
          <p:cNvPr id="14" name="Text 10"/>
          <p:cNvSpPr/>
          <p:nvPr/>
        </p:nvSpPr>
        <p:spPr>
          <a:xfrm>
            <a:off x="3456432" y="1947672"/>
            <a:ext cx="2304288" cy="822960"/>
          </a:xfrm>
          <a:prstGeom prst="rect">
            <a:avLst/>
          </a:prstGeom>
          <a:noFill/>
          <a:ln/>
        </p:spPr>
        <p:txBody>
          <a:bodyPr wrap="square" lIns="0" tIns="0" rIns="0" bIns="0" rtlCol="0" anchor="ctr"/>
          <a:lstStyle/>
          <a:p>
            <a:pPr marL="0" indent="0">
              <a:buNone/>
            </a:pPr>
            <a:r>
              <a:rPr lang="en-US" sz="1000" dirty="0">
                <a:solidFill>
                  <a:srgbClr val="6A6A82"/>
                </a:solidFill>
                <a:latin typeface="Calibri" pitchFamily="34" charset="0"/>
                <a:ea typeface="Calibri" pitchFamily="34" charset="-122"/>
                <a:cs typeface="Calibri" pitchFamily="34" charset="-120"/>
              </a:rPr>
              <a:t>swap the internals of one isolated service function — zero consumers change</a:t>
            </a:r>
            <a:endParaRPr lang="en-US" sz="1000" dirty="0"/>
          </a:p>
        </p:txBody>
      </p:sp>
      <p:sp>
        <p:nvSpPr>
          <p:cNvPr id="15" name="Shape 11"/>
          <p:cNvSpPr/>
          <p:nvPr/>
        </p:nvSpPr>
        <p:spPr>
          <a:xfrm>
            <a:off x="6089904" y="1234440"/>
            <a:ext cx="2651760" cy="1627632"/>
          </a:xfrm>
          <a:prstGeom prst="roundRect">
            <a:avLst>
              <a:gd name="adj" fmla="val 3933"/>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16" name="Shape 12"/>
          <p:cNvSpPr/>
          <p:nvPr/>
        </p:nvSpPr>
        <p:spPr>
          <a:xfrm>
            <a:off x="6272784" y="1399032"/>
            <a:ext cx="457200" cy="457200"/>
          </a:xfrm>
          <a:prstGeom prst="ellipse">
            <a:avLst/>
          </a:prstGeom>
          <a:solidFill>
            <a:srgbClr val="23233F"/>
          </a:solidFill>
          <a:ln/>
        </p:spPr>
      </p:sp>
      <p:pic>
        <p:nvPicPr>
          <p:cNvPr id="17" name="Image 2" descr="preencoded.png"/>
          <p:cNvPicPr>
            <a:picLocks noChangeAspect="1"/>
          </p:cNvPicPr>
          <p:nvPr/>
        </p:nvPicPr>
        <p:blipFill>
          <a:blip r:embed="rId5"/>
          <a:stretch>
            <a:fillRect/>
          </a:stretch>
        </p:blipFill>
        <p:spPr>
          <a:xfrm>
            <a:off x="6391656" y="1517904"/>
            <a:ext cx="219456" cy="219456"/>
          </a:xfrm>
          <a:prstGeom prst="rect">
            <a:avLst/>
          </a:prstGeom>
        </p:spPr>
      </p:pic>
      <p:sp>
        <p:nvSpPr>
          <p:cNvPr id="18" name="Text 13"/>
          <p:cNvSpPr/>
          <p:nvPr/>
        </p:nvSpPr>
        <p:spPr>
          <a:xfrm>
            <a:off x="6839712" y="1399032"/>
            <a:ext cx="1828800" cy="457200"/>
          </a:xfrm>
          <a:prstGeom prst="rect">
            <a:avLst/>
          </a:prstGeom>
          <a:noFill/>
          <a:ln/>
        </p:spPr>
        <p:txBody>
          <a:bodyPr wrap="square" lIns="0" tIns="0" rIns="0" bIns="0" rtlCol="0" anchor="ctr"/>
          <a:lstStyle/>
          <a:p>
            <a:pPr marL="0" indent="0">
              <a:buNone/>
            </a:pPr>
            <a:r>
              <a:rPr lang="en-US" sz="1300" b="1" dirty="0">
                <a:solidFill>
                  <a:srgbClr val="23233F"/>
                </a:solidFill>
                <a:latin typeface="Calibri" pitchFamily="34" charset="0"/>
                <a:ea typeface="Calibri" pitchFamily="34" charset="-122"/>
                <a:cs typeface="Calibri" pitchFamily="34" charset="-120"/>
              </a:rPr>
              <a:t>Chatbot</a:t>
            </a:r>
            <a:endParaRPr lang="en-US" sz="1300" dirty="0"/>
          </a:p>
        </p:txBody>
      </p:sp>
      <p:sp>
        <p:nvSpPr>
          <p:cNvPr id="19" name="Text 14"/>
          <p:cNvSpPr/>
          <p:nvPr/>
        </p:nvSpPr>
        <p:spPr>
          <a:xfrm>
            <a:off x="6272784" y="1947672"/>
            <a:ext cx="2304288" cy="822960"/>
          </a:xfrm>
          <a:prstGeom prst="rect">
            <a:avLst/>
          </a:prstGeom>
          <a:noFill/>
          <a:ln/>
        </p:spPr>
        <p:txBody>
          <a:bodyPr wrap="square" lIns="0" tIns="0" rIns="0" bIns="0" rtlCol="0" anchor="ctr"/>
          <a:lstStyle/>
          <a:p>
            <a:pPr marL="0" indent="0">
              <a:buNone/>
            </a:pPr>
            <a:r>
              <a:rPr lang="en-US" sz="1000" dirty="0">
                <a:solidFill>
                  <a:srgbClr val="6A6A82"/>
                </a:solidFill>
                <a:latin typeface="Calibri" pitchFamily="34" charset="0"/>
                <a:ea typeface="Calibri" pitchFamily="34" charset="-122"/>
                <a:cs typeface="Calibri" pitchFamily="34" charset="-120"/>
              </a:rPr>
              <a:t>a new consumer of the existing public search &amp; book APIs</a:t>
            </a:r>
            <a:endParaRPr lang="en-US" sz="1000" dirty="0"/>
          </a:p>
        </p:txBody>
      </p:sp>
      <p:sp>
        <p:nvSpPr>
          <p:cNvPr id="20" name="Shape 15"/>
          <p:cNvSpPr/>
          <p:nvPr/>
        </p:nvSpPr>
        <p:spPr>
          <a:xfrm>
            <a:off x="457200" y="3017520"/>
            <a:ext cx="2651760" cy="1627632"/>
          </a:xfrm>
          <a:prstGeom prst="roundRect">
            <a:avLst>
              <a:gd name="adj" fmla="val 3933"/>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21" name="Shape 16"/>
          <p:cNvSpPr/>
          <p:nvPr/>
        </p:nvSpPr>
        <p:spPr>
          <a:xfrm>
            <a:off x="640080" y="3182112"/>
            <a:ext cx="457200" cy="457200"/>
          </a:xfrm>
          <a:prstGeom prst="ellipse">
            <a:avLst/>
          </a:prstGeom>
          <a:solidFill>
            <a:srgbClr val="23233F"/>
          </a:solidFill>
          <a:ln/>
        </p:spPr>
      </p:sp>
      <p:pic>
        <p:nvPicPr>
          <p:cNvPr id="22" name="Image 3" descr="preencoded.png"/>
          <p:cNvPicPr>
            <a:picLocks noChangeAspect="1"/>
          </p:cNvPicPr>
          <p:nvPr/>
        </p:nvPicPr>
        <p:blipFill>
          <a:blip r:embed="rId6"/>
          <a:stretch>
            <a:fillRect/>
          </a:stretch>
        </p:blipFill>
        <p:spPr>
          <a:xfrm>
            <a:off x="758952" y="3300984"/>
            <a:ext cx="219456" cy="219456"/>
          </a:xfrm>
          <a:prstGeom prst="rect">
            <a:avLst/>
          </a:prstGeom>
        </p:spPr>
      </p:pic>
      <p:sp>
        <p:nvSpPr>
          <p:cNvPr id="23" name="Text 17"/>
          <p:cNvSpPr/>
          <p:nvPr/>
        </p:nvSpPr>
        <p:spPr>
          <a:xfrm>
            <a:off x="1207008" y="3182112"/>
            <a:ext cx="1828800" cy="457200"/>
          </a:xfrm>
          <a:prstGeom prst="rect">
            <a:avLst/>
          </a:prstGeom>
          <a:noFill/>
          <a:ln/>
        </p:spPr>
        <p:txBody>
          <a:bodyPr wrap="square" lIns="0" tIns="0" rIns="0" bIns="0" rtlCol="0" anchor="ctr"/>
          <a:lstStyle/>
          <a:p>
            <a:pPr marL="0" indent="0">
              <a:buNone/>
            </a:pPr>
            <a:r>
              <a:rPr lang="en-US" sz="1300" b="1" dirty="0">
                <a:solidFill>
                  <a:srgbClr val="23233F"/>
                </a:solidFill>
                <a:latin typeface="Calibri" pitchFamily="34" charset="0"/>
                <a:ea typeface="Calibri" pitchFamily="34" charset="-122"/>
                <a:cs typeface="Calibri" pitchFamily="34" charset="-120"/>
              </a:rPr>
              <a:t>Search at scale</a:t>
            </a:r>
            <a:endParaRPr lang="en-US" sz="1300" dirty="0"/>
          </a:p>
        </p:txBody>
      </p:sp>
      <p:sp>
        <p:nvSpPr>
          <p:cNvPr id="24" name="Text 18"/>
          <p:cNvSpPr/>
          <p:nvPr/>
        </p:nvSpPr>
        <p:spPr>
          <a:xfrm>
            <a:off x="640080" y="3730752"/>
            <a:ext cx="2304288" cy="822960"/>
          </a:xfrm>
          <a:prstGeom prst="rect">
            <a:avLst/>
          </a:prstGeom>
          <a:noFill/>
          <a:ln/>
        </p:spPr>
        <p:txBody>
          <a:bodyPr wrap="square" lIns="0" tIns="0" rIns="0" bIns="0" rtlCol="0" anchor="ctr"/>
          <a:lstStyle/>
          <a:p>
            <a:pPr marL="0" indent="0">
              <a:buNone/>
            </a:pPr>
            <a:r>
              <a:rPr lang="en-US" sz="1000" dirty="0">
                <a:solidFill>
                  <a:srgbClr val="6A6A82"/>
                </a:solidFill>
                <a:latin typeface="Calibri" pitchFamily="34" charset="0"/>
                <a:ea typeface="Calibri" pitchFamily="34" charset="-122"/>
                <a:cs typeface="Calibri" pitchFamily="34" charset="-120"/>
              </a:rPr>
              <a:t>text / Atlas Search index — the search API contract stays the same</a:t>
            </a:r>
            <a:endParaRPr lang="en-US" sz="1000" dirty="0"/>
          </a:p>
        </p:txBody>
      </p:sp>
      <p:sp>
        <p:nvSpPr>
          <p:cNvPr id="25" name="Shape 19"/>
          <p:cNvSpPr/>
          <p:nvPr/>
        </p:nvSpPr>
        <p:spPr>
          <a:xfrm>
            <a:off x="3273552" y="3017520"/>
            <a:ext cx="2651760" cy="1627632"/>
          </a:xfrm>
          <a:prstGeom prst="roundRect">
            <a:avLst>
              <a:gd name="adj" fmla="val 3933"/>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26" name="Shape 20"/>
          <p:cNvSpPr/>
          <p:nvPr/>
        </p:nvSpPr>
        <p:spPr>
          <a:xfrm>
            <a:off x="3456432" y="3182112"/>
            <a:ext cx="457200" cy="457200"/>
          </a:xfrm>
          <a:prstGeom prst="ellipse">
            <a:avLst/>
          </a:prstGeom>
          <a:solidFill>
            <a:srgbClr val="2BB673"/>
          </a:solidFill>
          <a:ln/>
        </p:spPr>
      </p:sp>
      <p:pic>
        <p:nvPicPr>
          <p:cNvPr id="27" name="Image 4" descr="preencoded.png"/>
          <p:cNvPicPr>
            <a:picLocks noChangeAspect="1"/>
          </p:cNvPicPr>
          <p:nvPr/>
        </p:nvPicPr>
        <p:blipFill>
          <a:blip r:embed="rId7"/>
          <a:stretch>
            <a:fillRect/>
          </a:stretch>
        </p:blipFill>
        <p:spPr>
          <a:xfrm>
            <a:off x="3575304" y="3300984"/>
            <a:ext cx="219456" cy="219456"/>
          </a:xfrm>
          <a:prstGeom prst="rect">
            <a:avLst/>
          </a:prstGeom>
        </p:spPr>
      </p:pic>
      <p:sp>
        <p:nvSpPr>
          <p:cNvPr id="28" name="Text 21"/>
          <p:cNvSpPr/>
          <p:nvPr/>
        </p:nvSpPr>
        <p:spPr>
          <a:xfrm>
            <a:off x="4023360" y="3182112"/>
            <a:ext cx="1828800" cy="457200"/>
          </a:xfrm>
          <a:prstGeom prst="rect">
            <a:avLst/>
          </a:prstGeom>
          <a:noFill/>
          <a:ln/>
        </p:spPr>
        <p:txBody>
          <a:bodyPr wrap="square" lIns="0" tIns="0" rIns="0" bIns="0" rtlCol="0" anchor="ctr"/>
          <a:lstStyle/>
          <a:p>
            <a:pPr marL="0" indent="0">
              <a:buNone/>
            </a:pPr>
            <a:r>
              <a:rPr lang="en-US" sz="1300" b="1" dirty="0">
                <a:solidFill>
                  <a:srgbClr val="23233F"/>
                </a:solidFill>
                <a:latin typeface="Calibri" pitchFamily="34" charset="0"/>
                <a:ea typeface="Calibri" pitchFamily="34" charset="-122"/>
                <a:cs typeface="Calibri" pitchFamily="34" charset="-120"/>
              </a:rPr>
              <a:t>Horizontal scaling</a:t>
            </a:r>
            <a:endParaRPr lang="en-US" sz="1300" dirty="0"/>
          </a:p>
        </p:txBody>
      </p:sp>
      <p:sp>
        <p:nvSpPr>
          <p:cNvPr id="29" name="Text 22"/>
          <p:cNvSpPr/>
          <p:nvPr/>
        </p:nvSpPr>
        <p:spPr>
          <a:xfrm>
            <a:off x="3456432" y="3730752"/>
            <a:ext cx="2304288" cy="822960"/>
          </a:xfrm>
          <a:prstGeom prst="rect">
            <a:avLst/>
          </a:prstGeom>
          <a:noFill/>
          <a:ln/>
        </p:spPr>
        <p:txBody>
          <a:bodyPr wrap="square" lIns="0" tIns="0" rIns="0" bIns="0" rtlCol="0" anchor="ctr"/>
          <a:lstStyle/>
          <a:p>
            <a:pPr marL="0" indent="0">
              <a:buNone/>
            </a:pPr>
            <a:r>
              <a:rPr lang="en-US" sz="1000" dirty="0">
                <a:solidFill>
                  <a:srgbClr val="6A6A82"/>
                </a:solidFill>
                <a:latin typeface="Calibri" pitchFamily="34" charset="0"/>
                <a:ea typeface="Calibri" pitchFamily="34" charset="-122"/>
                <a:cs typeface="Calibri" pitchFamily="34" charset="-120"/>
              </a:rPr>
              <a:t>Socket.IO Redis adapter + cleanup job to a shared scheduler — seams known</a:t>
            </a:r>
            <a:endParaRPr lang="en-US" sz="1000" dirty="0"/>
          </a:p>
        </p:txBody>
      </p:sp>
      <p:sp>
        <p:nvSpPr>
          <p:cNvPr id="30" name="Shape 23"/>
          <p:cNvSpPr/>
          <p:nvPr/>
        </p:nvSpPr>
        <p:spPr>
          <a:xfrm>
            <a:off x="6089904" y="3017520"/>
            <a:ext cx="2651760" cy="1627632"/>
          </a:xfrm>
          <a:prstGeom prst="roundRect">
            <a:avLst>
              <a:gd name="adj" fmla="val 3933"/>
            </a:avLst>
          </a:prstGeom>
          <a:solidFill>
            <a:srgbClr val="F8F8FC"/>
          </a:solidFill>
          <a:ln w="9525">
            <a:solidFill>
              <a:srgbClr val="E4E2F0"/>
            </a:solidFill>
            <a:prstDash val="solid"/>
          </a:ln>
          <a:effectLst>
            <a:outerShdw blurRad="88900" dist="25400" dir="2700000" algn="bl" rotWithShape="0">
              <a:srgbClr val="000000">
                <a:alpha val="13000"/>
              </a:srgbClr>
            </a:outerShdw>
          </a:effectLst>
        </p:spPr>
      </p:sp>
      <p:sp>
        <p:nvSpPr>
          <p:cNvPr id="31" name="Shape 24"/>
          <p:cNvSpPr/>
          <p:nvPr/>
        </p:nvSpPr>
        <p:spPr>
          <a:xfrm>
            <a:off x="6272784" y="3182112"/>
            <a:ext cx="457200" cy="457200"/>
          </a:xfrm>
          <a:prstGeom prst="ellipse">
            <a:avLst/>
          </a:prstGeom>
          <a:solidFill>
            <a:srgbClr val="2BB673"/>
          </a:solidFill>
          <a:ln/>
        </p:spPr>
      </p:sp>
      <p:pic>
        <p:nvPicPr>
          <p:cNvPr id="32" name="Image 5" descr="preencoded.png"/>
          <p:cNvPicPr>
            <a:picLocks noChangeAspect="1"/>
          </p:cNvPicPr>
          <p:nvPr/>
        </p:nvPicPr>
        <p:blipFill>
          <a:blip r:embed="rId8"/>
          <a:stretch>
            <a:fillRect/>
          </a:stretch>
        </p:blipFill>
        <p:spPr>
          <a:xfrm>
            <a:off x="6391656" y="3300984"/>
            <a:ext cx="219456" cy="219456"/>
          </a:xfrm>
          <a:prstGeom prst="rect">
            <a:avLst/>
          </a:prstGeom>
        </p:spPr>
      </p:pic>
      <p:sp>
        <p:nvSpPr>
          <p:cNvPr id="33" name="Text 25"/>
          <p:cNvSpPr/>
          <p:nvPr/>
        </p:nvSpPr>
        <p:spPr>
          <a:xfrm>
            <a:off x="6839712" y="3182112"/>
            <a:ext cx="1828800" cy="457200"/>
          </a:xfrm>
          <a:prstGeom prst="rect">
            <a:avLst/>
          </a:prstGeom>
          <a:noFill/>
          <a:ln/>
        </p:spPr>
        <p:txBody>
          <a:bodyPr wrap="square" lIns="0" tIns="0" rIns="0" bIns="0" rtlCol="0" anchor="ctr"/>
          <a:lstStyle/>
          <a:p>
            <a:pPr marL="0" indent="0">
              <a:buNone/>
            </a:pPr>
            <a:r>
              <a:rPr lang="en-US" sz="1300" b="1" dirty="0">
                <a:solidFill>
                  <a:srgbClr val="23233F"/>
                </a:solidFill>
                <a:latin typeface="Calibri" pitchFamily="34" charset="0"/>
                <a:ea typeface="Calibri" pitchFamily="34" charset="-122"/>
                <a:cs typeface="Calibri" pitchFamily="34" charset="-120"/>
              </a:rPr>
              <a:t>Test suite</a:t>
            </a:r>
            <a:endParaRPr lang="en-US" sz="1300" dirty="0"/>
          </a:p>
        </p:txBody>
      </p:sp>
      <p:sp>
        <p:nvSpPr>
          <p:cNvPr id="34" name="Text 26"/>
          <p:cNvSpPr/>
          <p:nvPr/>
        </p:nvSpPr>
        <p:spPr>
          <a:xfrm>
            <a:off x="6272784" y="3730752"/>
            <a:ext cx="2304288" cy="822960"/>
          </a:xfrm>
          <a:prstGeom prst="rect">
            <a:avLst/>
          </a:prstGeom>
          <a:noFill/>
          <a:ln/>
        </p:spPr>
        <p:txBody>
          <a:bodyPr wrap="square" lIns="0" tIns="0" rIns="0" bIns="0" rtlCol="0" anchor="ctr"/>
          <a:lstStyle/>
          <a:p>
            <a:pPr marL="0" indent="0">
              <a:buNone/>
            </a:pPr>
            <a:r>
              <a:rPr lang="en-US" sz="1000" dirty="0">
                <a:solidFill>
                  <a:srgbClr val="6A6A82"/>
                </a:solidFill>
                <a:latin typeface="Calibri" pitchFamily="34" charset="0"/>
                <a:ea typeface="Calibri" pitchFamily="34" charset="-122"/>
                <a:cs typeface="Calibri" pitchFamily="34" charset="-120"/>
              </a:rPr>
              <a:t>services are Express-free by design → directly unit-testable; concurrency tests first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3233F"/>
        </a:solidFill>
        <a:effectLst/>
      </p:bgPr>
    </p:bg>
    <p:spTree>
      <p:nvGrpSpPr>
        <p:cNvPr id="1" name=""/>
        <p:cNvGrpSpPr/>
        <p:nvPr/>
      </p:nvGrpSpPr>
      <p:grpSpPr>
        <a:xfrm>
          <a:off x="0" y="0"/>
          <a:ext cx="0" cy="0"/>
          <a:chOff x="0" y="0"/>
          <a:chExt cx="0" cy="0"/>
        </a:xfrm>
      </p:grpSpPr>
      <p:sp>
        <p:nvSpPr>
          <p:cNvPr id="2" name="Text 0"/>
          <p:cNvSpPr/>
          <p:nvPr/>
        </p:nvSpPr>
        <p:spPr>
          <a:xfrm>
            <a:off x="822960" y="502920"/>
            <a:ext cx="749808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3" name="Text 1"/>
          <p:cNvSpPr/>
          <p:nvPr/>
        </p:nvSpPr>
        <p:spPr>
          <a:xfrm>
            <a:off x="841248" y="1298448"/>
            <a:ext cx="7498080" cy="320040"/>
          </a:xfrm>
          <a:prstGeom prst="rect">
            <a:avLst/>
          </a:prstGeom>
          <a:noFill/>
          <a:ln/>
        </p:spPr>
        <p:txBody>
          <a:bodyPr wrap="square" lIns="0" tIns="0" rIns="0" bIns="0" rtlCol="0" anchor="ctr"/>
          <a:lstStyle/>
          <a:p>
            <a:pPr marL="0" indent="0">
              <a:buNone/>
            </a:pPr>
            <a:r>
              <a:rPr lang="en-US" sz="1400" i="1" dirty="0">
                <a:solidFill>
                  <a:srgbClr val="C9C4F2"/>
                </a:solidFill>
                <a:latin typeface="Calibri" pitchFamily="34" charset="0"/>
                <a:ea typeface="Calibri" pitchFamily="34" charset="-122"/>
                <a:cs typeface="Calibri" pitchFamily="34" charset="-120"/>
              </a:rPr>
              <a:t>Engineering we're proud of</a:t>
            </a:r>
            <a:endParaRPr lang="en-US" sz="1400" dirty="0"/>
          </a:p>
        </p:txBody>
      </p:sp>
      <p:sp>
        <p:nvSpPr>
          <p:cNvPr id="4" name="Shape 2"/>
          <p:cNvSpPr/>
          <p:nvPr/>
        </p:nvSpPr>
        <p:spPr>
          <a:xfrm>
            <a:off x="822960" y="1828800"/>
            <a:ext cx="3749040" cy="1024128"/>
          </a:xfrm>
          <a:prstGeom prst="roundRect">
            <a:avLst>
              <a:gd name="adj" fmla="val 6250"/>
            </a:avLst>
          </a:prstGeom>
          <a:solidFill>
            <a:srgbClr val="2C2C52"/>
          </a:solidFill>
          <a:ln w="9525">
            <a:solidFill>
              <a:srgbClr val="E4E2F0"/>
            </a:solidFill>
            <a:prstDash val="solid"/>
          </a:ln>
        </p:spPr>
      </p:sp>
      <p:sp>
        <p:nvSpPr>
          <p:cNvPr id="5" name="Shape 3"/>
          <p:cNvSpPr/>
          <p:nvPr/>
        </p:nvSpPr>
        <p:spPr>
          <a:xfrm>
            <a:off x="987552" y="2103120"/>
            <a:ext cx="457200" cy="457200"/>
          </a:xfrm>
          <a:prstGeom prst="ellipse">
            <a:avLst/>
          </a:prstGeom>
          <a:solidFill>
            <a:srgbClr val="5C4AD6"/>
          </a:solidFill>
          <a:ln/>
        </p:spPr>
      </p:sp>
      <p:pic>
        <p:nvPicPr>
          <p:cNvPr id="6" name="Image 0" descr="preencoded.png"/>
          <p:cNvPicPr>
            <a:picLocks noChangeAspect="1"/>
          </p:cNvPicPr>
          <p:nvPr/>
        </p:nvPicPr>
        <p:blipFill>
          <a:blip r:embed="rId3"/>
          <a:stretch>
            <a:fillRect/>
          </a:stretch>
        </p:blipFill>
        <p:spPr>
          <a:xfrm>
            <a:off x="1106424" y="2221992"/>
            <a:ext cx="219456" cy="219456"/>
          </a:xfrm>
          <a:prstGeom prst="rect">
            <a:avLst/>
          </a:prstGeom>
        </p:spPr>
      </p:pic>
      <p:sp>
        <p:nvSpPr>
          <p:cNvPr id="7" name="Text 4"/>
          <p:cNvSpPr/>
          <p:nvPr/>
        </p:nvSpPr>
        <p:spPr>
          <a:xfrm>
            <a:off x="1600200" y="1883664"/>
            <a:ext cx="2852928" cy="914400"/>
          </a:xfrm>
          <a:prstGeom prst="rect">
            <a:avLst/>
          </a:prstGeom>
          <a:noFill/>
          <a:ln/>
        </p:spPr>
        <p:txBody>
          <a:bodyPr wrap="square" lIns="381" tIns="381" rIns="381" bIns="381" rtlCol="0" anchor="ctr"/>
          <a:lstStyle/>
          <a:p>
            <a:pPr marL="0" indent="0">
              <a:spcAft>
                <a:spcPts val="300"/>
              </a:spcAft>
              <a:buNone/>
            </a:pPr>
            <a:r>
              <a:rPr lang="en-US" sz="1250" b="1" dirty="0">
                <a:solidFill>
                  <a:srgbClr val="FFFFFF"/>
                </a:solidFill>
                <a:latin typeface="Calibri" pitchFamily="34" charset="0"/>
                <a:ea typeface="Calibri" pitchFamily="34" charset="-122"/>
                <a:cs typeface="Calibri" pitchFamily="34" charset="-120"/>
              </a:rPr>
              <a:t>Race-proof inventory</a:t>
            </a:r>
            <a:endParaRPr lang="en-US" sz="1250" dirty="0"/>
          </a:p>
          <a:p>
            <a:pPr marL="0" indent="0">
              <a:spcAft>
                <a:spcPts val="300"/>
              </a:spcAft>
              <a:buNone/>
            </a:pPr>
            <a:r>
              <a:rPr lang="en-US" sz="950" dirty="0">
                <a:solidFill>
                  <a:srgbClr val="C9C4F2"/>
                </a:solidFill>
                <a:latin typeface="Calibri" pitchFamily="34" charset="0"/>
                <a:ea typeface="Calibri" pitchFamily="34" charset="-122"/>
                <a:cs typeface="Calibri" pitchFamily="34" charset="-120"/>
              </a:rPr>
              <a:t>atomic conditional updates — correctness lives in the database</a:t>
            </a:r>
            <a:endParaRPr lang="en-US" sz="1250" dirty="0"/>
          </a:p>
        </p:txBody>
      </p:sp>
      <p:sp>
        <p:nvSpPr>
          <p:cNvPr id="8" name="Shape 5"/>
          <p:cNvSpPr/>
          <p:nvPr/>
        </p:nvSpPr>
        <p:spPr>
          <a:xfrm>
            <a:off x="4800600" y="1828800"/>
            <a:ext cx="3749040" cy="1024128"/>
          </a:xfrm>
          <a:prstGeom prst="roundRect">
            <a:avLst>
              <a:gd name="adj" fmla="val 6250"/>
            </a:avLst>
          </a:prstGeom>
          <a:solidFill>
            <a:srgbClr val="2C2C52"/>
          </a:solidFill>
          <a:ln w="9525">
            <a:solidFill>
              <a:srgbClr val="E4E2F0"/>
            </a:solidFill>
            <a:prstDash val="solid"/>
          </a:ln>
        </p:spPr>
      </p:sp>
      <p:sp>
        <p:nvSpPr>
          <p:cNvPr id="9" name="Shape 6"/>
          <p:cNvSpPr/>
          <p:nvPr/>
        </p:nvSpPr>
        <p:spPr>
          <a:xfrm>
            <a:off x="4965192" y="2103120"/>
            <a:ext cx="457200" cy="457200"/>
          </a:xfrm>
          <a:prstGeom prst="ellipse">
            <a:avLst/>
          </a:prstGeom>
          <a:solidFill>
            <a:srgbClr val="2BB673"/>
          </a:solidFill>
          <a:ln/>
        </p:spPr>
      </p:sp>
      <p:pic>
        <p:nvPicPr>
          <p:cNvPr id="10" name="Image 1" descr="preencoded.png"/>
          <p:cNvPicPr>
            <a:picLocks noChangeAspect="1"/>
          </p:cNvPicPr>
          <p:nvPr/>
        </p:nvPicPr>
        <p:blipFill>
          <a:blip r:embed="rId4"/>
          <a:stretch>
            <a:fillRect/>
          </a:stretch>
        </p:blipFill>
        <p:spPr>
          <a:xfrm>
            <a:off x="5084064" y="2221992"/>
            <a:ext cx="219456" cy="219456"/>
          </a:xfrm>
          <a:prstGeom prst="rect">
            <a:avLst/>
          </a:prstGeom>
        </p:spPr>
      </p:pic>
      <p:sp>
        <p:nvSpPr>
          <p:cNvPr id="11" name="Text 7"/>
          <p:cNvSpPr/>
          <p:nvPr/>
        </p:nvSpPr>
        <p:spPr>
          <a:xfrm>
            <a:off x="5577840" y="1883664"/>
            <a:ext cx="2852928" cy="914400"/>
          </a:xfrm>
          <a:prstGeom prst="rect">
            <a:avLst/>
          </a:prstGeom>
          <a:noFill/>
          <a:ln/>
        </p:spPr>
        <p:txBody>
          <a:bodyPr wrap="square" lIns="381" tIns="381" rIns="381" bIns="381" rtlCol="0" anchor="ctr"/>
          <a:lstStyle/>
          <a:p>
            <a:pPr marL="0" indent="0">
              <a:spcAft>
                <a:spcPts val="300"/>
              </a:spcAft>
              <a:buNone/>
            </a:pPr>
            <a:r>
              <a:rPr lang="en-US" sz="1250" b="1" dirty="0">
                <a:solidFill>
                  <a:srgbClr val="FFFFFF"/>
                </a:solidFill>
                <a:latin typeface="Calibri" pitchFamily="34" charset="0"/>
                <a:ea typeface="Calibri" pitchFamily="34" charset="-122"/>
                <a:cs typeface="Calibri" pitchFamily="34" charset="-120"/>
              </a:rPr>
              <a:t>Transactional checkout</a:t>
            </a:r>
            <a:endParaRPr lang="en-US" sz="1250" dirty="0"/>
          </a:p>
          <a:p>
            <a:pPr marL="0" indent="0">
              <a:spcAft>
                <a:spcPts val="300"/>
              </a:spcAft>
              <a:buNone/>
            </a:pPr>
            <a:r>
              <a:rPr lang="en-US" sz="950" dirty="0">
                <a:solidFill>
                  <a:srgbClr val="C9C4F2"/>
                </a:solidFill>
                <a:latin typeface="Calibri" pitchFamily="34" charset="0"/>
                <a:ea typeface="Calibri" pitchFamily="34" charset="-122"/>
                <a:cs typeface="Calibri" pitchFamily="34" charset="-120"/>
              </a:rPr>
              <a:t>full atomicity on replica sets, graceful fallback elsewhere</a:t>
            </a:r>
            <a:endParaRPr lang="en-US" sz="1250" dirty="0"/>
          </a:p>
        </p:txBody>
      </p:sp>
      <p:sp>
        <p:nvSpPr>
          <p:cNvPr id="12" name="Shape 8"/>
          <p:cNvSpPr/>
          <p:nvPr/>
        </p:nvSpPr>
        <p:spPr>
          <a:xfrm>
            <a:off x="822960" y="3017520"/>
            <a:ext cx="3749040" cy="1024128"/>
          </a:xfrm>
          <a:prstGeom prst="roundRect">
            <a:avLst>
              <a:gd name="adj" fmla="val 6250"/>
            </a:avLst>
          </a:prstGeom>
          <a:solidFill>
            <a:srgbClr val="2C2C52"/>
          </a:solidFill>
          <a:ln w="9525">
            <a:solidFill>
              <a:srgbClr val="E4E2F0"/>
            </a:solidFill>
            <a:prstDash val="solid"/>
          </a:ln>
        </p:spPr>
      </p:sp>
      <p:sp>
        <p:nvSpPr>
          <p:cNvPr id="13" name="Shape 9"/>
          <p:cNvSpPr/>
          <p:nvPr/>
        </p:nvSpPr>
        <p:spPr>
          <a:xfrm>
            <a:off x="987552" y="3291840"/>
            <a:ext cx="457200" cy="457200"/>
          </a:xfrm>
          <a:prstGeom prst="ellipse">
            <a:avLst/>
          </a:prstGeom>
          <a:solidFill>
            <a:srgbClr val="5C4AD6"/>
          </a:solidFill>
          <a:ln/>
        </p:spPr>
      </p:sp>
      <p:pic>
        <p:nvPicPr>
          <p:cNvPr id="14" name="Image 2" descr="preencoded.png"/>
          <p:cNvPicPr>
            <a:picLocks noChangeAspect="1"/>
          </p:cNvPicPr>
          <p:nvPr/>
        </p:nvPicPr>
        <p:blipFill>
          <a:blip r:embed="rId5"/>
          <a:stretch>
            <a:fillRect/>
          </a:stretch>
        </p:blipFill>
        <p:spPr>
          <a:xfrm>
            <a:off x="1106424" y="3410712"/>
            <a:ext cx="219456" cy="219456"/>
          </a:xfrm>
          <a:prstGeom prst="rect">
            <a:avLst/>
          </a:prstGeom>
        </p:spPr>
      </p:pic>
      <p:sp>
        <p:nvSpPr>
          <p:cNvPr id="15" name="Text 10"/>
          <p:cNvSpPr/>
          <p:nvPr/>
        </p:nvSpPr>
        <p:spPr>
          <a:xfrm>
            <a:off x="1600200" y="3072384"/>
            <a:ext cx="2852928" cy="914400"/>
          </a:xfrm>
          <a:prstGeom prst="rect">
            <a:avLst/>
          </a:prstGeom>
          <a:noFill/>
          <a:ln/>
        </p:spPr>
        <p:txBody>
          <a:bodyPr wrap="square" lIns="381" tIns="381" rIns="381" bIns="381" rtlCol="0" anchor="ctr"/>
          <a:lstStyle/>
          <a:p>
            <a:pPr marL="0" indent="0">
              <a:spcAft>
                <a:spcPts val="300"/>
              </a:spcAft>
              <a:buNone/>
            </a:pPr>
            <a:r>
              <a:rPr lang="en-US" sz="1250" b="1" dirty="0">
                <a:solidFill>
                  <a:srgbClr val="FFFFFF"/>
                </a:solidFill>
                <a:latin typeface="Calibri" pitchFamily="34" charset="0"/>
                <a:ea typeface="Calibri" pitchFamily="34" charset="-122"/>
                <a:cs typeface="Calibri" pitchFamily="34" charset="-120"/>
              </a:rPr>
              <a:t>Identity / authorization split</a:t>
            </a:r>
            <a:endParaRPr lang="en-US" sz="1250" dirty="0"/>
          </a:p>
          <a:p>
            <a:pPr marL="0" indent="0">
              <a:spcAft>
                <a:spcPts val="300"/>
              </a:spcAft>
              <a:buNone/>
            </a:pPr>
            <a:r>
              <a:rPr lang="en-US" sz="950" dirty="0">
                <a:solidFill>
                  <a:srgbClr val="C9C4F2"/>
                </a:solidFill>
                <a:latin typeface="Calibri" pitchFamily="34" charset="0"/>
                <a:ea typeface="Calibri" pitchFamily="34" charset="-122"/>
                <a:cs typeface="Calibri" pitchFamily="34" charset="-120"/>
              </a:rPr>
              <a:t>Firebase owns credentials, MongoDB owns roles</a:t>
            </a:r>
            <a:endParaRPr lang="en-US" sz="1250" dirty="0"/>
          </a:p>
        </p:txBody>
      </p:sp>
      <p:sp>
        <p:nvSpPr>
          <p:cNvPr id="16" name="Shape 11"/>
          <p:cNvSpPr/>
          <p:nvPr/>
        </p:nvSpPr>
        <p:spPr>
          <a:xfrm>
            <a:off x="4800600" y="3017520"/>
            <a:ext cx="3749040" cy="1024128"/>
          </a:xfrm>
          <a:prstGeom prst="roundRect">
            <a:avLst>
              <a:gd name="adj" fmla="val 6250"/>
            </a:avLst>
          </a:prstGeom>
          <a:solidFill>
            <a:srgbClr val="2C2C52"/>
          </a:solidFill>
          <a:ln w="9525">
            <a:solidFill>
              <a:srgbClr val="E4E2F0"/>
            </a:solidFill>
            <a:prstDash val="solid"/>
          </a:ln>
        </p:spPr>
      </p:sp>
      <p:sp>
        <p:nvSpPr>
          <p:cNvPr id="17" name="Shape 12"/>
          <p:cNvSpPr/>
          <p:nvPr/>
        </p:nvSpPr>
        <p:spPr>
          <a:xfrm>
            <a:off x="4965192" y="3291840"/>
            <a:ext cx="457200" cy="457200"/>
          </a:xfrm>
          <a:prstGeom prst="ellipse">
            <a:avLst/>
          </a:prstGeom>
          <a:solidFill>
            <a:srgbClr val="2BB673"/>
          </a:solidFill>
          <a:ln/>
        </p:spPr>
      </p:sp>
      <p:pic>
        <p:nvPicPr>
          <p:cNvPr id="18" name="Image 3" descr="preencoded.png"/>
          <p:cNvPicPr>
            <a:picLocks noChangeAspect="1"/>
          </p:cNvPicPr>
          <p:nvPr/>
        </p:nvPicPr>
        <p:blipFill>
          <a:blip r:embed="rId6"/>
          <a:stretch>
            <a:fillRect/>
          </a:stretch>
        </p:blipFill>
        <p:spPr>
          <a:xfrm>
            <a:off x="5084064" y="3410712"/>
            <a:ext cx="219456" cy="219456"/>
          </a:xfrm>
          <a:prstGeom prst="rect">
            <a:avLst/>
          </a:prstGeom>
        </p:spPr>
      </p:pic>
      <p:sp>
        <p:nvSpPr>
          <p:cNvPr id="19" name="Text 13"/>
          <p:cNvSpPr/>
          <p:nvPr/>
        </p:nvSpPr>
        <p:spPr>
          <a:xfrm>
            <a:off x="5577840" y="3072384"/>
            <a:ext cx="2852928" cy="914400"/>
          </a:xfrm>
          <a:prstGeom prst="rect">
            <a:avLst/>
          </a:prstGeom>
          <a:noFill/>
          <a:ln/>
        </p:spPr>
        <p:txBody>
          <a:bodyPr wrap="square" lIns="381" tIns="381" rIns="381" bIns="381" rtlCol="0" anchor="ctr"/>
          <a:lstStyle/>
          <a:p>
            <a:pPr marL="0" indent="0">
              <a:spcAft>
                <a:spcPts val="300"/>
              </a:spcAft>
              <a:buNone/>
            </a:pPr>
            <a:r>
              <a:rPr lang="en-US" sz="1250" b="1" dirty="0">
                <a:solidFill>
                  <a:srgbClr val="FFFFFF"/>
                </a:solidFill>
                <a:latin typeface="Calibri" pitchFamily="34" charset="0"/>
                <a:ea typeface="Calibri" pitchFamily="34" charset="-122"/>
                <a:cs typeface="Calibri" pitchFamily="34" charset="-120"/>
              </a:rPr>
              <a:t>Room-scoped real-time</a:t>
            </a:r>
            <a:endParaRPr lang="en-US" sz="1250" dirty="0"/>
          </a:p>
          <a:p>
            <a:pPr marL="0" indent="0">
              <a:spcAft>
                <a:spcPts val="300"/>
              </a:spcAft>
              <a:buNone/>
            </a:pPr>
            <a:r>
              <a:rPr lang="en-US" sz="950" dirty="0">
                <a:solidFill>
                  <a:srgbClr val="C9C4F2"/>
                </a:solidFill>
                <a:latin typeface="Calibri" pitchFamily="34" charset="0"/>
                <a:ea typeface="Calibri" pitchFamily="34" charset="-122"/>
                <a:cs typeface="Calibri" pitchFamily="34" charset="-120"/>
              </a:rPr>
              <a:t>updates reach exactly the users who need them</a:t>
            </a:r>
            <a:endParaRPr lang="en-US" sz="1250" dirty="0"/>
          </a:p>
        </p:txBody>
      </p:sp>
      <p:sp>
        <p:nvSpPr>
          <p:cNvPr id="20" name="Shape 14"/>
          <p:cNvSpPr/>
          <p:nvPr/>
        </p:nvSpPr>
        <p:spPr>
          <a:xfrm>
            <a:off x="841248" y="4370832"/>
            <a:ext cx="2011680" cy="0"/>
          </a:xfrm>
          <a:prstGeom prst="line">
            <a:avLst/>
          </a:prstGeom>
          <a:noFill/>
          <a:ln w="25400">
            <a:solidFill>
              <a:srgbClr val="5C4AD6"/>
            </a:solidFill>
            <a:prstDash val="solid"/>
          </a:ln>
        </p:spPr>
      </p:sp>
      <p:sp>
        <p:nvSpPr>
          <p:cNvPr id="21" name="Text 15"/>
          <p:cNvSpPr/>
          <p:nvPr/>
        </p:nvSpPr>
        <p:spPr>
          <a:xfrm>
            <a:off x="822960" y="4526280"/>
            <a:ext cx="7680960" cy="365760"/>
          </a:xfrm>
          <a:prstGeom prst="rect">
            <a:avLst/>
          </a:prstGeom>
          <a:noFill/>
          <a:ln/>
        </p:spPr>
        <p:txBody>
          <a:bodyPr wrap="square" lIns="0" tIns="0" rIns="0" bIns="0" rtlCol="0" anchor="ctr"/>
          <a:lstStyle/>
          <a:p>
            <a:r>
              <a:rPr lang="en-US" sz="1300" b="1">
                <a:solidFill>
                  <a:srgbClr val="FFFFFF"/>
                </a:solidFill>
                <a:latin typeface="Calibri"/>
                <a:ea typeface="Calibri"/>
                <a:cs typeface="Calibri"/>
              </a:rPr>
              <a:t> </a:t>
            </a:r>
            <a:r>
              <a:rPr lang="en-US" sz="1300" i="1">
                <a:solidFill>
                  <a:srgbClr val="C9C4F2"/>
                </a:solidFill>
                <a:latin typeface="Calibri"/>
                <a:ea typeface="Calibri"/>
                <a:cs typeface="Calibri"/>
              </a:rPr>
              <a:t>Questions are welcome.</a:t>
            </a:r>
            <a:endParaRPr lang="en-US" sz="1300">
              <a:latin typeface="Calibri"/>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Inkspire — Bachelor's Defense</dc:title>
  <dc:subject>PptxGenJS Presentation</dc:subject>
  <dc:creator>Yossif, Wiam, Asel, Ahmed</dc:creator>
  <cp:lastModifiedBy>Yossif, Wiam, Asel, Ahmed</cp:lastModifiedBy>
  <cp:revision>162</cp:revision>
  <dcterms:created xsi:type="dcterms:W3CDTF">2026-07-06T14:43:09Z</dcterms:created>
  <dcterms:modified xsi:type="dcterms:W3CDTF">2026-07-08T16:24:31Z</dcterms:modified>
</cp:coreProperties>
</file>